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Cách đọc tòa nhà: mỗi tầng lầu là một tầng xếp hạng. Tầng 1 (đã thi) xếp theo điểm, hoà điểm mới tới số bốc thăm; Tầng 2 (không thi) xếp thuần theo số bốc thăm. Tầng 1 luôn đứng trọn trước Tầng 2 nên xét từ dưới lên. Sân thượng là 2 chỗ trong CLB. Lượt 1 chỉ xét em diện ưu tiên cho suất ưu tiên: C (có điểm 8,5, diện ưu tiên). Lượt 2 xét mọi em còn lại theo thứ hạng cho suất chung: A. B xếp trên C nhưng hết chỗ vì C đã lấy suất ưu tiên. Suất ưu tiên là suất mềm: nếu không có em nào thuộc diện thì suất chuyển sang lượt chung (khi đó là A, B). Ví dụ chạy thật bằng club_choice_function của phần mềm.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Xếp hạng hai tầng và suất ưu tiên</a:t>
            </a:r>
            <a:endParaRPr lang="en-US" sz="2800" dirty="0"/>
          </a:p>
        </p:txBody>
      </p:sp>
      <p:sp>
        <p:nvSpPr>
          <p:cNvPr id="3" name="Phụ đề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6 em cùng đăng ký một câu lạc bộ nhận 2 em — 1 suất ưu tiên và 1 suất chung</a:t>
            </a:r>
            <a:endParaRPr lang="en-US" sz="1400" dirty="0"/>
          </a:p>
        </p:txBody>
      </p:sp>
      <p:sp>
        <p:nvSpPr>
          <p:cNvPr id="4" name="Thân tòa nhà"/>
          <p:cNvSpPr/>
          <p:nvPr/>
        </p:nvSpPr>
        <p:spPr>
          <a:xfrm>
            <a:off x="1828800" y="2194560"/>
            <a:ext cx="4663440" cy="1938528"/>
          </a:xfrm>
          <a:prstGeom prst="rect">
            <a:avLst/>
          </a:prstGeom>
          <a:solidFill>
            <a:srgbClr val="F3F4F1"/>
          </a:solidFill>
          <a:ln w="28575">
            <a:solidFill>
              <a:srgbClr val="1C2321"/>
            </a:solidFill>
            <a:prstDash val="solid"/>
          </a:ln>
        </p:spPr>
      </p:sp>
      <p:sp>
        <p:nvSpPr>
          <p:cNvPr id="5" name="Vách phòng 1"/>
          <p:cNvSpPr/>
          <p:nvPr/>
        </p:nvSpPr>
        <p:spPr>
          <a:xfrm>
            <a:off x="3383280" y="2194560"/>
            <a:ext cx="0" cy="1938528"/>
          </a:xfrm>
          <a:prstGeom prst="line">
            <a:avLst/>
          </a:prstGeom>
          <a:noFill/>
          <a:ln w="15875">
            <a:solidFill>
              <a:srgbClr val="DBDCD5"/>
            </a:solidFill>
            <a:prstDash val="solid"/>
          </a:ln>
        </p:spPr>
      </p:sp>
      <p:sp>
        <p:nvSpPr>
          <p:cNvPr id="6" name="Vách phòng 2"/>
          <p:cNvSpPr/>
          <p:nvPr/>
        </p:nvSpPr>
        <p:spPr>
          <a:xfrm>
            <a:off x="4937760" y="2194560"/>
            <a:ext cx="0" cy="1938528"/>
          </a:xfrm>
          <a:prstGeom prst="line">
            <a:avLst/>
          </a:prstGeom>
          <a:noFill/>
          <a:ln w="15875">
            <a:solidFill>
              <a:srgbClr val="DBDCD5"/>
            </a:solidFill>
            <a:prstDash val="solid"/>
          </a:ln>
        </p:spPr>
      </p:sp>
      <p:sp>
        <p:nvSpPr>
          <p:cNvPr id="7" name="Mái"/>
          <p:cNvSpPr/>
          <p:nvPr/>
        </p:nvSpPr>
        <p:spPr>
          <a:xfrm>
            <a:off x="1737360" y="2103120"/>
            <a:ext cx="4846320" cy="91440"/>
          </a:xfrm>
          <a:prstGeom prst="rect">
            <a:avLst/>
          </a:prstGeom>
          <a:solidFill>
            <a:srgbClr val="1C2321"/>
          </a:solidFill>
          <a:ln/>
        </p:spPr>
      </p:sp>
      <p:sp>
        <p:nvSpPr>
          <p:cNvPr id="8" name="Sàn tầng 2"/>
          <p:cNvSpPr/>
          <p:nvPr/>
        </p:nvSpPr>
        <p:spPr>
          <a:xfrm>
            <a:off x="1828800" y="3127248"/>
            <a:ext cx="4663440" cy="73152"/>
          </a:xfrm>
          <a:prstGeom prst="rect">
            <a:avLst/>
          </a:prstGeom>
          <a:solidFill>
            <a:srgbClr val="1C2321"/>
          </a:solidFill>
          <a:ln/>
        </p:spPr>
      </p:sp>
      <p:sp>
        <p:nvSpPr>
          <p:cNvPr id="9" name="Nền móng"/>
          <p:cNvSpPr/>
          <p:nvPr/>
        </p:nvSpPr>
        <p:spPr>
          <a:xfrm>
            <a:off x="1645920" y="4133088"/>
            <a:ext cx="5029200" cy="91440"/>
          </a:xfrm>
          <a:prstGeom prst="rect">
            <a:avLst/>
          </a:prstGeom>
          <a:solidFill>
            <a:srgbClr val="1C2321"/>
          </a:solidFill>
          <a:ln/>
        </p:spPr>
      </p:sp>
      <p:sp>
        <p:nvSpPr>
          <p:cNvPr id="10" name="Sân thượng ưu tiên"/>
          <p:cNvSpPr/>
          <p:nvPr/>
        </p:nvSpPr>
        <p:spPr>
          <a:xfrm>
            <a:off x="1828800" y="1188720"/>
            <a:ext cx="2313432" cy="914400"/>
          </a:xfrm>
          <a:prstGeom prst="rect">
            <a:avLst/>
          </a:prstGeom>
          <a:solidFill>
            <a:srgbClr val="F8EBCF"/>
          </a:solidFill>
          <a:ln/>
        </p:spPr>
      </p:sp>
      <p:sp>
        <p:nvSpPr>
          <p:cNvPr id="11" name="Sân thượng chung"/>
          <p:cNvSpPr/>
          <p:nvPr/>
        </p:nvSpPr>
        <p:spPr>
          <a:xfrm>
            <a:off x="4178808" y="1188720"/>
            <a:ext cx="2313432" cy="914400"/>
          </a:xfrm>
          <a:prstGeom prst="rect">
            <a:avLst/>
          </a:prstGeom>
          <a:solidFill>
            <a:srgbClr val="DCE9E0"/>
          </a:solidFill>
          <a:ln/>
        </p:spPr>
      </p:sp>
      <p:sp>
        <p:nvSpPr>
          <p:cNvPr id="12" name="Nhãn suất ưu tiên"/>
          <p:cNvSpPr txBox="1"/>
          <p:nvPr/>
        </p:nvSpPr>
        <p:spPr>
          <a:xfrm>
            <a:off x="1828800" y="125272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Suất ưu tiên · 1</a:t>
            </a:r>
            <a:endParaRPr lang="en-US" sz="1300" dirty="0"/>
          </a:p>
        </p:txBody>
      </p:sp>
      <p:sp>
        <p:nvSpPr>
          <p:cNvPr id="13" name="Nhãn suất chung"/>
          <p:cNvSpPr txBox="1"/>
          <p:nvPr/>
        </p:nvSpPr>
        <p:spPr>
          <a:xfrm>
            <a:off x="4178808" y="1252728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Suất chung · 1</a:t>
            </a:r>
            <a:endParaRPr lang="en-US" sz="1300" dirty="0"/>
          </a:p>
        </p:txBody>
      </p:sp>
      <p:sp>
        <p:nvSpPr>
          <p:cNvPr id="14" name="Ô chỗ C"/>
          <p:cNvSpPr/>
          <p:nvPr/>
        </p:nvSpPr>
        <p:spPr>
          <a:xfrm>
            <a:off x="2702052" y="149961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A8700F"/>
            </a:solidFill>
            <a:prstDash val="solid"/>
          </a:ln>
        </p:spPr>
      </p:sp>
      <p:sp>
        <p:nvSpPr>
          <p:cNvPr id="15" name="Chip C (có chỗ)"/>
          <p:cNvSpPr/>
          <p:nvPr/>
        </p:nvSpPr>
        <p:spPr>
          <a:xfrm>
            <a:off x="2784348" y="1581912"/>
            <a:ext cx="420624" cy="420624"/>
          </a:xfrm>
          <a:prstGeom prst="ellipse">
            <a:avLst/>
          </a:prstGeom>
          <a:solidFill>
            <a:srgbClr val="A870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6" name="Ô chỗ A"/>
          <p:cNvSpPr/>
          <p:nvPr/>
        </p:nvSpPr>
        <p:spPr>
          <a:xfrm>
            <a:off x="5033772" y="149961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9050">
            <a:solidFill>
              <a:srgbClr val="3F6B52"/>
            </a:solidFill>
            <a:prstDash val="solid"/>
          </a:ln>
        </p:spPr>
      </p:sp>
      <p:sp>
        <p:nvSpPr>
          <p:cNvPr id="17" name="Chip A (có chỗ)"/>
          <p:cNvSpPr/>
          <p:nvPr/>
        </p:nvSpPr>
        <p:spPr>
          <a:xfrm>
            <a:off x="5116068" y="1581912"/>
            <a:ext cx="420624" cy="420624"/>
          </a:xfrm>
          <a:prstGeom prst="ellipse">
            <a:avLst/>
          </a:prstGeom>
          <a:solidFill>
            <a:srgbClr val="3F6B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18" name="Bảng hiệu Tầng 2"/>
          <p:cNvSpPr txBox="1"/>
          <p:nvPr/>
        </p:nvSpPr>
        <p:spPr>
          <a:xfrm>
            <a:off x="457200" y="2194560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2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thi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bốc thăm</a:t>
            </a:r>
            <a:endParaRPr lang="en-US" sz="2000" dirty="0"/>
          </a:p>
        </p:txBody>
      </p:sp>
      <p:sp>
        <p:nvSpPr>
          <p:cNvPr id="19" name="Chip D (chưa có chỗ)"/>
          <p:cNvSpPr/>
          <p:nvPr/>
        </p:nvSpPr>
        <p:spPr>
          <a:xfrm>
            <a:off x="2368296" y="2304288"/>
            <a:ext cx="475488" cy="475488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20" name="Giá trị D"/>
          <p:cNvSpPr txBox="1"/>
          <p:nvPr/>
        </p:nvSpPr>
        <p:spPr>
          <a:xfrm>
            <a:off x="182880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300" dirty="0"/>
          </a:p>
        </p:txBody>
      </p:sp>
      <p:sp>
        <p:nvSpPr>
          <p:cNvPr id="21" name="Chip E (chưa có chỗ)"/>
          <p:cNvSpPr/>
          <p:nvPr/>
        </p:nvSpPr>
        <p:spPr>
          <a:xfrm>
            <a:off x="3922776" y="2304288"/>
            <a:ext cx="475488" cy="475488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22" name="Giá trị E"/>
          <p:cNvSpPr txBox="1"/>
          <p:nvPr/>
        </p:nvSpPr>
        <p:spPr>
          <a:xfrm>
            <a:off x="338328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300" dirty="0"/>
          </a:p>
        </p:txBody>
      </p:sp>
      <p:sp>
        <p:nvSpPr>
          <p:cNvPr id="23" name="Chip F (chưa có chỗ)"/>
          <p:cNvSpPr/>
          <p:nvPr/>
        </p:nvSpPr>
        <p:spPr>
          <a:xfrm>
            <a:off x="5477256" y="2304288"/>
            <a:ext cx="475488" cy="475488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00" dirty="0"/>
          </a:p>
        </p:txBody>
      </p:sp>
      <p:sp>
        <p:nvSpPr>
          <p:cNvPr id="24" name="Giá trị F"/>
          <p:cNvSpPr txBox="1"/>
          <p:nvPr/>
        </p:nvSpPr>
        <p:spPr>
          <a:xfrm>
            <a:off x="493776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1300" dirty="0"/>
          </a:p>
        </p:txBody>
      </p:sp>
      <p:sp>
        <p:nvSpPr>
          <p:cNvPr id="25" name="Bảng hiệu Tầng 1"/>
          <p:cNvSpPr txBox="1"/>
          <p:nvPr/>
        </p:nvSpPr>
        <p:spPr>
          <a:xfrm>
            <a:off x="457200" y="3200400"/>
            <a:ext cx="1280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 1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thi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điểm</a:t>
            </a:r>
            <a:endParaRPr lang="en-US" sz="2000" dirty="0"/>
          </a:p>
        </p:txBody>
      </p:sp>
      <p:sp>
        <p:nvSpPr>
          <p:cNvPr id="26" name="Chip A (đã lên)"/>
          <p:cNvSpPr/>
          <p:nvPr/>
        </p:nvSpPr>
        <p:spPr>
          <a:xfrm>
            <a:off x="2368296" y="3310128"/>
            <a:ext cx="475488" cy="475488"/>
          </a:xfrm>
          <a:prstGeom prst="ellipse">
            <a:avLst/>
          </a:prstGeom>
          <a:solidFill>
            <a:srgbClr val="F3F4F1"/>
          </a:solidFill>
          <a:ln w="22225">
            <a:solidFill>
              <a:srgbClr val="3F6B52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27" name="Giá trị A"/>
          <p:cNvSpPr txBox="1"/>
          <p:nvPr/>
        </p:nvSpPr>
        <p:spPr>
          <a:xfrm>
            <a:off x="182880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</a:t>
            </a:r>
            <a:endParaRPr lang="en-US" sz="1300" dirty="0"/>
          </a:p>
        </p:txBody>
      </p:sp>
      <p:sp>
        <p:nvSpPr>
          <p:cNvPr id="28" name="Chip B (chưa có chỗ)"/>
          <p:cNvSpPr/>
          <p:nvPr/>
        </p:nvSpPr>
        <p:spPr>
          <a:xfrm>
            <a:off x="3922776" y="3310128"/>
            <a:ext cx="475488" cy="475488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29" name="Giá trị B"/>
          <p:cNvSpPr txBox="1"/>
          <p:nvPr/>
        </p:nvSpPr>
        <p:spPr>
          <a:xfrm>
            <a:off x="338328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</a:t>
            </a:r>
            <a:endParaRPr lang="en-US" sz="1300" dirty="0"/>
          </a:p>
        </p:txBody>
      </p:sp>
      <p:sp>
        <p:nvSpPr>
          <p:cNvPr id="30" name="Chip C (đã lên)"/>
          <p:cNvSpPr/>
          <p:nvPr/>
        </p:nvSpPr>
        <p:spPr>
          <a:xfrm>
            <a:off x="5477256" y="3310128"/>
            <a:ext cx="475488" cy="475488"/>
          </a:xfrm>
          <a:prstGeom prst="ellipse">
            <a:avLst/>
          </a:prstGeom>
          <a:solidFill>
            <a:srgbClr val="F3F4F1"/>
          </a:solidFill>
          <a:ln w="22225">
            <a:solidFill>
              <a:srgbClr val="A8700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31" name="Giá trị C"/>
          <p:cNvSpPr txBox="1"/>
          <p:nvPr/>
        </p:nvSpPr>
        <p:spPr>
          <a:xfrm>
            <a:off x="493776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</a:t>
            </a:r>
            <a:pPr algn="ctr" indent="0" marL="0">
              <a:buNone/>
            </a:pPr>
            <a:r>
              <a:rPr lang="en-US" sz="1300" b="1" dirty="0">
                <a:solidFill>
                  <a:srgbClr val="A8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ưu tiên</a:t>
            </a:r>
            <a:endParaRPr lang="en-US" sz="1300" dirty="0"/>
          </a:p>
        </p:txBody>
      </p:sp>
      <p:sp>
        <p:nvSpPr>
          <p:cNvPr id="32" name="Bảng hiệu CLB"/>
          <p:cNvSpPr txBox="1"/>
          <p:nvPr/>
        </p:nvSpPr>
        <p:spPr>
          <a:xfrm>
            <a:off x="45720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CLB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chỗ</a:t>
            </a:r>
            <a:endParaRPr lang="en-US" sz="2000" dirty="0"/>
          </a:p>
        </p:txBody>
      </p:sp>
      <p:sp>
        <p:nvSpPr>
          <p:cNvPr id="33" name="Cổng vào"/>
          <p:cNvSpPr txBox="1"/>
          <p:nvPr/>
        </p:nvSpPr>
        <p:spPr>
          <a:xfrm>
            <a:off x="1828800" y="4279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vào · 6 em đăng ký</a:t>
            </a:r>
            <a:endParaRPr lang="en-US" sz="1200" dirty="0"/>
          </a:p>
        </p:txBody>
      </p:sp>
      <p:sp>
        <p:nvSpPr>
          <p:cNvPr id="34" name="Mũi tên xét từ dưới lên"/>
          <p:cNvSpPr/>
          <p:nvPr/>
        </p:nvSpPr>
        <p:spPr>
          <a:xfrm>
            <a:off x="6858000" y="2331720"/>
            <a:ext cx="274320" cy="1371600"/>
          </a:xfrm>
          <a:prstGeom prst="upArrow">
            <a:avLst/>
          </a:prstGeom>
          <a:solidFill>
            <a:srgbClr val="5B6570"/>
          </a:solidFill>
          <a:ln/>
        </p:spPr>
      </p:sp>
      <p:sp>
        <p:nvSpPr>
          <p:cNvPr id="35" name="Thứ tự xét"/>
          <p:cNvSpPr txBox="1"/>
          <p:nvPr/>
        </p:nvSpPr>
        <p:spPr>
          <a:xfrm>
            <a:off x="7269480" y="23317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Xét từ dưới lên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 trước, rồi tầng 2</a:t>
            </a:r>
            <a:endParaRPr lang="en-US" sz="1300" dirty="0"/>
          </a:p>
        </p:txBody>
      </p:sp>
      <p:sp>
        <p:nvSpPr>
          <p:cNvPr id="36" name="Chip B (ghi chú)"/>
          <p:cNvSpPr/>
          <p:nvPr/>
        </p:nvSpPr>
        <p:spPr>
          <a:xfrm>
            <a:off x="6858000" y="3931920"/>
            <a:ext cx="274320" cy="274320"/>
          </a:xfrm>
          <a:prstGeom prst="ellipse">
            <a:avLst/>
          </a:prstGeom>
          <a:solidFill>
            <a:srgbClr val="DBDC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Ghi chú B"/>
          <p:cNvSpPr txBox="1"/>
          <p:nvPr/>
        </p:nvSpPr>
        <p:spPr>
          <a:xfrm>
            <a:off x="7269480" y="3822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 trên C nhưng hết chỗ: C đã lấy suất ưu tiên</a:t>
            </a:r>
            <a:endParaRPr lang="en-US" sz="1100" dirty="0"/>
          </a:p>
        </p:txBody>
      </p:sp>
      <p:sp>
        <p:nvSpPr>
          <p:cNvPr id="38" name="Chú giải chấm vàng"/>
          <p:cNvSpPr/>
          <p:nvPr/>
        </p:nvSpPr>
        <p:spPr>
          <a:xfrm>
            <a:off x="457200" y="4754880"/>
            <a:ext cx="128016" cy="128016"/>
          </a:xfrm>
          <a:prstGeom prst="ellipse">
            <a:avLst/>
          </a:prstGeom>
          <a:solidFill>
            <a:srgbClr val="A870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9" name="Chú giải ưu tiên"/>
          <p:cNvSpPr txBox="1"/>
          <p:nvPr/>
        </p:nvSpPr>
        <p:spPr>
          <a:xfrm>
            <a:off x="658368" y="4709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thuộc diện ưu tiên</a:t>
            </a:r>
            <a:endParaRPr lang="en-US" sz="1100" dirty="0"/>
          </a:p>
        </p:txBody>
      </p:sp>
      <p:sp>
        <p:nvSpPr>
          <p:cNvPr id="40" name="Chú giải nét đứt"/>
          <p:cNvSpPr/>
          <p:nvPr/>
        </p:nvSpPr>
        <p:spPr>
          <a:xfrm>
            <a:off x="2514600" y="4754880"/>
            <a:ext cx="128016" cy="128016"/>
          </a:xfrm>
          <a:prstGeom prst="ellipse">
            <a:avLst/>
          </a:prstGeom>
          <a:solidFill>
            <a:srgbClr val="F3F4F1"/>
          </a:solidFill>
          <a:ln w="12700">
            <a:solidFill>
              <a:srgbClr val="5B657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41" name="Chú giải nét đứt"/>
          <p:cNvSpPr txBox="1"/>
          <p:nvPr/>
        </p:nvSpPr>
        <p:spPr>
          <a:xfrm>
            <a:off x="2715768" y="4709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Nét đứt: đã có chỗ ở sân thượng</a:t>
            </a:r>
            <a:endParaRPr lang="en-US" sz="1100" dirty="0"/>
          </a:p>
        </p:txBody>
      </p:sp>
      <p:sp>
        <p:nvSpPr>
          <p:cNvPr id="42" name="Nhãn dữ liệu"/>
          <p:cNvSpPr txBox="1"/>
          <p:nvPr/>
        </p:nvSpPr>
        <p:spPr>
          <a:xfrm>
            <a:off x="5029200" y="4709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minh hoạ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Xếp hạng hai tầng và suất ưu tiên — mô hình tòa nhà</dc:title>
  <dc:subject>PptxGenJS Presentation</dc:subject>
  <dc:creator/>
  <cp:lastModifiedBy/>
  <cp:revision>1</cp:revision>
  <dcterms:created xsi:type="dcterms:W3CDTF">2026-10-02T07:05:24Z</dcterms:created>
  <dcterms:modified xsi:type="dcterms:W3CDTF">2026-10-02T07:05:24Z</dcterms:modified>
</cp:coreProperties>
</file>