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Ví dụ chạy thật bằng hàm lựa chọn của phần mềm (club_choice_function): 6 em A–F cùng đăng ký một CLB, sức chứa 2, 1 suất dự trữ (ưu tiên), chỉ C thuộc diện ưu tiên. Xếp hạng: Tầng 1 (đã thi) theo điểm, hoà điểm mới tới số bốc thăm; Tầng 2 (không thi) thuần số bốc thăm; Tầng 1 luôn trước Tầng 2. Chia suất hai lượt: lượt 1 chỉ xét em diện ưu tiên (C); lượt 2 xét mọi em còn lại theo thứ hạng (A). B xếp trên C nhưng hết chỗ vì C đã lấy suất ưu tiên. Suất ưu tiên là suất mềm: nếu không có em nào thuộc diện thì suất tự chuyển sang lượt chung (khi đó kết quả là A, 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ề"/>
          <p:cNvSpPr txBox="1"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Xếp hạng hai tầng và suất ưu tiên</a:t>
            </a:r>
            <a:endParaRPr lang="en-US" sz="2800" dirty="0"/>
          </a:p>
        </p:txBody>
      </p:sp>
      <p:sp>
        <p:nvSpPr>
          <p:cNvPr id="3" name="Phụ đề"/>
          <p:cNvSpPr txBox="1"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 dụ: 6 em cùng đăng ký một câu lạc bộ nhận 2 em — 1 suất ưu tiên và 1 suất chung</a:t>
            </a:r>
            <a:endParaRPr lang="en-US" sz="1400" dirty="0"/>
          </a:p>
        </p:txBody>
      </p:sp>
      <p:sp>
        <p:nvSpPr>
          <p:cNvPr id="4" name="Số 1"/>
          <p:cNvSpPr/>
          <p:nvPr/>
        </p:nvSpPr>
        <p:spPr>
          <a:xfrm>
            <a:off x="457200" y="1280160"/>
            <a:ext cx="310896" cy="310896"/>
          </a:xfrm>
          <a:prstGeom prst="ellipse">
            <a:avLst/>
          </a:prstGeom>
          <a:solidFill>
            <a:srgbClr val="1C23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ên bước 1"/>
          <p:cNvSpPr txBox="1"/>
          <p:nvPr/>
        </p:nvSpPr>
        <p:spPr>
          <a:xfrm>
            <a:off x="877824" y="12801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Xếp hạng</a:t>
            </a:r>
            <a:endParaRPr lang="en-US" sz="1800" dirty="0"/>
          </a:p>
        </p:txBody>
      </p:sp>
      <p:sp>
        <p:nvSpPr>
          <p:cNvPr id="6" name="Ghi chú bước 1"/>
          <p:cNvSpPr txBox="1"/>
          <p:nvPr/>
        </p:nvSpPr>
        <p:spPr>
          <a:xfrm>
            <a:off x="1874520" y="128016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Tầng 1 luôn đứng trước tầng 2</a:t>
            </a:r>
            <a:endParaRPr lang="en-US" sz="1200" dirty="0"/>
          </a:p>
        </p:txBody>
      </p:sp>
      <p:sp>
        <p:nvSpPr>
          <p:cNvPr id="7" name="Khung Tầng 1 · Đã thi"/>
          <p:cNvSpPr/>
          <p:nvPr/>
        </p:nvSpPr>
        <p:spPr>
          <a:xfrm>
            <a:off x="457200" y="178308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F3F4F1"/>
          </a:solidFill>
          <a:ln w="12700">
            <a:solidFill>
              <a:srgbClr val="DBDCD5"/>
            </a:solidFill>
            <a:prstDash val="solid"/>
          </a:ln>
        </p:spPr>
      </p:sp>
      <p:sp>
        <p:nvSpPr>
          <p:cNvPr id="8" name="Nhãn Tầng 1 · Đã thi"/>
          <p:cNvSpPr txBox="1"/>
          <p:nvPr/>
        </p:nvSpPr>
        <p:spPr>
          <a:xfrm>
            <a:off x="640080" y="185623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Tầng 1 · Đã thi</a:t>
            </a:r>
            <a:endParaRPr lang="en-US" sz="1300" dirty="0"/>
          </a:p>
        </p:txBody>
      </p:sp>
      <p:sp>
        <p:nvSpPr>
          <p:cNvPr id="9" name="Quy tắc Tầng 1 · Đã thi"/>
          <p:cNvSpPr txBox="1"/>
          <p:nvPr/>
        </p:nvSpPr>
        <p:spPr>
          <a:xfrm>
            <a:off x="2057400" y="185623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điểm</a:t>
            </a:r>
            <a:endParaRPr lang="en-US" sz="1100" dirty="0"/>
          </a:p>
        </p:txBody>
      </p:sp>
      <p:sp>
        <p:nvSpPr>
          <p:cNvPr id="10" name="Hạng A"/>
          <p:cNvSpPr txBox="1"/>
          <p:nvPr/>
        </p:nvSpPr>
        <p:spPr>
          <a:xfrm>
            <a:off x="640080" y="216712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Chip A"/>
          <p:cNvSpPr/>
          <p:nvPr/>
        </p:nvSpPr>
        <p:spPr>
          <a:xfrm>
            <a:off x="914400" y="2167128"/>
            <a:ext cx="274320" cy="274320"/>
          </a:xfrm>
          <a:prstGeom prst="ellipse">
            <a:avLst/>
          </a:prstGeom>
          <a:solidFill>
            <a:srgbClr val="3F6B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2" name="Giá trị A"/>
          <p:cNvSpPr txBox="1"/>
          <p:nvPr/>
        </p:nvSpPr>
        <p:spPr>
          <a:xfrm>
            <a:off x="1325880" y="216712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9,5</a:t>
            </a:r>
            <a:endParaRPr lang="en-US" sz="1300" dirty="0"/>
          </a:p>
        </p:txBody>
      </p:sp>
      <p:sp>
        <p:nvSpPr>
          <p:cNvPr id="13" name="Hạng B"/>
          <p:cNvSpPr txBox="1"/>
          <p:nvPr/>
        </p:nvSpPr>
        <p:spPr>
          <a:xfrm>
            <a:off x="640080" y="24688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Chip B"/>
          <p:cNvSpPr/>
          <p:nvPr/>
        </p:nvSpPr>
        <p:spPr>
          <a:xfrm>
            <a:off x="914400" y="2468880"/>
            <a:ext cx="274320" cy="274320"/>
          </a:xfrm>
          <a:prstGeom prst="ellipse">
            <a:avLst/>
          </a:prstGeom>
          <a:solidFill>
            <a:srgbClr val="3F6B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Giá trị B"/>
          <p:cNvSpPr txBox="1"/>
          <p:nvPr/>
        </p:nvSpPr>
        <p:spPr>
          <a:xfrm>
            <a:off x="1325880" y="2468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9,0</a:t>
            </a:r>
            <a:endParaRPr lang="en-US" sz="1300" dirty="0"/>
          </a:p>
        </p:txBody>
      </p:sp>
      <p:sp>
        <p:nvSpPr>
          <p:cNvPr id="16" name="Hạng C"/>
          <p:cNvSpPr txBox="1"/>
          <p:nvPr/>
        </p:nvSpPr>
        <p:spPr>
          <a:xfrm>
            <a:off x="640080" y="277063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Chip C"/>
          <p:cNvSpPr/>
          <p:nvPr/>
        </p:nvSpPr>
        <p:spPr>
          <a:xfrm>
            <a:off x="914400" y="2770632"/>
            <a:ext cx="274320" cy="274320"/>
          </a:xfrm>
          <a:prstGeom prst="ellipse">
            <a:avLst/>
          </a:prstGeom>
          <a:solidFill>
            <a:srgbClr val="A870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8" name="Giá trị C"/>
          <p:cNvSpPr txBox="1"/>
          <p:nvPr/>
        </p:nvSpPr>
        <p:spPr>
          <a:xfrm>
            <a:off x="1325880" y="277063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8,5</a:t>
            </a:r>
            <a:pPr indent="0" marL="0">
              <a:buNone/>
            </a:pPr>
            <a:r>
              <a:rPr lang="en-US" sz="1300" b="1" dirty="0">
                <a:solidFill>
                  <a:srgbClr val="A8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ưu tiên</a:t>
            </a:r>
            <a:endParaRPr lang="en-US" sz="1300" dirty="0"/>
          </a:p>
        </p:txBody>
      </p:sp>
      <p:sp>
        <p:nvSpPr>
          <p:cNvPr id="19" name="Khung Tầng 2 · Không thi"/>
          <p:cNvSpPr/>
          <p:nvPr/>
        </p:nvSpPr>
        <p:spPr>
          <a:xfrm>
            <a:off x="457200" y="320040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F3F4F1"/>
          </a:solidFill>
          <a:ln w="12700">
            <a:solidFill>
              <a:srgbClr val="DBDCD5"/>
            </a:solidFill>
            <a:prstDash val="solid"/>
          </a:ln>
        </p:spPr>
      </p:sp>
      <p:sp>
        <p:nvSpPr>
          <p:cNvPr id="20" name="Nhãn Tầng 2 · Không thi"/>
          <p:cNvSpPr txBox="1"/>
          <p:nvPr/>
        </p:nvSpPr>
        <p:spPr>
          <a:xfrm>
            <a:off x="640080" y="32735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Tầng 2 · Không thi</a:t>
            </a:r>
            <a:endParaRPr lang="en-US" sz="1300" dirty="0"/>
          </a:p>
        </p:txBody>
      </p:sp>
      <p:sp>
        <p:nvSpPr>
          <p:cNvPr id="21" name="Quy tắc Tầng 2 · Không thi"/>
          <p:cNvSpPr txBox="1"/>
          <p:nvPr/>
        </p:nvSpPr>
        <p:spPr>
          <a:xfrm>
            <a:off x="2057400" y="327355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số bốc thăm, số nhỏ trước</a:t>
            </a:r>
            <a:endParaRPr lang="en-US" sz="1100" dirty="0"/>
          </a:p>
        </p:txBody>
      </p:sp>
      <p:sp>
        <p:nvSpPr>
          <p:cNvPr id="22" name="Hạng D"/>
          <p:cNvSpPr txBox="1"/>
          <p:nvPr/>
        </p:nvSpPr>
        <p:spPr>
          <a:xfrm>
            <a:off x="640080" y="358444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Chip D"/>
          <p:cNvSpPr/>
          <p:nvPr/>
        </p:nvSpPr>
        <p:spPr>
          <a:xfrm>
            <a:off x="914400" y="3584448"/>
            <a:ext cx="274320" cy="274320"/>
          </a:xfrm>
          <a:prstGeom prst="ellipse">
            <a:avLst/>
          </a:prstGeom>
          <a:solidFill>
            <a:srgbClr val="3F6B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24" name="Giá trị D"/>
          <p:cNvSpPr txBox="1"/>
          <p:nvPr/>
        </p:nvSpPr>
        <p:spPr>
          <a:xfrm>
            <a:off x="1325880" y="358444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bốc thăm #2</a:t>
            </a:r>
            <a:endParaRPr lang="en-US" sz="1300" dirty="0"/>
          </a:p>
        </p:txBody>
      </p:sp>
      <p:sp>
        <p:nvSpPr>
          <p:cNvPr id="25" name="Hạng E"/>
          <p:cNvSpPr txBox="1"/>
          <p:nvPr/>
        </p:nvSpPr>
        <p:spPr>
          <a:xfrm>
            <a:off x="640080" y="38862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Chip E"/>
          <p:cNvSpPr/>
          <p:nvPr/>
        </p:nvSpPr>
        <p:spPr>
          <a:xfrm>
            <a:off x="914400" y="3886200"/>
            <a:ext cx="274320" cy="274320"/>
          </a:xfrm>
          <a:prstGeom prst="ellipse">
            <a:avLst/>
          </a:prstGeom>
          <a:solidFill>
            <a:srgbClr val="3F6B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200" dirty="0"/>
          </a:p>
        </p:txBody>
      </p:sp>
      <p:sp>
        <p:nvSpPr>
          <p:cNvPr id="27" name="Giá trị E"/>
          <p:cNvSpPr txBox="1"/>
          <p:nvPr/>
        </p:nvSpPr>
        <p:spPr>
          <a:xfrm>
            <a:off x="1325880" y="38862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bốc thăm #5</a:t>
            </a:r>
            <a:endParaRPr lang="en-US" sz="1300" dirty="0"/>
          </a:p>
        </p:txBody>
      </p:sp>
      <p:sp>
        <p:nvSpPr>
          <p:cNvPr id="28" name="Hạng F"/>
          <p:cNvSpPr txBox="1"/>
          <p:nvPr/>
        </p:nvSpPr>
        <p:spPr>
          <a:xfrm>
            <a:off x="640080" y="418795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Chip F"/>
          <p:cNvSpPr/>
          <p:nvPr/>
        </p:nvSpPr>
        <p:spPr>
          <a:xfrm>
            <a:off x="914400" y="4187952"/>
            <a:ext cx="274320" cy="274320"/>
          </a:xfrm>
          <a:prstGeom prst="ellipse">
            <a:avLst/>
          </a:prstGeom>
          <a:solidFill>
            <a:srgbClr val="3F6B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200" dirty="0"/>
          </a:p>
        </p:txBody>
      </p:sp>
      <p:sp>
        <p:nvSpPr>
          <p:cNvPr id="30" name="Giá trị F"/>
          <p:cNvSpPr txBox="1"/>
          <p:nvPr/>
        </p:nvSpPr>
        <p:spPr>
          <a:xfrm>
            <a:off x="1325880" y="418795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bốc thăm #9</a:t>
            </a:r>
            <a:endParaRPr lang="en-US" sz="1300" dirty="0"/>
          </a:p>
        </p:txBody>
      </p:sp>
      <p:sp>
        <p:nvSpPr>
          <p:cNvPr id="31" name="Mũi tên"/>
          <p:cNvSpPr/>
          <p:nvPr/>
        </p:nvSpPr>
        <p:spPr>
          <a:xfrm>
            <a:off x="4224528" y="2926080"/>
            <a:ext cx="384048" cy="365760"/>
          </a:xfrm>
          <a:prstGeom prst="rightArrow">
            <a:avLst/>
          </a:prstGeom>
          <a:solidFill>
            <a:srgbClr val="5B6570"/>
          </a:solidFill>
          <a:ln/>
        </p:spPr>
      </p:sp>
      <p:sp>
        <p:nvSpPr>
          <p:cNvPr id="32" name="Số 2"/>
          <p:cNvSpPr/>
          <p:nvPr/>
        </p:nvSpPr>
        <p:spPr>
          <a:xfrm>
            <a:off x="4754880" y="1280160"/>
            <a:ext cx="310896" cy="310896"/>
          </a:xfrm>
          <a:prstGeom prst="ellipse">
            <a:avLst/>
          </a:prstGeom>
          <a:solidFill>
            <a:srgbClr val="1C23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Tên bước 2"/>
          <p:cNvSpPr txBox="1"/>
          <p:nvPr/>
        </p:nvSpPr>
        <p:spPr>
          <a:xfrm>
            <a:off x="5175504" y="12801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3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Chia suất</a:t>
            </a:r>
            <a:endParaRPr lang="en-US" sz="1800" dirty="0"/>
          </a:p>
        </p:txBody>
      </p:sp>
      <p:sp>
        <p:nvSpPr>
          <p:cNvPr id="34" name="Ghi chú bước 2"/>
          <p:cNvSpPr txBox="1"/>
          <p:nvPr/>
        </p:nvSpPr>
        <p:spPr>
          <a:xfrm>
            <a:off x="6035040" y="128016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Ưu tiên lấy trước, còn lại chia chung</a:t>
            </a:r>
            <a:endParaRPr lang="en-US" sz="1200" dirty="0"/>
          </a:p>
        </p:txBody>
      </p:sp>
      <p:sp>
        <p:nvSpPr>
          <p:cNvPr id="35" name="Khung LƯỢT 1"/>
          <p:cNvSpPr/>
          <p:nvPr/>
        </p:nvSpPr>
        <p:spPr>
          <a:xfrm>
            <a:off x="4754880" y="1783080"/>
            <a:ext cx="3931920" cy="1005840"/>
          </a:xfrm>
          <a:prstGeom prst="roundRect">
            <a:avLst>
              <a:gd name="adj" fmla="val 9091"/>
            </a:avLst>
          </a:prstGeom>
          <a:solidFill>
            <a:srgbClr val="F8EBCF"/>
          </a:solidFill>
          <a:ln/>
        </p:spPr>
      </p:sp>
      <p:sp>
        <p:nvSpPr>
          <p:cNvPr id="36" name="Nhãn LƯỢT 1"/>
          <p:cNvSpPr txBox="1"/>
          <p:nvPr/>
        </p:nvSpPr>
        <p:spPr>
          <a:xfrm>
            <a:off x="4937760" y="18745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70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LƯỢT 1</a:t>
            </a:r>
            <a:endParaRPr lang="en-US" sz="1100" dirty="0"/>
          </a:p>
        </p:txBody>
      </p:sp>
      <p:sp>
        <p:nvSpPr>
          <p:cNvPr id="37" name="Tên LƯỢT 1"/>
          <p:cNvSpPr txBox="1"/>
          <p:nvPr/>
        </p:nvSpPr>
        <p:spPr>
          <a:xfrm>
            <a:off x="4937760" y="209397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Suất ưu tiên · 1 suất</a:t>
            </a:r>
            <a:endParaRPr lang="en-US" sz="1500" dirty="0"/>
          </a:p>
        </p:txBody>
      </p:sp>
      <p:sp>
        <p:nvSpPr>
          <p:cNvPr id="38" name="Mô tả LƯỢT 1"/>
          <p:cNvSpPr txBox="1"/>
          <p:nvPr/>
        </p:nvSpPr>
        <p:spPr>
          <a:xfrm>
            <a:off x="4937760" y="23865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xét em thuộc diện ưu tiên</a:t>
            </a:r>
            <a:endParaRPr lang="en-US" sz="1100" dirty="0"/>
          </a:p>
        </p:txBody>
      </p:sp>
      <p:sp>
        <p:nvSpPr>
          <p:cNvPr id="39" name="Ô suất C"/>
          <p:cNvSpPr/>
          <p:nvPr/>
        </p:nvSpPr>
        <p:spPr>
          <a:xfrm>
            <a:off x="7845552" y="1956816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C98A1F"/>
            </a:solidFill>
            <a:prstDash val="solid"/>
          </a:ln>
        </p:spPr>
      </p:sp>
      <p:sp>
        <p:nvSpPr>
          <p:cNvPr id="40" name="Chip C (kết quả)"/>
          <p:cNvSpPr/>
          <p:nvPr/>
        </p:nvSpPr>
        <p:spPr>
          <a:xfrm>
            <a:off x="7946136" y="2057400"/>
            <a:ext cx="457200" cy="457200"/>
          </a:xfrm>
          <a:prstGeom prst="ellipse">
            <a:avLst/>
          </a:prstGeom>
          <a:solidFill>
            <a:srgbClr val="A870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41" name="Khung LƯỢT 2"/>
          <p:cNvSpPr/>
          <p:nvPr/>
        </p:nvSpPr>
        <p:spPr>
          <a:xfrm>
            <a:off x="4754880" y="2898648"/>
            <a:ext cx="3931920" cy="1005840"/>
          </a:xfrm>
          <a:prstGeom prst="roundRect">
            <a:avLst>
              <a:gd name="adj" fmla="val 9091"/>
            </a:avLst>
          </a:prstGeom>
          <a:solidFill>
            <a:srgbClr val="DCE9E0"/>
          </a:solidFill>
          <a:ln/>
        </p:spPr>
      </p:sp>
      <p:sp>
        <p:nvSpPr>
          <p:cNvPr id="42" name="Nhãn LƯỢT 2"/>
          <p:cNvSpPr txBox="1"/>
          <p:nvPr/>
        </p:nvSpPr>
        <p:spPr>
          <a:xfrm>
            <a:off x="4937760" y="2990088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F6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LƯỢT 2</a:t>
            </a:r>
            <a:endParaRPr lang="en-US" sz="1100" dirty="0"/>
          </a:p>
        </p:txBody>
      </p:sp>
      <p:sp>
        <p:nvSpPr>
          <p:cNvPr id="43" name="Tên LƯỢT 2"/>
          <p:cNvSpPr txBox="1"/>
          <p:nvPr/>
        </p:nvSpPr>
        <p:spPr>
          <a:xfrm>
            <a:off x="4937760" y="32095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3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Suất chung · 1 suất</a:t>
            </a:r>
            <a:endParaRPr lang="en-US" sz="1500" dirty="0"/>
          </a:p>
        </p:txBody>
      </p:sp>
      <p:sp>
        <p:nvSpPr>
          <p:cNvPr id="44" name="Mô tả LƯỢT 2"/>
          <p:cNvSpPr txBox="1"/>
          <p:nvPr/>
        </p:nvSpPr>
        <p:spPr>
          <a:xfrm>
            <a:off x="4937760" y="350215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Xét mọi em còn lại, theo thứ hạng</a:t>
            </a:r>
            <a:endParaRPr lang="en-US" sz="1100" dirty="0"/>
          </a:p>
        </p:txBody>
      </p:sp>
      <p:sp>
        <p:nvSpPr>
          <p:cNvPr id="45" name="Ô suất A"/>
          <p:cNvSpPr/>
          <p:nvPr/>
        </p:nvSpPr>
        <p:spPr>
          <a:xfrm>
            <a:off x="7845552" y="3072384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9050">
            <a:solidFill>
              <a:srgbClr val="3F6B52"/>
            </a:solidFill>
            <a:prstDash val="solid"/>
          </a:ln>
        </p:spPr>
      </p:sp>
      <p:sp>
        <p:nvSpPr>
          <p:cNvPr id="46" name="Chip A (kết quả)"/>
          <p:cNvSpPr/>
          <p:nvPr/>
        </p:nvSpPr>
        <p:spPr>
          <a:xfrm>
            <a:off x="7946136" y="3172968"/>
            <a:ext cx="457200" cy="457200"/>
          </a:xfrm>
          <a:prstGeom prst="ellipse">
            <a:avLst/>
          </a:prstGeom>
          <a:solidFill>
            <a:srgbClr val="3F6B5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47" name="Nhãn chưa có suất"/>
          <p:cNvSpPr txBox="1"/>
          <p:nvPr/>
        </p:nvSpPr>
        <p:spPr>
          <a:xfrm>
            <a:off x="4754880" y="402336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có suất</a:t>
            </a:r>
            <a:endParaRPr lang="en-US" sz="1300" dirty="0"/>
          </a:p>
        </p:txBody>
      </p:sp>
      <p:sp>
        <p:nvSpPr>
          <p:cNvPr id="48" name="Chip B (chưa có suất)"/>
          <p:cNvSpPr/>
          <p:nvPr/>
        </p:nvSpPr>
        <p:spPr>
          <a:xfrm>
            <a:off x="5852160" y="4023360"/>
            <a:ext cx="310896" cy="310896"/>
          </a:xfrm>
          <a:prstGeom prst="ellipse">
            <a:avLst/>
          </a:prstGeom>
          <a:solidFill>
            <a:srgbClr val="DBDC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49" name="Chip D (chưa có suất)"/>
          <p:cNvSpPr/>
          <p:nvPr/>
        </p:nvSpPr>
        <p:spPr>
          <a:xfrm>
            <a:off x="6236208" y="4023360"/>
            <a:ext cx="310896" cy="310896"/>
          </a:xfrm>
          <a:prstGeom prst="ellipse">
            <a:avLst/>
          </a:prstGeom>
          <a:solidFill>
            <a:srgbClr val="DBDC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50" name="Chip E (chưa có suất)"/>
          <p:cNvSpPr/>
          <p:nvPr/>
        </p:nvSpPr>
        <p:spPr>
          <a:xfrm>
            <a:off x="6620256" y="4023360"/>
            <a:ext cx="310896" cy="310896"/>
          </a:xfrm>
          <a:prstGeom prst="ellipse">
            <a:avLst/>
          </a:prstGeom>
          <a:solidFill>
            <a:srgbClr val="DBDC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300" dirty="0"/>
          </a:p>
        </p:txBody>
      </p:sp>
      <p:sp>
        <p:nvSpPr>
          <p:cNvPr id="51" name="Chip F (chưa có suất)"/>
          <p:cNvSpPr/>
          <p:nvPr/>
        </p:nvSpPr>
        <p:spPr>
          <a:xfrm>
            <a:off x="7004304" y="4023360"/>
            <a:ext cx="310896" cy="310896"/>
          </a:xfrm>
          <a:prstGeom prst="ellipse">
            <a:avLst/>
          </a:prstGeom>
          <a:solidFill>
            <a:srgbClr val="DBDC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300" dirty="0"/>
          </a:p>
        </p:txBody>
      </p:sp>
      <p:sp>
        <p:nvSpPr>
          <p:cNvPr id="52" name="Ghi chú C"/>
          <p:cNvSpPr txBox="1"/>
          <p:nvPr/>
        </p:nvSpPr>
        <p:spPr>
          <a:xfrm>
            <a:off x="4754880" y="4352544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xếp trên C nhưng suất ưu tiên đã thuộc về C</a:t>
            </a:r>
            <a:endParaRPr lang="en-US" sz="1100" dirty="0"/>
          </a:p>
        </p:txBody>
      </p:sp>
      <p:sp>
        <p:nvSpPr>
          <p:cNvPr id="53" name="Chú giải chấm vàng"/>
          <p:cNvSpPr/>
          <p:nvPr/>
        </p:nvSpPr>
        <p:spPr>
          <a:xfrm>
            <a:off x="457200" y="4754880"/>
            <a:ext cx="128016" cy="128016"/>
          </a:xfrm>
          <a:prstGeom prst="ellipse">
            <a:avLst/>
          </a:prstGeom>
          <a:solidFill>
            <a:srgbClr val="A8700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54" name="Chú giải"/>
          <p:cNvSpPr txBox="1"/>
          <p:nvPr/>
        </p:nvSpPr>
        <p:spPr>
          <a:xfrm>
            <a:off x="658368" y="47091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thuộc diện ưu tiên</a:t>
            </a:r>
            <a:endParaRPr lang="en-US" sz="1100" dirty="0"/>
          </a:p>
        </p:txBody>
      </p:sp>
      <p:sp>
        <p:nvSpPr>
          <p:cNvPr id="55" name="Nhãn AI"/>
          <p:cNvSpPr txBox="1"/>
          <p:nvPr/>
        </p:nvSpPr>
        <p:spPr>
          <a:xfrm>
            <a:off x="5029200" y="470916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 minh hoạ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Xếp hạng hai tầng và suất ưu tiên</dc:title>
  <dc:subject>PptxGenJS Presentation</dc:subject>
  <dc:creator/>
  <cp:lastModifiedBy/>
  <cp:revision>1</cp:revision>
  <dcterms:created xsi:type="dcterms:W3CDTF">2026-10-02T07:05:24Z</dcterms:created>
  <dcterms:modified xsi:type="dcterms:W3CDTF">2026-10-02T07:05:24Z</dcterms:modified>
</cp:coreProperties>
</file>