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0" cy="27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Tỉ lệ 1:2 — slide 100 x 75 cm, in phóng 200% ra 200 x 150 cm.</a:t>
            </a:r>
          </a:p>
          <a:p>
            <a:r>
              <a:t>Nếp gấp ở 25 cm và 75 cm trên slide (50 cm và 150 cm khi in).</a:t>
            </a:r>
          </a:p>
          <a:p>
            <a:r>
              <a:t>Mã ô (H1, T1, G1, S1, P1…) khớp bảng tra poster/DU_LIEU_POSTER.md.</a:t>
            </a:r>
          </a:p>
          <a:p>
            <a:r>
              <a:t>Không đặt: Logo nhà trường, Tên trường (kể cả viết tắt), Mã dự án, Tên giáo viên hướng dẫn, Tên học sinh tham 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00" cy="27000000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00" cy="216000"/>
          </a:xfrm>
          <a:prstGeom prst="rect">
            <a:avLst/>
          </a:prstGeom>
          <a:solidFill>
            <a:srgbClr val="3F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0" y="0"/>
            <a:ext cx="18000000" cy="216000"/>
          </a:xfrm>
          <a:prstGeom prst="rect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00" y="0"/>
            <a:ext cx="9000000" cy="216000"/>
          </a:xfrm>
          <a:prstGeom prst="rect">
            <a:avLst/>
          </a:prstGeom>
          <a:solidFill>
            <a:srgbClr val="3F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000" y="540000"/>
            <a:ext cx="8010000" cy="7920000"/>
          </a:xfrm>
          <a:prstGeom prst="roundRect">
            <a:avLst>
              <a:gd name="adj" fmla="val 1363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4000" y="827999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0000" y="827999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Vấn đề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" y="1530000"/>
            <a:ext cx="7362000" cy="6606000"/>
          </a:xfrm>
          <a:prstGeom prst="roundRect">
            <a:avLst>
              <a:gd name="adj" fmla="val 1634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" y="1674000"/>
            <a:ext cx="7002000" cy="631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T1 — em viết 2–3 câu. Hiện nay xếp học sinh vào CLB thế nào? Ai thiệt, thiệt ra sao?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8910000"/>
            <a:ext cx="8010000" cy="97200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4000" y="9198000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0000" y="9198000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Dùng thế nào</a:t>
            </a:r>
          </a:p>
        </p:txBody>
      </p:sp>
      <p:pic>
        <p:nvPicPr>
          <p:cNvPr id="14" name="Picture 13" descr="giao_dien_van_h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9900000"/>
            <a:ext cx="7362000" cy="4601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4000" y="14573250"/>
            <a:ext cx="736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570"/>
                </a:solidFill>
                <a:latin typeface="IBM Plex Sans"/>
              </a:rPr>
              <a:t>Ảnh chụp giao diện thật · dữ liệu mô phỏng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000" y="14933250"/>
            <a:ext cx="7362000" cy="3372750"/>
          </a:xfrm>
          <a:prstGeom prst="roundRect">
            <a:avLst>
              <a:gd name="adj" fmla="val 320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4000" y="15077250"/>
            <a:ext cx="7002000" cy="3084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T2 — em viết: người dùng làm mấy bước? Mỗi bước một dòng.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19080000"/>
            <a:ext cx="8010000" cy="72000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4000" y="19368000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0000" y="19368000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Xem thử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000" y="20070000"/>
            <a:ext cx="3600000" cy="3600000"/>
          </a:xfrm>
          <a:prstGeom prst="roundRect">
            <a:avLst>
              <a:gd name="adj" fmla="val 3000"/>
            </a:avLst>
          </a:prstGeom>
          <a:solidFill>
            <a:srgbClr val="F3F4F1"/>
          </a:solidFill>
          <a:ln w="25200">
            <a:solidFill>
              <a:srgbClr val="5B65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5B6570"/>
                </a:solidFill>
                <a:latin typeface="IBM Plex Sans"/>
              </a:rPr>
              <a:t>[ QR tới video demo — KHÔNG trỏ tới GitHub 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4000" y="20070000"/>
            <a:ext cx="3491999" cy="3600000"/>
          </a:xfrm>
          <a:prstGeom prst="roundRect">
            <a:avLst>
              <a:gd name="adj" fmla="val 309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4000" y="20214000"/>
            <a:ext cx="3131999" cy="331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T3 — em viết 1 câu mời xem demo / dùng thử tại gian 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50000" y="540000"/>
            <a:ext cx="17100000" cy="4860000"/>
          </a:xfrm>
          <a:prstGeom prst="roundRect">
            <a:avLst>
              <a:gd name="adj" fmla="val 2222"/>
            </a:avLst>
          </a:prstGeom>
          <a:solidFill>
            <a:srgbClr val="1C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0000" y="936000"/>
            <a:ext cx="16020000" cy="40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8A1F"/>
                </a:solidFill>
                <a:latin typeface="IBM Plex Sans"/>
              </a:rPr>
              <a:t>[ H1 — LĨNH VỰC DỰ THI ]</a:t>
            </a:r>
          </a:p>
          <a:p>
            <a:pPr algn="l"/>
            <a:r>
              <a:rPr sz="7000" b="1" i="0">
                <a:solidFill>
                  <a:srgbClr val="F3F4F1"/>
                </a:solidFill>
                <a:latin typeface="Be Vietnam Pro"/>
              </a:rPr>
              <a:t>[ H2 — THÔNG ĐIỆP CHÍNH, MỘT CÂU, TỐI ĐA HAI DÒNG ]</a:t>
            </a:r>
          </a:p>
          <a:p>
            <a:pPr algn="l"/>
            <a:r>
              <a:rPr sz="2400" b="0" i="0">
                <a:solidFill>
                  <a:srgbClr val="DBDCD5"/>
                </a:solidFill>
                <a:latin typeface="IBM Plex Sans"/>
              </a:rPr>
              <a:t>[ H3 — tên đề tài đầy đủ 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50000" y="5850000"/>
            <a:ext cx="10980000" cy="10260000"/>
          </a:xfrm>
          <a:prstGeom prst="roundRect">
            <a:avLst>
              <a:gd name="adj" fmla="val 1052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iao_dien_ket_q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000" y="6173999"/>
            <a:ext cx="10332000" cy="6457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74000" y="12703500"/>
            <a:ext cx="1033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570"/>
                </a:solidFill>
                <a:latin typeface="IBM Plex Sans"/>
              </a:rPr>
              <a:t>Ảnh chụp giao diện thật · tab Kết quả · dữ liệu mô phỏng (120 học sinh, 10 CLB)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74000" y="13063500"/>
            <a:ext cx="10332000" cy="2722500"/>
          </a:xfrm>
          <a:prstGeom prst="roundRect">
            <a:avLst>
              <a:gd name="adj" fmla="val 3966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54000" y="13207500"/>
            <a:ext cx="9972000" cy="243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G1 — em viết 1–2 câu: ảnh này cho thấy phần mềm làm được gì? 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880000" y="5850000"/>
            <a:ext cx="5670000" cy="318000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880000" y="5850000"/>
            <a:ext cx="108000" cy="3180000"/>
          </a:xfrm>
          <a:prstGeom prst="rect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168000" y="6066000"/>
            <a:ext cx="5166000" cy="27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0" b="1" i="0">
                <a:solidFill>
                  <a:srgbClr val="27805A"/>
                </a:solidFill>
                <a:latin typeface="Be Vietnam Pro"/>
              </a:rPr>
              <a:t>0</a:t>
            </a:r>
          </a:p>
          <a:p>
            <a:pPr algn="l"/>
            <a:r>
              <a:rPr sz="1200" b="1" i="0">
                <a:solidFill>
                  <a:srgbClr val="1C2321"/>
                </a:solidFill>
                <a:latin typeface="IBM Plex Sans"/>
              </a:rPr>
              <a:t>cặp phá vỡ · mọi seed, mọi bộ dữ liệu mô phỏng</a:t>
            </a:r>
          </a:p>
          <a:p>
            <a:pPr algn="l"/>
            <a:r>
              <a:rPr sz="1200" b="0" i="1">
                <a:solidFill>
                  <a:srgbClr val="5B6570"/>
                </a:solidFill>
                <a:latin typeface="IBM Plex Sans"/>
              </a:rPr>
              <a:t>[ S1 — em viết 1 dòng: con số này nghĩa là gì? 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880000" y="9390000"/>
            <a:ext cx="5670000" cy="318000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880000" y="9390000"/>
            <a:ext cx="108000" cy="3180000"/>
          </a:xfrm>
          <a:prstGeom prst="rect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168000" y="9606000"/>
            <a:ext cx="5166000" cy="27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0" b="1" i="0">
                <a:solidFill>
                  <a:srgbClr val="27805A"/>
                </a:solidFill>
                <a:latin typeface="Be Vietnam Pro"/>
              </a:rPr>
              <a:t>0,14 giây</a:t>
            </a:r>
          </a:p>
          <a:p>
            <a:pPr algn="l"/>
            <a:r>
              <a:rPr sz="1200" b="1" i="0">
                <a:solidFill>
                  <a:srgbClr val="1C2321"/>
                </a:solidFill>
                <a:latin typeface="IBM Plex Sans"/>
              </a:rPr>
              <a:t>xếp 2 000 học sinh · 40 CLB · dữ liệu mô phỏng</a:t>
            </a:r>
          </a:p>
          <a:p>
            <a:pPr algn="l"/>
            <a:r>
              <a:rPr sz="1200" b="0" i="1">
                <a:solidFill>
                  <a:srgbClr val="5B6570"/>
                </a:solidFill>
                <a:latin typeface="IBM Plex Sans"/>
              </a:rPr>
              <a:t>[ S2 — em viết 1 dòng: con số này nghĩa là gì? 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880000" y="12930000"/>
            <a:ext cx="5670000" cy="318000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880000" y="12930000"/>
            <a:ext cx="108000" cy="3180000"/>
          </a:xfrm>
          <a:prstGeom prst="rect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168000" y="13146000"/>
            <a:ext cx="5166000" cy="27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0" b="1" i="0">
                <a:solidFill>
                  <a:srgbClr val="27805A"/>
                </a:solidFill>
                <a:latin typeface="Be Vietnam Pro"/>
              </a:rPr>
              <a:t>816</a:t>
            </a:r>
          </a:p>
          <a:p>
            <a:pPr algn="l"/>
            <a:r>
              <a:rPr sz="1200" b="1" i="0">
                <a:solidFill>
                  <a:srgbClr val="1C2321"/>
                </a:solidFill>
                <a:latin typeface="IBM Plex Sans"/>
              </a:rPr>
              <a:t>bài kiểm thử tự động</a:t>
            </a:r>
          </a:p>
          <a:p>
            <a:pPr algn="l"/>
            <a:r>
              <a:rPr sz="1200" b="0" i="1">
                <a:solidFill>
                  <a:srgbClr val="5B6570"/>
                </a:solidFill>
                <a:latin typeface="IBM Plex Sans"/>
              </a:rPr>
              <a:t>[ S3 — em viết 1 dòng: con số này nghĩa là gì? 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50000" y="16560000"/>
            <a:ext cx="17100000" cy="9720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74000" y="16848000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39999" y="16848000"/>
            <a:ext cx="1578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Cách hoạt động</a:t>
            </a:r>
          </a:p>
        </p:txBody>
      </p:sp>
      <p:pic>
        <p:nvPicPr>
          <p:cNvPr id="43" name="Picture 42" descr="so_do_5_l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000" y="17550000"/>
            <a:ext cx="16452000" cy="61695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774000" y="23863500"/>
            <a:ext cx="16452000" cy="2092499"/>
          </a:xfrm>
          <a:prstGeom prst="roundRect">
            <a:avLst>
              <a:gd name="adj" fmla="val 5161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54000" y="24007500"/>
            <a:ext cx="16092000" cy="1804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G2 — em viết 1–2 câu tóm tắt sơ đồ. Nhãn "Sơ đồ do AI tạo ra" đã có sẵn trong hình — giữ nguyên. 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50000" y="540000"/>
            <a:ext cx="8010000" cy="104400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7774000" y="827999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440000" y="827999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Lợi ích</a:t>
            </a:r>
          </a:p>
        </p:txBody>
      </p:sp>
      <p:sp>
        <p:nvSpPr>
          <p:cNvPr id="49" name="Oval 48"/>
          <p:cNvSpPr/>
          <p:nvPr/>
        </p:nvSpPr>
        <p:spPr>
          <a:xfrm>
            <a:off x="27774000" y="1548000"/>
            <a:ext cx="432000" cy="432000"/>
          </a:xfrm>
          <a:prstGeom prst="ellipse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e Vietnam Pro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350000" y="1530000"/>
            <a:ext cx="6785999" cy="2137500"/>
          </a:xfrm>
          <a:prstGeom prst="roundRect">
            <a:avLst>
              <a:gd name="adj" fmla="val 505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530000" y="1674000"/>
            <a:ext cx="6425999" cy="184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P1 — một lợi ích, tối đa 2 dòng ]</a:t>
            </a:r>
          </a:p>
        </p:txBody>
      </p:sp>
      <p:sp>
        <p:nvSpPr>
          <p:cNvPr id="52" name="Oval 51"/>
          <p:cNvSpPr/>
          <p:nvPr/>
        </p:nvSpPr>
        <p:spPr>
          <a:xfrm>
            <a:off x="27774000" y="3829500"/>
            <a:ext cx="432000" cy="432000"/>
          </a:xfrm>
          <a:prstGeom prst="ellipse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e Vietnam Pro"/>
              </a:rP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350000" y="3811500"/>
            <a:ext cx="6785999" cy="2137500"/>
          </a:xfrm>
          <a:prstGeom prst="roundRect">
            <a:avLst>
              <a:gd name="adj" fmla="val 505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530000" y="3955500"/>
            <a:ext cx="6425999" cy="184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P2 — một lợi ích, tối đa 2 dòng ]</a:t>
            </a:r>
          </a:p>
        </p:txBody>
      </p:sp>
      <p:sp>
        <p:nvSpPr>
          <p:cNvPr id="55" name="Oval 54"/>
          <p:cNvSpPr/>
          <p:nvPr/>
        </p:nvSpPr>
        <p:spPr>
          <a:xfrm>
            <a:off x="27774000" y="6111000"/>
            <a:ext cx="432000" cy="432000"/>
          </a:xfrm>
          <a:prstGeom prst="ellipse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e Vietnam Pro"/>
              </a:rPr>
              <a:t>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350000" y="6093000"/>
            <a:ext cx="6785999" cy="2137500"/>
          </a:xfrm>
          <a:prstGeom prst="roundRect">
            <a:avLst>
              <a:gd name="adj" fmla="val 505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530000" y="6237000"/>
            <a:ext cx="6425999" cy="184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P3 — một lợi ích, tối đa 2 dòng ]</a:t>
            </a:r>
          </a:p>
        </p:txBody>
      </p:sp>
      <p:sp>
        <p:nvSpPr>
          <p:cNvPr id="58" name="Oval 57"/>
          <p:cNvSpPr/>
          <p:nvPr/>
        </p:nvSpPr>
        <p:spPr>
          <a:xfrm>
            <a:off x="27774000" y="8392500"/>
            <a:ext cx="432000" cy="432000"/>
          </a:xfrm>
          <a:prstGeom prst="ellipse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e Vietnam Pro"/>
              </a:rPr>
              <a:t>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8350000" y="8374500"/>
            <a:ext cx="6785999" cy="2137500"/>
          </a:xfrm>
          <a:prstGeom prst="roundRect">
            <a:avLst>
              <a:gd name="adj" fmla="val 505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530000" y="8518500"/>
            <a:ext cx="6425999" cy="184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P4 — một lợi ích, tối đa 2 dòng ]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50000" y="11430000"/>
            <a:ext cx="8010000" cy="118800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7774000" y="11717999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440000" y="11717999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Đã kiểm chứng</a:t>
            </a:r>
          </a:p>
        </p:txBody>
      </p:sp>
      <p:pic>
        <p:nvPicPr>
          <p:cNvPr id="64" name="Picture 63" descr="bieu_do_khai_gi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74000" y="12420000"/>
            <a:ext cx="7362000" cy="3496949"/>
          </a:xfrm>
          <a:prstGeom prst="rect">
            <a:avLst/>
          </a:prstGeom>
        </p:spPr>
      </p:pic>
      <p:pic>
        <p:nvPicPr>
          <p:cNvPr id="65" name="Picture 64" descr="bieu_do_nguyen_vo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74000" y="16060949"/>
            <a:ext cx="7362000" cy="4601250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27774000" y="20806199"/>
            <a:ext cx="7362000" cy="2179800"/>
          </a:xfrm>
          <a:prstGeom prst="roundRect">
            <a:avLst>
              <a:gd name="adj" fmla="val 4954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954000" y="20950199"/>
            <a:ext cx="7002000" cy="189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P5 — em viết 1–2 câu: hai biểu đồ này nói gì với học sinh? 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50000" y="23760000"/>
            <a:ext cx="8010000" cy="2520000"/>
          </a:xfrm>
          <a:prstGeom prst="roundRect">
            <a:avLst>
              <a:gd name="adj" fmla="val 4285"/>
            </a:avLst>
          </a:prstGeom>
          <a:solidFill>
            <a:srgbClr val="DCE9E0"/>
          </a:solidFill>
          <a:ln w="14400">
            <a:solidFill>
              <a:srgbClr val="D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774000" y="23975999"/>
            <a:ext cx="7362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F6B52"/>
                </a:solidFill>
                <a:latin typeface="Be Vietnam Pro"/>
              </a:rPr>
              <a:t>Tuyên bố sử dụng AI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774000" y="24443999"/>
            <a:ext cx="7362000" cy="1656000"/>
          </a:xfrm>
          <a:prstGeom prst="roundRect">
            <a:avLst>
              <a:gd name="adj" fmla="val 6521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954000" y="24588000"/>
            <a:ext cx="7002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B6570"/>
                </a:solidFill>
                <a:latin typeface="IBM Plex Sans"/>
              </a:rPr>
              <a:t>[ P6 — theo Phụ lục 1: phần nào có AI hỗ trợ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