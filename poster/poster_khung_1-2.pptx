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Không đặt: Logo nhà trường, Tên trường,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TÊN ĐỀ TÀI — VIẾT HOA, TỐI ĐA HAI DÒNG ]</a:t>
            </a:r>
          </a:p>
          <a:p>
            <a:pPr algn="l"/>
            <a:r>
              <a:rPr sz="2200" b="0" i="0">
                <a:solidFill>
                  <a:srgbClr val="DBDCD5"/>
                </a:solidFill>
                <a:latin typeface="IBM Plex Sans"/>
              </a:rPr>
              <a:t>[ Một câu nói sản phẩm giải quyết việc gì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0000" y="827999"/>
            <a:ext cx="66960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Đặt vấn đề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000" y="1530000"/>
            <a:ext cx="7362000" cy="66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Vấn đề thực tế là gì? Ai gặp phải, ở đâu, mức độ ra sao? Vì sao cách làm hiện tại chưa ổn?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0000" y="8910000"/>
            <a:ext cx="8010000" cy="6840000"/>
          </a:xfrm>
          <a:prstGeom prst="roundRect">
            <a:avLst>
              <a:gd name="adj" fmla="val 157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0000" y="9198000"/>
            <a:ext cx="66960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Mục tiêu &amp; câu hỏi nghiên cứu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000" y="9900000"/>
            <a:ext cx="7362000" cy="55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Mục tiêu chính và 2–3 câu hỏi nghiên cứu, mỗi câu một dòng.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000" y="16200000"/>
            <a:ext cx="8010000" cy="100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000" y="1648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0000" y="16487999"/>
            <a:ext cx="66960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Cơ sở lý thuyết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000" y="17190000"/>
            <a:ext cx="7362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Khái niệm và tài liệu nền tảng đề tài dựa vào.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000" y="19350000"/>
            <a:ext cx="7362000" cy="6642000"/>
          </a:xfrm>
          <a:prstGeom prst="roundRect">
            <a:avLst>
              <a:gd name="adj" fmla="val 1626"/>
            </a:avLst>
          </a:prstGeom>
          <a:solidFill>
            <a:srgbClr val="F3F4F1"/>
          </a:solidFill>
          <a:ln w="216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B6570"/>
                </a:solidFill>
                <a:latin typeface="IBM Plex Sans"/>
              </a:rPr>
              <a:t>[ Sơ đồ khái niệm (nếu có) 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50000" y="5850000"/>
            <a:ext cx="17100000" cy="7560000"/>
          </a:xfrm>
          <a:prstGeom prst="roundRect">
            <a:avLst>
              <a:gd name="adj" fmla="val 142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74000" y="613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9999" y="613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Phương pháp &amp; quy trình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4000" y="6840000"/>
            <a:ext cx="16452000" cy="15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Các bước thực hiện, từ dữ liệu đầu vào tới kết quả.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4000" y="8550000"/>
            <a:ext cx="16452000" cy="4572000"/>
          </a:xfrm>
          <a:prstGeom prst="roundRect">
            <a:avLst>
              <a:gd name="adj" fmla="val 2362"/>
            </a:avLst>
          </a:prstGeom>
          <a:solidFill>
            <a:srgbClr val="F3F4F1"/>
          </a:solidFill>
          <a:ln w="216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B6570"/>
                </a:solidFill>
                <a:latin typeface="IBM Plex Sans"/>
              </a:rPr>
              <a:t>[ Sơ đồ quy trình — khổ ngang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13860000"/>
            <a:ext cx="8325000" cy="12420000"/>
          </a:xfrm>
          <a:prstGeom prst="roundRect">
            <a:avLst>
              <a:gd name="adj" fmla="val 1297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4000" y="1414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39999" y="14147999"/>
            <a:ext cx="70110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Sản phẩm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4000" y="14850000"/>
            <a:ext cx="7677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Sản phẩm làm được gì, dùng thế nào.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74000" y="16650000"/>
            <a:ext cx="7677000" cy="6840000"/>
          </a:xfrm>
          <a:prstGeom prst="roundRect">
            <a:avLst>
              <a:gd name="adj" fmla="val 1578"/>
            </a:avLst>
          </a:prstGeom>
          <a:solidFill>
            <a:srgbClr val="F3F4F1"/>
          </a:solidFill>
          <a:ln w="216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B6570"/>
                </a:solidFill>
                <a:latin typeface="IBM Plex Sans"/>
              </a:rPr>
              <a:t>[ Ảnh chụp giao diện / sản phẩm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74000" y="23670000"/>
            <a:ext cx="7677000" cy="23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570"/>
                </a:solidFill>
                <a:latin typeface="IBM Plex Sans"/>
              </a:rPr>
              <a:t>Chú thích ảnh và 3–4 dòng diễn giải.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25000" y="13860000"/>
            <a:ext cx="8325000" cy="12420000"/>
          </a:xfrm>
          <a:prstGeom prst="roundRect">
            <a:avLst>
              <a:gd name="adj" fmla="val 1297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8549000" y="1414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15000" y="14147999"/>
            <a:ext cx="7010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549000" y="14850000"/>
            <a:ext cx="7677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Số đo chính. Dữ liệu mô phỏng thì ghi rõ là mô phỏng.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549000" y="16650000"/>
            <a:ext cx="7677000" cy="6840000"/>
          </a:xfrm>
          <a:prstGeom prst="roundRect">
            <a:avLst>
              <a:gd name="adj" fmla="val 1578"/>
            </a:avLst>
          </a:prstGeom>
          <a:solidFill>
            <a:srgbClr val="F3F4F1"/>
          </a:solidFill>
          <a:ln w="216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B6570"/>
                </a:solidFill>
                <a:latin typeface="IBM Plex Sans"/>
              </a:rPr>
              <a:t>[ Biểu đồ / bảng số liệu 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549000" y="23670000"/>
            <a:ext cx="7677000" cy="23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570"/>
                </a:solidFill>
                <a:latin typeface="IBM Plex Sans"/>
              </a:rPr>
              <a:t>Chú thích ảnh và 3–4 dòng diễn giải.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50000" y="54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Thảo luận &amp; đánh giá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74000" y="1530000"/>
            <a:ext cx="7362000" cy="59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Kết quả nói lên điều gì? Hạn chế của đề tài.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50000" y="819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1DFB8"/>
          </a:solidFill>
          <a:ln w="25200">
            <a:solidFill>
              <a:srgbClr val="C98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7774000" y="8478000"/>
            <a:ext cx="522000" cy="522000"/>
          </a:xfrm>
          <a:prstGeom prst="ellipse">
            <a:avLst/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40000" y="847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Kết luận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774000" y="9180000"/>
            <a:ext cx="7362000" cy="59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Trả lời lần lượt từng câu hỏi nghiên cứu ở mục 02.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50000" y="15840000"/>
            <a:ext cx="8010000" cy="432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7774000" y="161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60" b="1">
                <a:solidFill>
                  <a:srgbClr val="FFFFFF"/>
                </a:solidFill>
                <a:latin typeface="Be Vietnam Pro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40000" y="161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Hướng phát triển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774000" y="16830000"/>
            <a:ext cx="7362000" cy="30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Bước tiếp theo nếu tiếp tục đề tài.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50000" y="20610000"/>
            <a:ext cx="8010000" cy="30600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7774000" y="20826000"/>
            <a:ext cx="396000" cy="396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Be Vietnam Pro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314000" y="20826000"/>
            <a:ext cx="6821999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C2321"/>
                </a:solidFill>
                <a:latin typeface="Be Vietnam Pro"/>
              </a:rPr>
              <a:t>Tài liệu tham khảo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774000" y="21330000"/>
            <a:ext cx="7362000" cy="21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570"/>
                </a:solidFill>
                <a:latin typeface="IBM Plex Sans"/>
              </a:rPr>
              <a:t>Theo một chuẩn trích dẫn thống nhất.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50000" y="24120000"/>
            <a:ext cx="8010000" cy="2160000"/>
          </a:xfrm>
          <a:prstGeom prst="roundRect">
            <a:avLst>
              <a:gd name="adj" fmla="val 5000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774000" y="24335999"/>
            <a:ext cx="7361999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774000" y="24839999"/>
            <a:ext cx="7362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570"/>
                </a:solidFill>
                <a:latin typeface="IBM Plex Sans"/>
              </a:rPr>
              <a:t>Phần nào có AI hỗ trợ, theo Phụ lục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