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000000" cy="270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em</c:v>
                </c:pt>
              </c:strCache>
            </c:strRef>
          </c:tx>
          <c:dPt>
            <c:idx val="0"/>
            <c:spPr>
              <a:solidFill>
                <a:srgbClr val="27805A"/>
              </a:solidFill>
            </c:spPr>
          </c:dPt>
          <c:dPt>
            <c:idx val="1"/>
            <c:spPr>
              <a:solidFill>
                <a:srgbClr val="B9BEC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0 / 1 400 em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258 / 1 400 em (18,43%)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Phần mềm (RB-DA)</c:v>
                </c:pt>
                <c:pt idx="1">
                  <c:v>Cơ chế Boston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258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B6570"/>
            </a:solidFill>
          </a:ln>
        </c:spPr>
        <c:txPr>
          <a:bodyPr/>
          <a:lstStyle/>
          <a:p>
            <a:pPr>
              <a:defRPr b="1" sz="11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0.0"/>
          <c:min val="0.0"/>
        </c:scaling>
        <c:delete val="0"/>
        <c:axPos val="b"/>
        <c:majorGridlines>
          <c:spPr>
            <a:ln>
              <a:solidFill>
                <a:srgbClr val="DBDCD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29A"/>
                </a:solidFill>
              </a:defRPr>
            </a:pPr>
          </a:p>
        </c:txPr>
        <c:crossAx val="-2068027336"/>
        <c:crosses val="autoZero"/>
        <c:majorUnit val="100.0"/>
      </c:valAx>
    </c:plotArea>
    <c:dispBlanksAs val="gap"/>
  </c:chart>
  <c:txPr>
    <a:bodyPr/>
    <a:lstStyle/>
    <a:p>
      <a:pPr>
        <a:defRPr sz="941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em</c:v>
                </c:pt>
              </c:strCache>
            </c:strRef>
          </c:tx>
          <c:dPt>
            <c:idx val="0"/>
            <c:spPr>
              <a:solidFill>
                <a:srgbClr val="27805A"/>
              </a:solidFill>
            </c:spPr>
          </c:dPt>
          <c:dPt>
            <c:idx val="1"/>
            <c:spPr>
              <a:solidFill>
                <a:srgbClr val="7FAE95"/>
              </a:solidFill>
            </c:spPr>
          </c:dPt>
          <c:dPt>
            <c:idx val="2"/>
            <c:spPr>
              <a:solidFill>
                <a:srgbClr val="7FAE95"/>
              </a:solidFill>
            </c:spPr>
          </c:dPt>
          <c:dPt>
            <c:idx val="3"/>
            <c:spPr>
              <a:solidFill>
                <a:srgbClr val="7FAE95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64 em · 59%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28 em · 26%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10 em · 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6 em · 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NV 1</c:v>
                </c:pt>
                <c:pt idx="1">
                  <c:v>NV 2</c:v>
                </c:pt>
                <c:pt idx="2">
                  <c:v>NV 3</c:v>
                </c:pt>
                <c:pt idx="3">
                  <c:v>NV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</c:v>
                </c:pt>
                <c:pt idx="1">
                  <c:v>28</c:v>
                </c:pt>
                <c:pt idx="2">
                  <c:v>10</c:v>
                </c:pt>
                <c:pt idx="3">
                  <c:v>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B6570"/>
            </a:solidFill>
          </a:ln>
        </c:spPr>
        <c:txPr>
          <a:bodyPr/>
          <a:lstStyle/>
          <a:p>
            <a:pPr>
              <a:defRPr b="1" sz="11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  <c:min val="0.0"/>
        </c:scaling>
        <c:delete val="0"/>
        <c:axPos val="l"/>
        <c:majorGridlines>
          <c:spPr>
            <a:ln>
              <a:solidFill>
                <a:srgbClr val="DBDCD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29A"/>
                </a:solidFill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941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Tỉ lệ 1:2 — slide 100 x 75 cm, in phóng 200% ra 200 x 150 cm.</a:t>
            </a:r>
          </a:p>
          <a:p>
            <a:r>
              <a:t>Nếp gấp ở 25 cm và 75 cm trên slide (50 cm và 150 cm khi in).</a:t>
            </a:r>
          </a:p>
          <a:p>
            <a:r>
              <a:t>Mã ô (H1, T1, G1, S1, P1…) khớp bảng tra poster/DU_LIEU_POSTER.md.</a:t>
            </a:r>
          </a:p>
          <a:p>
            <a:r>
              <a:t>Không đặt: Logo nhà trường, Tên trường (kể cả viết tắt), Mã dự án, Tên giáo viên hướng dẫn, Tên học sinh tham 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000000" cy="27000000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000000" y="0"/>
            <a:ext cx="18000000" cy="216000"/>
          </a:xfrm>
          <a:prstGeom prst="rect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00000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540000"/>
            <a:ext cx="8010000" cy="7920000"/>
          </a:xfrm>
          <a:prstGeom prst="roundRect">
            <a:avLst>
              <a:gd name="adj" fmla="val 1363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Vấn đề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000" y="1530000"/>
            <a:ext cx="7362000" cy="6606000"/>
          </a:xfrm>
          <a:prstGeom prst="roundRect">
            <a:avLst>
              <a:gd name="adj" fmla="val 163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4000" y="1674000"/>
            <a:ext cx="7002000" cy="631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T1 — em viết 2–3 câu. Hiện nay xếp học sinh vào CLB thế nào? Ai thiệt, thiệt ra sao?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8910000"/>
            <a:ext cx="8010000" cy="972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4000" y="919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0000" y="919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Dùng thế nào</a:t>
            </a:r>
          </a:p>
        </p:txBody>
      </p:sp>
      <p:pic>
        <p:nvPicPr>
          <p:cNvPr id="14" name="Picture 13" descr="giao_dien_van_han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000" y="9900000"/>
            <a:ext cx="7362000" cy="4601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4000" y="14573250"/>
            <a:ext cx="736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dữ liệu mô phỏng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000" y="14933250"/>
            <a:ext cx="7362000" cy="3372750"/>
          </a:xfrm>
          <a:prstGeom prst="roundRect">
            <a:avLst>
              <a:gd name="adj" fmla="val 320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4000" y="15077250"/>
            <a:ext cx="7002000" cy="3084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T2 — em viết: người dùng làm mấy bước? Mỗi bước một dòng. 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000" y="19080000"/>
            <a:ext cx="8010000" cy="72000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4000" y="1936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0000" y="1936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Xem thử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4000" y="20070000"/>
            <a:ext cx="3600000" cy="3600000"/>
          </a:xfrm>
          <a:prstGeom prst="roundRect">
            <a:avLst>
              <a:gd name="adj" fmla="val 3000"/>
            </a:avLst>
          </a:prstGeom>
          <a:solidFill>
            <a:srgbClr val="F3F4F1"/>
          </a:solidFill>
          <a:ln w="25200">
            <a:solidFill>
              <a:srgbClr val="5B6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5B6570"/>
                </a:solidFill>
                <a:latin typeface="IBM Plex Sans"/>
              </a:rPr>
              <a:t>[ QR tới video demo — KHÔNG trỏ tới GitHub 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34000" y="20070000"/>
            <a:ext cx="3491999" cy="3600000"/>
          </a:xfrm>
          <a:prstGeom prst="roundRect">
            <a:avLst>
              <a:gd name="adj" fmla="val 309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000" y="20214000"/>
            <a:ext cx="3131999" cy="33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T3 — em viết 1 câu mời xem demo / dùng thử tại gian 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50000" y="540000"/>
            <a:ext cx="17100000" cy="4860000"/>
          </a:xfrm>
          <a:prstGeom prst="roundRect">
            <a:avLst>
              <a:gd name="adj" fmla="val 2222"/>
            </a:avLst>
          </a:prstGeom>
          <a:solidFill>
            <a:srgbClr val="1C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0000" y="936000"/>
            <a:ext cx="16020000" cy="40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98A1F"/>
                </a:solidFill>
                <a:latin typeface="IBM Plex Sans"/>
              </a:rPr>
              <a:t>[ H1 — LĨNH VỰC DỰ THI ]</a:t>
            </a:r>
          </a:p>
          <a:p>
            <a:pPr algn="l"/>
            <a:r>
              <a:rPr sz="7000" b="1" i="0">
                <a:solidFill>
                  <a:srgbClr val="F3F4F1"/>
                </a:solidFill>
                <a:latin typeface="Be Vietnam Pro"/>
              </a:rPr>
              <a:t>[ H2 — THÔNG ĐIỆP CHÍNH, MỘT CÂU, TỐI ĐA HAI DÒNG ]</a:t>
            </a:r>
          </a:p>
          <a:p>
            <a:pPr algn="l"/>
            <a:r>
              <a:rPr sz="2400" b="0" i="0">
                <a:solidFill>
                  <a:srgbClr val="DBDCD5"/>
                </a:solidFill>
                <a:latin typeface="IBM Plex Sans"/>
              </a:rPr>
              <a:t>[ H3 — tên đề tài đầy đủ 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50000" y="5850000"/>
            <a:ext cx="10980000" cy="10260000"/>
          </a:xfrm>
          <a:prstGeom prst="roundRect">
            <a:avLst>
              <a:gd name="adj" fmla="val 1052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giao_dien_ket_qu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000" y="6173999"/>
            <a:ext cx="10332000" cy="6457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774000" y="12703500"/>
            <a:ext cx="103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tab Kết quả · dữ liệu mô phỏng (120 học sinh, 10 CLB)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74000" y="13063500"/>
            <a:ext cx="10332000" cy="2722500"/>
          </a:xfrm>
          <a:prstGeom prst="roundRect">
            <a:avLst>
              <a:gd name="adj" fmla="val 3966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54000" y="13207500"/>
            <a:ext cx="9972000" cy="243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G1 — em viết 1–2 câu: ảnh này cho thấy phần mềm làm được gì? 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880000" y="585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880000" y="585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168000" y="606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cặp phá vỡ · mọi seed, mọi bộ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S1 — em viết 1 dòng: con số này nghĩa là gì?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880000" y="939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880000" y="939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168000" y="960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0,14 giây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xếp 2 000 học sinh · 40 CLB ·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S2 — em viết 1 dòng: con số này nghĩa là gì? 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880000" y="1293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880000" y="1293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168000" y="1314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816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bài kiểm thử tự động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S3 — em viết 1 dòng: con số này nghĩa là gì? 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50000" y="16560000"/>
            <a:ext cx="17100000" cy="97200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74000" y="1684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39999" y="16848000"/>
            <a:ext cx="1578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Cách hoạt động</a:t>
            </a:r>
          </a:p>
        </p:txBody>
      </p:sp>
      <p:grpSp>
        <p:nvGrpSpPr>
          <p:cNvPr id="43" name="So do 5 lo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sp>
        <p:nvSpPr>
          <p:cNvPr id="44" name="Rounded Rectangle 43"/>
          <p:cNvSpPr/>
          <p:nvPr/>
        </p:nvSpPr>
        <p:spPr>
          <a:xfrm>
            <a:off x="10048200" y="18715350"/>
            <a:ext cx="2742000" cy="3838800"/>
          </a:xfrm>
          <a:prstGeom prst="roundRect">
            <a:avLst>
              <a:gd name="adj" fmla="val 4500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67559" y="18959388"/>
            <a:ext cx="180000" cy="32081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43" b="1" i="0">
                <a:solidFill>
                  <a:srgbClr val="1C2321"/>
                </a:solidFill>
                <a:latin typeface="Be Vietnam Pro"/>
              </a:rPr>
              <a:t>Đầu vào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67559" y="1943375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Danh sách CLB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67559" y="197353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sức chứa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67559" y="2003699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suất dự trữ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67559" y="2033861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67559" y="206402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CLB muốn thi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67559" y="2094185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điểm chấm mù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67559" y="212434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67559" y="2154509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Nguyện vọng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67559" y="2184671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· xếp hạng CLB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12790200" y="20525070"/>
            <a:ext cx="6169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407150" y="18715350"/>
            <a:ext cx="3564600" cy="1816575"/>
          </a:xfrm>
          <a:prstGeom prst="roundRect">
            <a:avLst>
              <a:gd name="adj" fmla="val 6792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3557960" y="1889358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092650" y="18959388"/>
            <a:ext cx="180000" cy="32081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43" b="1" i="0">
                <a:solidFill>
                  <a:srgbClr val="1C2321"/>
                </a:solidFill>
                <a:latin typeface="Be Vietnam Pro"/>
              </a:rPr>
              <a:t>Ưu tiên hai tầng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626510" y="1943375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Tầng 1: đã thi → theo điểm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626510" y="197353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Tầng 2: không thi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407150" y="20737575"/>
            <a:ext cx="3564600" cy="1816575"/>
          </a:xfrm>
          <a:prstGeom prst="roundRect">
            <a:avLst>
              <a:gd name="adj" fmla="val 6792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3557960" y="20915805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092650" y="20981613"/>
            <a:ext cx="180000" cy="32081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43" b="1" i="0">
                <a:solidFill>
                  <a:srgbClr val="1C2321"/>
                </a:solidFill>
                <a:latin typeface="Be Vietnam Pro"/>
              </a:rPr>
              <a:t>Bốc thăm dùng chung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626510" y="21455979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Một số cho mỗi em, mọi CLB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626510" y="21757599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Chỉ phá hoà · khoá theo seed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16971750" y="20525070"/>
            <a:ext cx="6169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7588700" y="18441150"/>
            <a:ext cx="4387200" cy="4387200"/>
          </a:xfrm>
          <a:prstGeom prst="roundRect">
            <a:avLst>
              <a:gd name="adj" fmla="val 2812"/>
            </a:avLst>
          </a:prstGeom>
          <a:solidFill>
            <a:srgbClr val="DCE9E0"/>
          </a:solidFill>
          <a:ln w="27420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7739510" y="1861938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74200" y="18672849"/>
            <a:ext cx="180000" cy="33863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51" b="1" i="0">
                <a:solidFill>
                  <a:srgbClr val="1C2321"/>
                </a:solidFill>
                <a:latin typeface="Be Vietnam Pro"/>
              </a:rPr>
              <a:t>Deferred Acceptance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7808060" y="191321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Học sinh đề xuất theo nguyện vọng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08060" y="1943375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CLB giữ tạm, từ chối phần còn lại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808060" y="197353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Lặp tới khi không còn đề xuất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7862900" y="20292000"/>
            <a:ext cx="3838800" cy="226215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20565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8013710" y="2047023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548400" y="20536038"/>
            <a:ext cx="180000" cy="32081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43" b="1" i="0">
                <a:solidFill>
                  <a:srgbClr val="1C2321"/>
                </a:solidFill>
                <a:latin typeface="Be Vietnam Pro"/>
              </a:rPr>
              <a:t>Dự trữ mềm, hai lượt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082260" y="2101040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Lượt 1: suất dự trữ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8082260" y="2131202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  → chỉ em thuộc diện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082260" y="216136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Lượt 2: lượt chung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82260" y="2191526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  → suất thừa tự chuyển sang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21975900" y="20525070"/>
            <a:ext cx="6169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2592850" y="18715350"/>
            <a:ext cx="3358950" cy="1816575"/>
          </a:xfrm>
          <a:prstGeom prst="roundRect">
            <a:avLst>
              <a:gd name="adj" fmla="val 6792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2743660" y="1889358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278349" y="18959388"/>
            <a:ext cx="180000" cy="32081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43" b="1" i="0">
                <a:solidFill>
                  <a:srgbClr val="1C2321"/>
                </a:solidFill>
                <a:latin typeface="Be Vietnam Pro"/>
              </a:rPr>
              <a:t>Kiểm tra ổn định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812210" y="1943375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Tìm cặp phá vỡ bằng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812210" y="1973537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chính hàm lựa chọn</a:t>
            </a:r>
          </a:p>
        </p:txBody>
      </p:sp>
      <p:sp>
        <p:nvSpPr>
          <p:cNvPr id="86" name="Down Arrow 85"/>
          <p:cNvSpPr/>
          <p:nvPr/>
        </p:nvSpPr>
        <p:spPr>
          <a:xfrm>
            <a:off x="24162645" y="20531925"/>
            <a:ext cx="219360" cy="205650"/>
          </a:xfrm>
          <a:prstGeom prst="down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22592850" y="20737575"/>
            <a:ext cx="3358950" cy="1816575"/>
          </a:xfrm>
          <a:prstGeom prst="roundRect">
            <a:avLst>
              <a:gd name="adj" fmla="val 6792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2812210" y="20981613"/>
            <a:ext cx="180000" cy="32081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43" b="1" i="0">
                <a:solidFill>
                  <a:srgbClr val="1C2321"/>
                </a:solidFill>
                <a:latin typeface="Be Vietnam Pro"/>
              </a:rPr>
              <a:t>Kết quả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812210" y="21455979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Mỗi em một CLB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812210" y="21757599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Xuất Excel / CSV theo CLB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48200" y="23216343"/>
            <a:ext cx="180000" cy="2316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03" b="0" i="0">
                <a:solidFill>
                  <a:srgbClr val="8A929A"/>
                </a:solidFill>
                <a:latin typeface="IBM Plex Sans"/>
              </a:rPr>
              <a:t>Sơ đồ do AI tạo ra — theo CO_CHE_THUAT_TOAN.md (năm lớp cơ chế của phần mềm)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774000" y="23863500"/>
            <a:ext cx="16452000" cy="2092499"/>
          </a:xfrm>
          <a:prstGeom prst="roundRect">
            <a:avLst>
              <a:gd name="adj" fmla="val 5161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54000" y="24007500"/>
            <a:ext cx="16092000" cy="180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G2 — em viết 1–2 câu tóm tắt sơ đồ. Nhãn "Sơ đồ do AI tạo ra" đã có sẵn trong hình — giữ nguyên. ]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7450000" y="540000"/>
            <a:ext cx="8010000" cy="1044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777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44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Lợi ích</a:t>
            </a:r>
          </a:p>
        </p:txBody>
      </p:sp>
      <p:sp>
        <p:nvSpPr>
          <p:cNvPr id="97" name="Oval 96"/>
          <p:cNvSpPr/>
          <p:nvPr/>
        </p:nvSpPr>
        <p:spPr>
          <a:xfrm>
            <a:off x="27774000" y="1548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350000" y="1530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8530000" y="1674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P1 — một lợi ích, tối đa 2 dòng ]</a:t>
            </a:r>
          </a:p>
        </p:txBody>
      </p:sp>
      <p:sp>
        <p:nvSpPr>
          <p:cNvPr id="100" name="Oval 99"/>
          <p:cNvSpPr/>
          <p:nvPr/>
        </p:nvSpPr>
        <p:spPr>
          <a:xfrm>
            <a:off x="27774000" y="3829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8350000" y="3811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8530000" y="3955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P2 — một lợi ích, tối đa 2 dòng ]</a:t>
            </a:r>
          </a:p>
        </p:txBody>
      </p:sp>
      <p:sp>
        <p:nvSpPr>
          <p:cNvPr id="103" name="Oval 102"/>
          <p:cNvSpPr/>
          <p:nvPr/>
        </p:nvSpPr>
        <p:spPr>
          <a:xfrm>
            <a:off x="27774000" y="6111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8350000" y="6093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530000" y="6237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P3 — một lợi ích, tối đa 2 dòng ]</a:t>
            </a:r>
          </a:p>
        </p:txBody>
      </p:sp>
      <p:sp>
        <p:nvSpPr>
          <p:cNvPr id="106" name="Oval 105"/>
          <p:cNvSpPr/>
          <p:nvPr/>
        </p:nvSpPr>
        <p:spPr>
          <a:xfrm>
            <a:off x="27774000" y="8392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4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8350000" y="8374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8530000" y="8518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P4 — một lợi ích, tối đa 2 dòng ]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7450000" y="11430000"/>
            <a:ext cx="8010000" cy="1188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7774000" y="1171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8440000" y="1171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Đã kiểm chứng</a:t>
            </a:r>
          </a:p>
        </p:txBody>
      </p:sp>
      <p:grpSp>
        <p:nvGrpSpPr>
          <p:cNvPr id="112" name="Bieu do khai gian"/>
          <p:cNvGrpSpPr/>
          <p:nvPr/>
        </p:nvGrpSpPr>
        <p:grpSpPr>
          <a:xfrm>
            <a:off x="27958050" y="13202212"/>
            <a:ext cx="6993899" cy="2208600"/>
            <a:chOff x="27958050" y="13202212"/>
            <a:chExt cx="6993899" cy="2208600"/>
          </a:xfrm>
        </p:grpSpPr>
        <p:graphicFrame>
          <p:nvGraphicFramePr>
            <p:cNvPr id="116" name="Chart 115"/>
            <p:cNvGraphicFramePr>
              <a:graphicFrameLocks noGrp="1"/>
            </p:cNvGraphicFramePr>
            <p:nvPr/>
          </p:nvGraphicFramePr>
          <p:xfrm>
            <a:off x="27958050" y="13202212"/>
            <a:ext cx="6993899" cy="2208600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</p:grpSp>
      <p:sp>
        <p:nvSpPr>
          <p:cNvPr id="113" name="TextBox 112"/>
          <p:cNvSpPr txBox="1"/>
          <p:nvPr/>
        </p:nvSpPr>
        <p:spPr>
          <a:xfrm>
            <a:off x="28050075" y="1260589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Số em khai sai nguyện vọng mà được lợi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8050075" y="1289300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Vét cạn mọi cách khai của từng em · 200 thể hiện, 1 400 lượt học sinh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8050075" y="15541488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NGHIEN_CUU_TOI_UU.md, TN3</a:t>
            </a:r>
          </a:p>
        </p:txBody>
      </p:sp>
      <p:grpSp>
        <p:nvGrpSpPr>
          <p:cNvPr id="117" name="Bieu do nguyen vong"/>
          <p:cNvGrpSpPr/>
          <p:nvPr/>
        </p:nvGrpSpPr>
        <p:grpSpPr>
          <a:xfrm>
            <a:off x="27958050" y="16797150"/>
            <a:ext cx="6993899" cy="3404924"/>
            <a:chOff x="27958050" y="16797150"/>
            <a:chExt cx="6993899" cy="3404924"/>
          </a:xfrm>
        </p:grpSpPr>
        <p:graphicFrame>
          <p:nvGraphicFramePr>
            <p:cNvPr id="121" name="Chart 120"/>
            <p:cNvGraphicFramePr>
              <a:graphicFrameLocks noGrp="1"/>
            </p:cNvGraphicFramePr>
            <p:nvPr/>
          </p:nvGraphicFramePr>
          <p:xfrm>
            <a:off x="27958050" y="16797150"/>
            <a:ext cx="6993899" cy="3404924"/>
          </p:xfrm>
          <a:graphic>
            <a:graphicData uri="http://schemas.openxmlformats.org/drawingml/2006/chart">
              <c:chart xmlns:c="http://schemas.openxmlformats.org/drawingml/2006/chart" r:id="rId5"/>
            </a:graphicData>
          </a:graphic>
        </p:graphicFrame>
      </p:grpSp>
      <p:sp>
        <p:nvSpPr>
          <p:cNvPr id="118" name="TextBox 117"/>
          <p:cNvSpPr txBox="1"/>
          <p:nvPr/>
        </p:nvSpPr>
        <p:spPr>
          <a:xfrm>
            <a:off x="28050075" y="1624684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Được xếp vào nguyện vọng thứ mấy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8050075" y="1653395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108 em được xếp · bộ 120 học sinh, 10 CLB · seed 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8050075" y="20378762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du_lieu_test/SO_LIEU_DA_KIEM_CHUNG.md, mục 2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7774000" y="20806199"/>
            <a:ext cx="7362000" cy="2179800"/>
          </a:xfrm>
          <a:prstGeom prst="roundRect">
            <a:avLst>
              <a:gd name="adj" fmla="val 495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7954000" y="20950199"/>
            <a:ext cx="7002000" cy="189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P5 — em viết 1–2 câu: hai biểu đồ này nói gì với học sinh? ]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7450000" y="23760000"/>
            <a:ext cx="8010000" cy="2520000"/>
          </a:xfrm>
          <a:prstGeom prst="roundRect">
            <a:avLst>
              <a:gd name="adj" fmla="val 4285"/>
            </a:avLst>
          </a:prstGeom>
          <a:solidFill>
            <a:srgbClr val="DCE9E0"/>
          </a:solidFill>
          <a:ln w="14400">
            <a:solidFill>
              <a:srgbClr val="DCE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7774000" y="23975999"/>
            <a:ext cx="73620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F6B52"/>
                </a:solidFill>
                <a:latin typeface="Be Vietnam Pro"/>
              </a:rPr>
              <a:t>Tuyên bố sử dụng AI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7774000" y="24443999"/>
            <a:ext cx="7362000" cy="1656000"/>
          </a:xfrm>
          <a:prstGeom prst="roundRect">
            <a:avLst>
              <a:gd name="adj" fmla="val 6521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954000" y="24588000"/>
            <a:ext cx="7002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P6 — theo Phụ lục 1: phần nào có AI hỗ trợ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