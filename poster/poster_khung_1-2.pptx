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000000" cy="270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Luôn giữ nguyên CLB</c:v>
                </c:pt>
              </c:strCache>
            </c:strRef>
          </c:tx>
          <c:spPr>
            <a:solidFill>
              <a:srgbClr val="27805A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FFFFFF"/>
                        </a:solidFill>
                      </a:rPr>
                      <a:t>100%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FFFFFF"/>
                        </a:solidFill>
                      </a:rPr>
                      <a:t>96,7% · 116 em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FFFFFF"/>
                        </a:solidFill>
                      </a:rPr>
                      <a:t>90,7% · 127 em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Bộ 10 em · 0 em có lúc đổi</c:v>
                </c:pt>
                <c:pt idx="1">
                  <c:v>Bộ 120 em · 4 em có lúc đổi</c:v>
                </c:pt>
                <c:pt idx="2">
                  <c:v>Bộ 140 em · 13 em có lúc đổi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116</c:v>
                </c:pt>
                <c:pt idx="2">
                  <c:v>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Có lúc đổi CLB</c:v>
                </c:pt>
              </c:strCache>
            </c:strRef>
          </c:tx>
          <c:spPr>
            <a:solidFill>
              <a:srgbClr val="B8781A"/>
            </a:solidFill>
          </c:spPr>
          <c:cat>
            <c:strRef>
              <c:f>Sheet1!$A$2:$A$4</c:f>
              <c:strCache>
                <c:ptCount val="3"/>
                <c:pt idx="0">
                  <c:v>Bộ 10 em · 0 em có lúc đổi</c:v>
                </c:pt>
                <c:pt idx="1">
                  <c:v>Bộ 120 em · 4 em có lúc đổi</c:v>
                </c:pt>
                <c:pt idx="2">
                  <c:v>Bộ 140 em · 13 em có lúc đổi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4</c:v>
                </c:pt>
                <c:pt idx="2">
                  <c:v>13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6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869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Số em</c:v>
                </c:pt>
              </c:strCache>
            </c:strRef>
          </c:tx>
          <c:dPt>
            <c:idx val="0"/>
            <c:spPr>
              <a:solidFill>
                <a:srgbClr val="B9BEC3"/>
              </a:solidFill>
            </c:spPr>
          </c:dPt>
          <c:dPt>
            <c:idx val="1"/>
            <c:spPr>
              <a:solidFill>
                <a:srgbClr val="B9BEC3"/>
              </a:solidFill>
            </c:spPr>
          </c:dPt>
          <c:dPt>
            <c:idx val="2"/>
            <c:spPr>
              <a:solidFill>
                <a:srgbClr val="B8781A"/>
              </a:solidFill>
            </c:spPr>
          </c:dPt>
          <c:dPt>
            <c:idx val="3"/>
            <c:spPr>
              <a:solidFill>
                <a:srgbClr val="B9BEC3"/>
              </a:solidFill>
            </c:spPr>
          </c:dPt>
          <c:dPt>
            <c:idx val="4"/>
            <c:spPr>
              <a:solidFill>
                <a:srgbClr val="B9BEC3"/>
              </a:solidFill>
            </c:spPr>
          </c:dPt>
          <c:dPt>
            <c:idx val="5"/>
            <c:spPr>
              <a:solidFill>
                <a:srgbClr val="B9BEC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15,14%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4,75%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4,36%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1,27%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0,83%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31" b="1">
                        <a:solidFill>
                          <a:srgbClr val="1C2321"/>
                        </a:solidFill>
                      </a:rPr>
                      <a:t>0,50%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Điểm chấm lệch ±0,5</c:v>
                </c:pt>
                <c:pt idx="1">
                  <c:v>Điểm chấm lệch ±0,1</c:v>
                </c:pt>
                <c:pt idx="2">
                  <c:v>Đổi hạt giống bốc thăm</c:v>
                </c:pt>
                <c:pt idx="3">
                  <c:v>Bớt 1 học sinh</c:v>
                </c:pt>
                <c:pt idx="4">
                  <c:v>Chỉ tiêu mỗi CLB ±1</c:v>
                </c:pt>
                <c:pt idx="5">
                  <c:v>Thêm 1 học sinh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15.14</c:v>
                </c:pt>
                <c:pt idx="1">
                  <c:v>4.75</c:v>
                </c:pt>
                <c:pt idx="2">
                  <c:v>4.36</c:v>
                </c:pt>
                <c:pt idx="3">
                  <c:v>1.27</c:v>
                </c:pt>
                <c:pt idx="4">
                  <c:v>0.83</c:v>
                </c:pt>
                <c:pt idx="5">
                  <c:v>0.5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6570"/>
            </a:solidFill>
          </a:ln>
        </c:spPr>
        <c:txPr>
          <a:bodyPr/>
          <a:lstStyle/>
          <a:p>
            <a:pPr>
              <a:defRPr b="0" sz="11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>
          <c:spPr>
            <a:ln>
              <a:solidFill>
                <a:srgbClr val="DBDCD5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29A"/>
                </a:solidFill>
              </a:defRPr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941">
          <a:solidFill>
            <a:srgbClr val="1C2321"/>
          </a:solidFill>
          <a:latin typeface="IBM Plex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Tỉ lệ 1:2 — slide 100 x 75 cm, in phóng 200% ra 200 x 150 cm.</a:t>
            </a:r>
          </a:p>
          <a:p>
            <a:r>
              <a:t>Nếp gấp ở 25 cm và 75 cm trên slide (50 cm và 150 cm khi in).</a:t>
            </a:r>
          </a:p>
          <a:p>
            <a:r>
              <a:t>Mã ô (H1, T1, G1, S1, P1…) khớp bảng tra poster/DU_LIEU_POSTER.md.</a:t>
            </a:r>
          </a:p>
          <a:p>
            <a:r>
              <a:t>Không đặt: Logo nhà trường, Tên trường (kể cả viết tắt), Mã dự án, Tên giáo viên hướng dẫn, Tên học sinh tham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00" cy="27000000"/>
          </a:xfrm>
          <a:prstGeom prst="rect">
            <a:avLst/>
          </a:prstGeom>
          <a:solidFill>
            <a:srgbClr val="F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0000" y="0"/>
            <a:ext cx="18000000" cy="216000"/>
          </a:xfrm>
          <a:prstGeom prst="rect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000000" y="0"/>
            <a:ext cx="9000000" cy="216000"/>
          </a:xfrm>
          <a:prstGeom prst="rect">
            <a:avLst/>
          </a:prstGeom>
          <a:solidFill>
            <a:srgbClr val="3F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0000" y="540000"/>
            <a:ext cx="8010000" cy="7920000"/>
          </a:xfrm>
          <a:prstGeom prst="roundRect">
            <a:avLst>
              <a:gd name="adj" fmla="val 1363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Vấn đề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000" y="1530000"/>
            <a:ext cx="7362000" cy="6606000"/>
          </a:xfrm>
          <a:prstGeom prst="roundRect">
            <a:avLst>
              <a:gd name="adj" fmla="val 163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" y="1674000"/>
            <a:ext cx="7002000" cy="631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T1 — em viết 2–3 câu. Hiện nay xếp học sinh vào CLB thế nào? Ai thiệt, thiệt ra sao?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8910000"/>
            <a:ext cx="8010000" cy="972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4000" y="919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0000" y="919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Dùng thế nào</a:t>
            </a:r>
          </a:p>
        </p:txBody>
      </p:sp>
      <p:pic>
        <p:nvPicPr>
          <p:cNvPr id="14" name="Picture 13" descr="giao_dien_van_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000" y="9900000"/>
            <a:ext cx="7362000" cy="4601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4000" y="14573250"/>
            <a:ext cx="736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dữ liệu mô phỏng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000" y="14933250"/>
            <a:ext cx="7362000" cy="3372750"/>
          </a:xfrm>
          <a:prstGeom prst="roundRect">
            <a:avLst>
              <a:gd name="adj" fmla="val 320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4000" y="15077250"/>
            <a:ext cx="7002000" cy="3084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T2 — em viết: người dùng làm mấy bước? Mỗi bước một dòng. 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000" y="19080000"/>
            <a:ext cx="8010000" cy="72000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4000" y="1936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0000" y="19368000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Xem thử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000" y="20070000"/>
            <a:ext cx="3600000" cy="3600000"/>
          </a:xfrm>
          <a:prstGeom prst="roundRect">
            <a:avLst>
              <a:gd name="adj" fmla="val 3000"/>
            </a:avLst>
          </a:prstGeom>
          <a:solidFill>
            <a:srgbClr val="F3F4F1"/>
          </a:solidFill>
          <a:ln w="25200">
            <a:solidFill>
              <a:srgbClr val="5B65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0" i="0">
                <a:solidFill>
                  <a:srgbClr val="5B6570"/>
                </a:solidFill>
                <a:latin typeface="IBM Plex Sans"/>
              </a:rPr>
              <a:t>[ QR tới video demo — KHÔNG trỏ tới GitHub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34000" y="20070000"/>
            <a:ext cx="3491999" cy="3600000"/>
          </a:xfrm>
          <a:prstGeom prst="roundRect">
            <a:avLst>
              <a:gd name="adj" fmla="val 309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000" y="20214000"/>
            <a:ext cx="3131999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T3 — em viết 1 câu mời xem demo / dùng thử tại gian 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50000" y="540000"/>
            <a:ext cx="17100000" cy="4860000"/>
          </a:xfrm>
          <a:prstGeom prst="roundRect">
            <a:avLst>
              <a:gd name="adj" fmla="val 2222"/>
            </a:avLst>
          </a:prstGeom>
          <a:solidFill>
            <a:srgbClr val="1C2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0000" y="936000"/>
            <a:ext cx="16020000" cy="40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C98A1F"/>
                </a:solidFill>
                <a:latin typeface="IBM Plex Sans"/>
              </a:rPr>
              <a:t>[ H1 — LĨNH VỰC DỰ THI ]</a:t>
            </a:r>
          </a:p>
          <a:p>
            <a:pPr algn="l"/>
            <a:r>
              <a:rPr sz="7000" b="1" i="0">
                <a:solidFill>
                  <a:srgbClr val="F3F4F1"/>
                </a:solidFill>
                <a:latin typeface="Be Vietnam Pro"/>
              </a:rPr>
              <a:t>[ H2 — THÔNG ĐIỆP CHÍNH, MỘT CÂU, TỐI ĐA HAI DÒNG ]</a:t>
            </a:r>
          </a:p>
          <a:p>
            <a:pPr algn="l"/>
            <a:r>
              <a:rPr sz="2400" b="0" i="0">
                <a:solidFill>
                  <a:srgbClr val="DBDCD5"/>
                </a:solidFill>
                <a:latin typeface="IBM Plex Sans"/>
              </a:rPr>
              <a:t>[ H3 — tên đề tài đầy đủ 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0000" y="5850000"/>
            <a:ext cx="10980000" cy="10260000"/>
          </a:xfrm>
          <a:prstGeom prst="roundRect">
            <a:avLst>
              <a:gd name="adj" fmla="val 1052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giao_dien_ket_q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4000" y="6173999"/>
            <a:ext cx="10332000" cy="64575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74000" y="12703500"/>
            <a:ext cx="1033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570"/>
                </a:solidFill>
                <a:latin typeface="IBM Plex Sans"/>
              </a:rPr>
              <a:t>Ảnh chụp giao diện thật · tab Kết quả · dữ liệu mô phỏng (120 học sinh, 10 CLB)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74000" y="13063500"/>
            <a:ext cx="10332000" cy="2722500"/>
          </a:xfrm>
          <a:prstGeom prst="roundRect">
            <a:avLst>
              <a:gd name="adj" fmla="val 3966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54000" y="13207500"/>
            <a:ext cx="9972000" cy="243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G1 — em viết 1–2 câu: ảnh này cho thấy phần mềm làm được gì? 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880000" y="585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880000" y="585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168000" y="606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cặp phá vỡ · mọi lần bốc thăm, mọi bộ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S1 — em viết 1 dòng: con số này nghĩa là gì?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880000" y="939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0" y="939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168000" y="960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0,14 giây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xếp 2 000 học sinh · 40 CLB · dữ liệu mô phỏng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S2 — em viết 1 dòng: con số này nghĩa là gì? 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880000" y="12930000"/>
            <a:ext cx="5670000" cy="318000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880000" y="12930000"/>
            <a:ext cx="108000" cy="3180000"/>
          </a:xfrm>
          <a:prstGeom prst="rect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168000" y="13146000"/>
            <a:ext cx="5166000" cy="27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0" b="1" i="0">
                <a:solidFill>
                  <a:srgbClr val="27805A"/>
                </a:solidFill>
                <a:latin typeface="Be Vietnam Pro"/>
              </a:rPr>
              <a:t>816</a:t>
            </a:r>
          </a:p>
          <a:p>
            <a:pPr algn="l"/>
            <a:r>
              <a:rPr sz="1200" b="1" i="0">
                <a:solidFill>
                  <a:srgbClr val="1C2321"/>
                </a:solidFill>
                <a:latin typeface="IBM Plex Sans"/>
              </a:rPr>
              <a:t>bài kiểm thử tự động</a:t>
            </a:r>
          </a:p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S3 — em viết 1 dòng: con số này nghĩa là gì? ]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50000" y="16560000"/>
            <a:ext cx="17100000" cy="97200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774000" y="16848000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9999" y="16848000"/>
            <a:ext cx="1578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Cách hoạt động</a:t>
            </a:r>
          </a:p>
        </p:txBody>
      </p:sp>
      <p:grpSp>
        <p:nvGrpSpPr>
          <p:cNvPr id="43" name="So do 5 lop"/>
          <p:cNvGrpSpPr/>
          <p:nvPr/>
        </p:nvGrpSpPr>
        <p:grpSpPr>
          <a:xfrm>
            <a:off x="0" y="0"/>
            <a:ext cx="0" cy="0"/>
            <a:chOff x="0" y="0"/>
            <a:chExt cx="0" cy="0"/>
          </a:xfrm>
        </p:grpSpPr>
      </p:grpSp>
      <p:sp>
        <p:nvSpPr>
          <p:cNvPr id="44" name="Rounded Rectangle 43"/>
          <p:cNvSpPr/>
          <p:nvPr/>
        </p:nvSpPr>
        <p:spPr>
          <a:xfrm>
            <a:off x="9979650" y="17755650"/>
            <a:ext cx="1850850" cy="3838800"/>
          </a:xfrm>
          <a:prstGeom prst="roundRect">
            <a:avLst>
              <a:gd name="adj" fmla="val 6666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9010" y="179914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Đầu vào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9010" y="185316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Danh sách CLB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9010" y="188606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số chỗ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9010" y="191897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suất dự trữ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9010" y="195187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9010" y="1984779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Điểm thi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9010" y="201768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chấm mù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99010" y="205058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9010" y="208349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Nguyện vọng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99010" y="211639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xếp hạng CLB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1830499" y="19565370"/>
            <a:ext cx="3427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2173250" y="17755650"/>
            <a:ext cx="4250100" cy="383880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23514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86170" y="17990091"/>
            <a:ext cx="180000" cy="37428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267" b="1" i="0">
                <a:solidFill>
                  <a:srgbClr val="1C2321"/>
                </a:solidFill>
                <a:latin typeface="Be Vietnam Pro"/>
              </a:rPr>
              <a:t>Xếp ưu tiên ở mỗi CLB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92609" y="1851792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Tầng 1 · em đã thi CLB đó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392609" y="1884696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điểm cao xếp trước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92609" y="1917600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bằng điểm → số bốc thăm nhỏ trước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92609" y="1950504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Tầng 2 · em không thi CLB đó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392609" y="1983408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· xếp theo số bốc thăm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392609" y="2016312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Tầng 1 luôn đứng trước tầng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92609" y="2049216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CLB không biết em chọn mình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92609" y="2082120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là nguyện vọng thứ mấy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6423350" y="19565370"/>
            <a:ext cx="3427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6766100" y="17755650"/>
            <a:ext cx="5209800" cy="3838800"/>
          </a:xfrm>
          <a:prstGeom prst="roundRect">
            <a:avLst>
              <a:gd name="adj" fmla="val 3214"/>
            </a:avLst>
          </a:prstGeom>
          <a:solidFill>
            <a:srgbClr val="DCE9E0"/>
          </a:solidFill>
          <a:ln w="27420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694433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479020" y="179914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Xét duyệt nhiều vòng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985460" y="185316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1. Em nộp vào nguyện vọng cao nhất còn mở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985460" y="188606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2. CLB giữ tạm các em ưu tiên cao nhất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985460" y="191897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3. Em bị trả lại nộp nguyện vọng kế tiếp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985460" y="195187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4. Lặp đến khi không còn ai phải nộp lại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985460" y="19880700"/>
            <a:ext cx="4771080" cy="161778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7204820" y="20111028"/>
            <a:ext cx="180000" cy="32081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43" b="1" i="0">
                <a:solidFill>
                  <a:srgbClr val="1C2321"/>
                </a:solidFill>
                <a:latin typeface="Be Vietnam Pro"/>
              </a:rPr>
              <a:t>Suất dự trữ — xét hai lượt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204820" y="2057305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0" i="0">
                <a:solidFill>
                  <a:srgbClr val="5B6570"/>
                </a:solidFill>
                <a:latin typeface="IBM Plex Sans"/>
              </a:rPr>
              <a:t>Lượt 1 · chỉ xét em thuộc diện dự trữ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04820" y="2086096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0" i="0">
                <a:solidFill>
                  <a:srgbClr val="5B6570"/>
                </a:solidFill>
                <a:latin typeface="IBM Plex Sans"/>
              </a:rPr>
              <a:t>Lượt 2 · xét chung phần chỗ còn lại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04820" y="21148875"/>
            <a:ext cx="180000" cy="2673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19" b="0" i="0">
                <a:solidFill>
                  <a:srgbClr val="5B6570"/>
                </a:solidFill>
                <a:latin typeface="IBM Plex Sans"/>
              </a:rPr>
              <a:t>Dư suất dự trữ → tự chuyển sang xét chung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21975900" y="19565370"/>
            <a:ext cx="342750" cy="219360"/>
          </a:xfrm>
          <a:prstGeom prst="right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2318650" y="17755650"/>
            <a:ext cx="3701700" cy="212505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0565">
            <a:solidFill>
              <a:srgbClr val="2780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2496880" y="17947590"/>
            <a:ext cx="411300" cy="411300"/>
          </a:xfrm>
          <a:prstGeom prst="ellipse">
            <a:avLst/>
          </a:prstGeom>
          <a:solidFill>
            <a:srgbClr val="B87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19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3031570" y="179914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Kiểm tra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38010" y="185316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Tìm cặp phá vỡ: em thích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538010" y="188606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CLB khác hơn và CLB đó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538010" y="1918971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cũng nhận em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538010" y="1951875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Yêu cầu: 0 cặp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24059819" y="19880700"/>
            <a:ext cx="219360" cy="20565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22318650" y="20086350"/>
            <a:ext cx="3701700" cy="1508100"/>
          </a:xfrm>
          <a:prstGeom prst="roundRect">
            <a:avLst>
              <a:gd name="adj" fmla="val 8181"/>
            </a:avLst>
          </a:prstGeom>
          <a:solidFill>
            <a:srgbClr val="F3F4F1"/>
          </a:solidFill>
          <a:ln w="20565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2538010" y="20322162"/>
            <a:ext cx="180000" cy="39210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374" b="1" i="0">
                <a:solidFill>
                  <a:srgbClr val="1C2321"/>
                </a:solidFill>
                <a:latin typeface="Be Vietnam Pro"/>
              </a:rPr>
              <a:t>Kết quả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538010" y="2086233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Mỗi em một CLB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538010" y="21191376"/>
            <a:ext cx="180000" cy="285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7" b="0" i="0">
                <a:solidFill>
                  <a:srgbClr val="5B6570"/>
                </a:solidFill>
                <a:latin typeface="IBM Plex Sans"/>
              </a:rPr>
              <a:t>Xuất danh sách từng CLB</a:t>
            </a:r>
          </a:p>
        </p:txBody>
      </p:sp>
      <p:sp>
        <p:nvSpPr>
          <p:cNvPr id="93" name="Down Arrow 92"/>
          <p:cNvSpPr/>
          <p:nvPr/>
        </p:nvSpPr>
        <p:spPr>
          <a:xfrm>
            <a:off x="14188620" y="21594450"/>
            <a:ext cx="219360" cy="411300"/>
          </a:xfrm>
          <a:prstGeom prst="downArrow">
            <a:avLst/>
          </a:prstGeom>
          <a:solidFill>
            <a:srgbClr val="5B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9979650" y="22005750"/>
            <a:ext cx="16040700" cy="2193600"/>
          </a:xfrm>
          <a:prstGeom prst="roundRect">
            <a:avLst>
              <a:gd name="adj" fmla="val 5625"/>
            </a:avLst>
          </a:prstGeom>
          <a:solidFill>
            <a:srgbClr val="F1DFB8"/>
          </a:solidFill>
          <a:ln w="20565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99010" y="22197690"/>
            <a:ext cx="180000" cy="3564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159" b="1" i="0">
                <a:solidFill>
                  <a:srgbClr val="1C2321"/>
                </a:solidFill>
                <a:latin typeface="Be Vietnam Pro"/>
              </a:rPr>
              <a:t>Bốc thăm hoạt động thế nào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19901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837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Một em · một số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41837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Bốc một lần cho mỗi học sinh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837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Dùng chung cho mọi CLB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41837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Số nhỏ hơn → ưu tiên hơn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14749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436685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Chỉ dùng khi hoà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36685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Hai em bằng điểm ở cùng CLB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36685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hoặc em không thi CLB đó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36685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Điểm luôn quyết định trước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809597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831533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Kiểm tra lại được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831533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Không phụ thuộc thứ tự nhập tên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831533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Cùng dữ liệu và cùng hạt giống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1533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→ ra đúng một kết quả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044450" y="22608990"/>
            <a:ext cx="3756540" cy="1453260"/>
          </a:xfrm>
          <a:prstGeom prst="roundRect">
            <a:avLst>
              <a:gd name="adj" fmla="val 8490"/>
            </a:avLst>
          </a:prstGeom>
          <a:solidFill>
            <a:srgbClr val="FFFFFF"/>
          </a:solidFill>
          <a:ln w="13710">
            <a:solidFill>
              <a:srgbClr val="B87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2263810" y="22837947"/>
            <a:ext cx="180000" cy="3029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35" b="1" i="0">
                <a:solidFill>
                  <a:srgbClr val="1C2321"/>
                </a:solidFill>
                <a:latin typeface="Be Vietnam Pro"/>
              </a:rPr>
              <a:t>Khoá sau khi bốc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263810" y="2327255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Số đã bốc giữ nguyên ở lần chạy sau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263810" y="2353304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Muốn bốc lại thì đổi hạt giống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263810" y="23793534"/>
            <a:ext cx="180000" cy="24952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11" b="0" i="0">
                <a:solidFill>
                  <a:srgbClr val="5B6570"/>
                </a:solidFill>
                <a:latin typeface="IBM Plex Sans"/>
              </a:rPr>
              <a:t>và xác nhận thêm một lần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979650" y="24291207"/>
            <a:ext cx="180000" cy="21387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295" b="0" i="0">
                <a:solidFill>
                  <a:srgbClr val="8A929A"/>
                </a:solidFill>
                <a:latin typeface="IBM Plex Sans"/>
              </a:rPr>
              <a:t>Sơ đồ do AI tạo ra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774000" y="24686100"/>
            <a:ext cx="16452000" cy="1269899"/>
          </a:xfrm>
          <a:prstGeom prst="roundRect">
            <a:avLst>
              <a:gd name="adj" fmla="val 850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954000" y="24830100"/>
            <a:ext cx="16092000" cy="981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G2 — em viết 1–2 câu tóm tắt sơ đồ. Nhãn "Sơ đồ do AI tạo ra" đã có sẵn trong hình — giữ nguyên. ]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7450000" y="540000"/>
            <a:ext cx="8010000" cy="1044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7774000" y="82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440000" y="82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Lợi ích</a:t>
            </a:r>
          </a:p>
        </p:txBody>
      </p:sp>
      <p:sp>
        <p:nvSpPr>
          <p:cNvPr id="122" name="Oval 121"/>
          <p:cNvSpPr/>
          <p:nvPr/>
        </p:nvSpPr>
        <p:spPr>
          <a:xfrm>
            <a:off x="27774000" y="1548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1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350000" y="1530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8530000" y="1674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P1 — một lợi ích, tối đa 2 dòng ]</a:t>
            </a:r>
          </a:p>
        </p:txBody>
      </p:sp>
      <p:sp>
        <p:nvSpPr>
          <p:cNvPr id="125" name="Oval 124"/>
          <p:cNvSpPr/>
          <p:nvPr/>
        </p:nvSpPr>
        <p:spPr>
          <a:xfrm>
            <a:off x="27774000" y="3829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2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8350000" y="3811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8530000" y="3955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P2 — một lợi ích, tối đa 2 dòng ]</a:t>
            </a:r>
          </a:p>
        </p:txBody>
      </p:sp>
      <p:sp>
        <p:nvSpPr>
          <p:cNvPr id="128" name="Oval 127"/>
          <p:cNvSpPr/>
          <p:nvPr/>
        </p:nvSpPr>
        <p:spPr>
          <a:xfrm>
            <a:off x="27774000" y="61110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3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8350000" y="60930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530000" y="62370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P3 — một lợi ích, tối đa 2 dòng ]</a:t>
            </a:r>
          </a:p>
        </p:txBody>
      </p:sp>
      <p:sp>
        <p:nvSpPr>
          <p:cNvPr id="131" name="Oval 130"/>
          <p:cNvSpPr/>
          <p:nvPr/>
        </p:nvSpPr>
        <p:spPr>
          <a:xfrm>
            <a:off x="27774000" y="8392500"/>
            <a:ext cx="432000" cy="432000"/>
          </a:xfrm>
          <a:prstGeom prst="ellipse">
            <a:avLst/>
          </a:prstGeom>
          <a:solidFill>
            <a:srgbClr val="278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Be Vietnam Pro"/>
              </a:rPr>
              <a:t>4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8350000" y="8374500"/>
            <a:ext cx="6785999" cy="2137500"/>
          </a:xfrm>
          <a:prstGeom prst="roundRect">
            <a:avLst>
              <a:gd name="adj" fmla="val 5052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8530000" y="8518500"/>
            <a:ext cx="6425999" cy="18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P4 — một lợi ích, tối đa 2 dòng ]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7450000" y="11430000"/>
            <a:ext cx="8010000" cy="118800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4400">
            <a:solidFill>
              <a:srgbClr val="DB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7774000" y="11717999"/>
            <a:ext cx="522000" cy="522000"/>
          </a:xfrm>
          <a:prstGeom prst="ellipse">
            <a:avLst/>
          </a:prstGeom>
          <a:solidFill>
            <a:srgbClr val="C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860" b="1" i="0">
                <a:solidFill>
                  <a:srgbClr val="FFFFFF"/>
                </a:solidFill>
                <a:latin typeface="Be Vietnam Pro"/>
              </a:rPr>
              <a:t>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440000" y="11717999"/>
            <a:ext cx="6695999" cy="52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C2321"/>
                </a:solidFill>
                <a:latin typeface="Be Vietnam Pro"/>
              </a:rPr>
              <a:t>Đã kiểm chứng</a:t>
            </a:r>
          </a:p>
        </p:txBody>
      </p:sp>
      <p:grpSp>
        <p:nvGrpSpPr>
          <p:cNvPr id="137" name="Bieu do giu nguyen"/>
          <p:cNvGrpSpPr/>
          <p:nvPr/>
        </p:nvGrpSpPr>
        <p:grpSpPr>
          <a:xfrm>
            <a:off x="27958050" y="13110187"/>
            <a:ext cx="6993899" cy="2208600"/>
            <a:chOff x="27958050" y="13110187"/>
            <a:chExt cx="6993899" cy="2208600"/>
          </a:xfrm>
        </p:grpSpPr>
        <p:graphicFrame>
          <p:nvGraphicFramePr>
            <p:cNvPr id="142" name="Chart 141"/>
            <p:cNvGraphicFramePr>
              <a:graphicFrameLocks noGrp="1"/>
            </p:cNvGraphicFramePr>
            <p:nvPr/>
          </p:nvGraphicFramePr>
          <p:xfrm>
            <a:off x="27958050" y="13110187"/>
            <a:ext cx="6993899" cy="2208600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</p:grpSp>
      <p:sp>
        <p:nvSpPr>
          <p:cNvPr id="138" name="TextBox 137"/>
          <p:cNvSpPr txBox="1"/>
          <p:nvPr/>
        </p:nvSpPr>
        <p:spPr>
          <a:xfrm>
            <a:off x="28050075" y="1260589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Đổi hạt giống bốc thăm 200 lần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8050075" y="1289300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Bao nhiêu em luôn giữ nguyên CLB? · 3 bộ dữ liệu mô phỏng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050075" y="15656519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du_lieu_test/SO_LIEU_DA_KIEM_CHUNG.md, mục 3c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050075" y="15386885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1" i="0">
                <a:solidFill>
                  <a:srgbClr val="1C2321"/>
                </a:solidFill>
                <a:latin typeface="IBM Plex Sans"/>
              </a:rPr>
              <a:t>Chỉ 3/270 em (1,1%) có lúc mất suất vì bốc thăm · 0 cặp phá vỡ ở mọi hạt giống</a:t>
            </a:r>
          </a:p>
        </p:txBody>
      </p:sp>
      <p:grpSp>
        <p:nvGrpSpPr>
          <p:cNvPr id="143" name="Bieu do nhieu"/>
          <p:cNvGrpSpPr/>
          <p:nvPr/>
        </p:nvGrpSpPr>
        <p:grpSpPr>
          <a:xfrm>
            <a:off x="27958050" y="16843162"/>
            <a:ext cx="6993899" cy="3174862"/>
            <a:chOff x="27958050" y="16843162"/>
            <a:chExt cx="6993899" cy="3174862"/>
          </a:xfrm>
        </p:grpSpPr>
        <p:graphicFrame>
          <p:nvGraphicFramePr>
            <p:cNvPr id="148" name="Chart 147"/>
            <p:cNvGraphicFramePr>
              <a:graphicFrameLocks noGrp="1"/>
            </p:cNvGraphicFramePr>
            <p:nvPr/>
          </p:nvGraphicFramePr>
          <p:xfrm>
            <a:off x="27958050" y="16843162"/>
            <a:ext cx="6993899" cy="3174862"/>
          </p:xfrm>
          <a:graphic>
            <a:graphicData uri="http://schemas.openxmlformats.org/drawingml/2006/chart">
              <c:chart xmlns:c="http://schemas.openxmlformats.org/drawingml/2006/chart" r:id="rId5"/>
            </a:graphicData>
          </a:graphic>
        </p:graphicFrame>
      </p:grpSp>
      <p:sp>
        <p:nvSpPr>
          <p:cNvPr id="144" name="TextBox 143"/>
          <p:cNvSpPr txBox="1"/>
          <p:nvPr/>
        </p:nvSpPr>
        <p:spPr>
          <a:xfrm>
            <a:off x="28050075" y="16246840"/>
            <a:ext cx="180000" cy="26319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94" b="1" i="0">
                <a:solidFill>
                  <a:srgbClr val="1C2321"/>
                </a:solidFill>
                <a:latin typeface="Be Vietnam Pro"/>
              </a:rPr>
              <a:t>Điều gì làm kết quả thay đổi nhiều nhất?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050075" y="16533958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0" i="0">
                <a:solidFill>
                  <a:srgbClr val="5B6570"/>
                </a:solidFill>
                <a:latin typeface="IBM Plex Sans"/>
              </a:rPr>
              <a:t>% học sinh đổi CLB, trung bình · bộ 140 em mô phỏng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050075" y="20378762"/>
            <a:ext cx="180000" cy="143559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869" b="0" i="0">
                <a:solidFill>
                  <a:srgbClr val="8A929A"/>
                </a:solidFill>
                <a:latin typeface="IBM Plex Sans"/>
              </a:rPr>
              <a:t>Dữ liệu mô phỏng — nguồn: NGHIEN_CUU_TOI_UU.md, TN6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050075" y="20109129"/>
            <a:ext cx="180000" cy="167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14" b="1" i="0">
                <a:solidFill>
                  <a:srgbClr val="1C2321"/>
                </a:solidFill>
                <a:latin typeface="IBM Plex Sans"/>
              </a:rPr>
              <a:t>392 phép thử trên 3 bộ dữ liệu · 0 cặp phá vỡ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7774000" y="20806199"/>
            <a:ext cx="7362000" cy="2179800"/>
          </a:xfrm>
          <a:prstGeom prst="roundRect">
            <a:avLst>
              <a:gd name="adj" fmla="val 4954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7954000" y="20950199"/>
            <a:ext cx="7002000" cy="189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570"/>
                </a:solidFill>
                <a:latin typeface="IBM Plex Sans"/>
              </a:rPr>
              <a:t>[ P5 — em viết 1–2 câu: hai biểu đồ này nói gì về bốc thăm? ]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7450000" y="23760000"/>
            <a:ext cx="8010000" cy="2520000"/>
          </a:xfrm>
          <a:prstGeom prst="roundRect">
            <a:avLst>
              <a:gd name="adj" fmla="val 4285"/>
            </a:avLst>
          </a:prstGeom>
          <a:solidFill>
            <a:srgbClr val="DCE9E0"/>
          </a:solidFill>
          <a:ln w="14400">
            <a:solidFill>
              <a:srgbClr val="DCE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27774000" y="23975999"/>
            <a:ext cx="7362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6B52"/>
                </a:solidFill>
                <a:latin typeface="Be Vietnam Pro"/>
              </a:rPr>
              <a:t>Tuyên bố sử dụng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7774000" y="24443999"/>
            <a:ext cx="7362000" cy="1656000"/>
          </a:xfrm>
          <a:prstGeom prst="roundRect">
            <a:avLst>
              <a:gd name="adj" fmla="val 6521"/>
            </a:avLst>
          </a:prstGeom>
          <a:noFill/>
          <a:ln w="18000">
            <a:solidFill>
              <a:srgbClr val="DBDCD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954000" y="24588000"/>
            <a:ext cx="7002000" cy="13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B6570"/>
                </a:solidFill>
                <a:latin typeface="IBM Plex Sans"/>
              </a:rPr>
              <a:t>[ P6 — theo Phụ lục 1: phần nào có AI hỗ trợ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