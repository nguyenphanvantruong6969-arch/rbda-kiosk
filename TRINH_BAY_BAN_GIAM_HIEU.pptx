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32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C2321"/>
                </a:solidFill>
                <a:latin typeface="Calibri"/>
              </a:rPr>
              <a:t>Được xếp theo nguyện vọng thứ mấy (số em)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spPr>
            <a:solidFill>
              <a:srgbClr val="3F6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NV 1</c:v>
                  </c:pt>
                  <c:pt idx="1">
                    <c:v>NV 2</c:v>
                  </c:pt>
                  <c:pt idx="2">
                    <c:v>NV 3</c:v>
                  </c:pt>
                  <c:pt idx="3">
                    <c:v>NV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7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đầu: giới thiệu mục đích buổi báo cáo — trình bày phần mềm sắp xếp học sinh vào câu lạc bộ, cách nó bảo đảm công bằng, và xin ý kiến Ban Giám hiệu về việc chạy thử.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khó khăn khi xếp học sinh vào CLB. Nhấn mạnh ô cuối: xét theo thứ tự đăng ký là cách phần mềm này thay thế.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Quy trình tổng thể. Nhà trường đã quen dùng Microsoft Forms: kết quả Forms xuất ra Excel và nạp thẳng vào phần mềm, không phải chuyển đổi. Dữ liệu học sinh ở lại trên máy của trường.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thích bằng lời thường, không cần công thức. Điểm mấu chốt: CLB giữ tạm chứ không chốt ngay, nên thứ tự nộp đơn không ảnh hưởng tới kết quả.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sinh ra từ hoàn cảnh riêng của trường: có CLB thi tuyển, có CLB không. Hai tầng luôn tách bạch, Tầng 1 đứng trọn trước Tầng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Bước 2 quan trọng: phần mềm tự rà 8 tình huống dữ liệu vẫn hợp lệ nhưng âm thầm làm sai kết quả — ví dụ giáo viên mới chấm dở dang — và hiện ngay phía trên nút Chạy.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Màn hình Kết quả sau khi chạy trên bộ dữ liệu mô phỏng 120 học sinh, 10 CLB.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đo lấy từ du_lieu_test/SO_LIEU_DA_KIEM_CHUNG.md, seed 42. 12 em chưa có chỗ vì các CLB các em chọn đã đầy — phần mềm liệt kê riêng để nhà trường xử lý. Nhắc rõ: đây là dữ liệu mô phỏng.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“Ổn định” nghĩa là không có học sinh và CLB nào cùng muốn bỏ kết quả để đến với nhau. 1,1% là gộp ba bộ dữ liệu, 270 em: chỉ 3 em có kết cục có suất hay không phụ thuộc bốc thăm.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Các tính năng mở rộng đã có trong phần mềm.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thúc bằng ba việc cụ thể cần Ban Giám hiệu quyết định. Chỉnh lại nội dung đề nghị cho đúng kế hoạch thực tế của nhóm.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C98A1F"/>
          </a:solidFill>
          <a:ln w="12700">
            <a:solidFill>
              <a:srgbClr val="C98A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548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BAN GIÁM HIỆU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mềm sắp xếp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sinh vào Câu lạc bộ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CE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bằng · minh bạch · kiểm chứng được — chạy ngoại tuyến trên một máy tính của trường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nghiên cứu khoa học · Thuật toán RB-DA (Reserve-Based Deferred Acceptance)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Nhiều CLB, chỗ có hạn — ai vào đâu?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rgbClr val="F1DFB8"/>
          </a:solidFill>
          <a:ln w="12700">
            <a:solidFill>
              <a:srgbClr val="F1DFB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16056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4173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Chỗ ít hơn người muốn vào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84708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CLB đông người đăng ký luôn phải từ chối. Cần một quy tắc chọn mà học sinh và phụ huynh chấp nhận được.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rgbClr val="F1DFB8"/>
          </a:solidFill>
          <a:ln w="12700">
            <a:solidFill>
              <a:srgbClr val="F1DFB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686" y="16056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4173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loại CLB cùng tồn tại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184708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CLB thi tuyển, có CLB không. Cách xét thông thường không xử lý được cả hai trong cùng một đợt.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rgbClr val="F1DFB8"/>
          </a:solidFill>
          <a:ln w="12700">
            <a:solidFill>
              <a:srgbClr val="F1DFB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" y="338876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2004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giữ chỗ cho diện ưu tiên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63016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trường có thể muốn dành một số suất cho học sinh chính sách hoặc khối 10.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rgbClr val="F3DCD9"/>
          </a:solidFill>
          <a:ln w="12700">
            <a:solidFill>
              <a:srgbClr val="F3DCD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4686" y="338876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23560" y="32004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nộp trước được trước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623560" y="363016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Xét theo thứ tự đăng ký: em nộp sớm được lợi, em nộp muộn chịu thiệt, dù nguyện vọng và năng lực như nhau.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PHÁP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tệp Excel vào — danh sách từng CLB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468880" cy="2514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7666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377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VÀO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24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tệp Excel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CLB · CLB muốn thi kèm điểm · xếp hạng nguyện vọng (xuất thẳng từ Microsoft Forms)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423160"/>
            <a:ext cx="228600" cy="228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1325880"/>
            <a:ext cx="2468880" cy="2514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566160" y="1600200"/>
            <a:ext cx="640080" cy="640080"/>
          </a:xfrm>
          <a:prstGeom prst="ellipse">
            <a:avLst/>
          </a:prstGeom>
          <a:solidFill>
            <a:srgbClr val="F1DFB8"/>
          </a:solidFill>
          <a:ln w="12700">
            <a:solidFill>
              <a:srgbClr val="F1DFB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2581" y="17666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66160" y="2377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MỀM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3566160" y="2624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tra, bốc thăm, xếp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nhận biết loại tệp, cảnh báo dữ liệu thiếu sót, rồi chạy thuật toán RB-DA</a:t>
            </a:r>
            <a:endParaRPr lang="en-US" sz="11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423160"/>
            <a:ext cx="228600" cy="228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17920" y="1325880"/>
            <a:ext cx="2468880" cy="2514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46520" y="1600200"/>
            <a:ext cx="640080" cy="640080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1" y="1766621"/>
            <a:ext cx="307238" cy="30723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446520" y="2377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RA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6446520" y="2624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để phát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44652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tệp tổng cho nhà trường, một tệp cho mỗi CLB, và danh sách em chưa có chỗ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hoàn toàn ngoại tuyến</a:t>
            </a:r>
            <a:pPr indent="0" marL="0">
              <a:buNone/>
            </a:pPr>
            <a:r>
              <a:rPr lang="en-US" sz="13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trên một máy Windows 10/11 — không cần Internet, không gửi dữ liệu học sinh đi đâu, không cần cài đặt.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PHẦN MỀM QUYẾT ĐỊNH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quy tắc, như nhau cho mọi 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94360" cy="59436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734" y="13432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887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sinh “nộp đơn” theo thứ tự nguyện vọng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08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Bị từ chối ở nguyện vọng 1 thì tự động chuyển sang nguyện vọng 2, rồi 3…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084832"/>
            <a:ext cx="594360" cy="59436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34" y="2239366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084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CLB chỉ “giữ tạm”, chưa chốt ngay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4048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phù hợp hơn đến muộn vẫn được xét công bằng — nộp sớm hay muộn không quan trọng.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57200" y="2980944"/>
            <a:ext cx="594360" cy="59436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34" y="3135478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98094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Suất dự trữ “mềm” cho diện ưu tiên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300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đủ em thuộc diện thì suất thừa tự trả về xét chung — CLB không bị trống chỗ.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3877056"/>
            <a:ext cx="594360" cy="59436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4" y="4031590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8770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lần bốc thăm, dùng chung mọi CLB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1970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dùng để phân định khi các em ngang nhau; bốc xong thì khoá lại để kết quả tái lập được.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806440" y="1188720"/>
            <a:ext cx="2880360" cy="3291840"/>
          </a:xfrm>
          <a:prstGeom prst="roundRect">
            <a:avLst>
              <a:gd name="adj" fmla="val 2540"/>
            </a:avLst>
          </a:prstGeom>
          <a:solidFill>
            <a:srgbClr val="1C2321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080760" y="14173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8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RB-DA</a:t>
            </a:r>
            <a:endParaRPr lang="en-US" sz="3200" dirty="0"/>
          </a:p>
        </p:txBody>
      </p:sp>
      <p:sp>
        <p:nvSpPr>
          <p:cNvPr id="22" name="Text 16"/>
          <p:cNvSpPr txBox="1"/>
          <p:nvPr/>
        </p:nvSpPr>
        <p:spPr>
          <a:xfrm>
            <a:off x="608076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E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Reserve-Based Deferred Acceptance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080760" y="25146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Thuộc họ thuật toán Gale–Shapley — nền tảng của nhiều hệ thống tuyển sinh theo nguyện vọng. Phần mềm bổ sung suất dự trữ mềm và bốc thăm dùng chung cho hoàn cảnh CLB trong trường.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CLB CÓ THI VÀ KHÔNG THI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CLB xếp hạng học sinh theo hai tầng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846320" cy="1051560"/>
          </a:xfrm>
          <a:prstGeom prst="roundRect">
            <a:avLst>
              <a:gd name="adj" fmla="val 6957"/>
            </a:avLst>
          </a:prstGeom>
          <a:solidFill>
            <a:srgbClr val="DCE9E0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3441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đã được chấm điểm cho CLB đó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6642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Xếp theo điểm, cao trước. Chỉ khi bằng điểm mới dùng số bốc thăm.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846320" cy="1051560"/>
          </a:xfrm>
          <a:prstGeom prst="roundRect">
            <a:avLst>
              <a:gd name="adj" fmla="val 6957"/>
            </a:avLst>
          </a:prstGeom>
          <a:solidFill>
            <a:srgbClr val="F1DFB8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60604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5786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đăng ký nhưng không thi CLB đó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898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Xếp theo số bốc thăm. Luôn đứng sau toàn bộ Tầng 1.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49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CLB không bao giờ biết em xếp mình là nguyện vọng thứ mấy. </a:t>
            </a:r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Nhờ vậy học sinh cứ khai thật nguyện vọng — khai “chiến thuật” không giúp em được lợi hơn.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188720"/>
            <a:ext cx="3017520" cy="3383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1417320"/>
            <a:ext cx="548640" cy="54864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0526" y="1559966"/>
            <a:ext cx="263347" cy="26334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583680" y="1463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“mù”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897880" y="2148840"/>
            <a:ext cx="2606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hình chấm điểm chỉ hiện mã và họ tên học sinh.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viên không thấy số bốc thăm, cũng không thấy em xếp CLB mình là nguyện vọng mấy — nên không thể cho điểm theo hướng có lợi cho ai.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Người vận hành chỉ cần năm bước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20624" cy="420624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18872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Nạp ba tệp Excel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7512" y="1645920"/>
            <a:ext cx="0" cy="182880"/>
          </a:xfrm>
          <a:prstGeom prst="line">
            <a:avLst/>
          </a:prstGeom>
          <a:noFill/>
          <a:ln w="19050">
            <a:solidFill>
              <a:srgbClr val="DBDC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65376"/>
            <a:ext cx="420624" cy="420624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8653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mục Cảnh báo dữ liệu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7512" y="2322576"/>
            <a:ext cx="0" cy="182880"/>
          </a:xfrm>
          <a:prstGeom prst="line">
            <a:avLst/>
          </a:prstGeom>
          <a:noFill/>
          <a:ln w="19050">
            <a:solidFill>
              <a:srgbClr val="DBDC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42032"/>
            <a:ext cx="420624" cy="420624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54203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viên nhập điểm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" y="2999232"/>
            <a:ext cx="0" cy="182880"/>
          </a:xfrm>
          <a:prstGeom prst="line">
            <a:avLst/>
          </a:prstGeom>
          <a:noFill/>
          <a:ln w="19050">
            <a:solidFill>
              <a:srgbClr val="DBDC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218688"/>
            <a:ext cx="420624" cy="420624"/>
          </a:xfrm>
          <a:prstGeom prst="ellipse">
            <a:avLst/>
          </a:prstGeom>
          <a:solidFill>
            <a:srgbClr val="C98A1F"/>
          </a:solidFill>
          <a:ln w="12700">
            <a:solidFill>
              <a:srgbClr val="C98A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18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2186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“Chạy sắp xếp”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" y="3675888"/>
            <a:ext cx="0" cy="182880"/>
          </a:xfrm>
          <a:prstGeom prst="line">
            <a:avLst/>
          </a:prstGeom>
          <a:noFill/>
          <a:ln w="19050">
            <a:solidFill>
              <a:srgbClr val="DBDC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895344"/>
            <a:ext cx="420624" cy="420624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89534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kết quả</a:t>
            </a:r>
            <a:endParaRPr lang="en-US" sz="1400" dirty="0"/>
          </a:p>
        </p:txBody>
      </p:sp>
      <p:pic>
        <p:nvPicPr>
          <p:cNvPr id="23" name="Image 0" descr="/tmp/claude-0/-home-user-rbda-kiosk/30f99193-b3ff-5853-a228-d09690c4e584/scratchpad/shots/c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280160"/>
            <a:ext cx="5074920" cy="234362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24" name="Text 21"/>
          <p:cNvSpPr txBox="1"/>
          <p:nvPr/>
        </p:nvSpPr>
        <p:spPr>
          <a:xfrm>
            <a:off x="3611880" y="371522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hình “Vận hành sắp xếp”: kéo thả tệp, xem cảnh báo, rồi chạy.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611880" y="42062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chạy sắp xếp và xuất kết quả mất chưa tới một giây với 120 học sinh.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CLB nào đầy, CLB nào còn chỗ — thấy ngay</a:t>
            </a:r>
            <a:endParaRPr lang="en-US" sz="3000" dirty="0"/>
          </a:p>
        </p:txBody>
      </p:sp>
      <p:pic>
        <p:nvPicPr>
          <p:cNvPr id="4" name="Image 0" descr="/tmp/claude-0/-home-user-rbda-kiosk/30f99193-b3ff-5853-a228-d09690c4e584/scratchpad/shots/c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24928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" y="381873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Xanh: vào theo diện chung · Vàng: vào bằng suất dự trữ. Dữ liệu mô phỏng.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760720" y="1280160"/>
            <a:ext cx="384048" cy="384048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572" y="1380012"/>
            <a:ext cx="184343" cy="18434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0936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Tỉ lệ lấp đầy từng CLB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309360" y="1508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bao nhiêu chỗ đi vào suất dự trữ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760720" y="2103120"/>
            <a:ext cx="384048" cy="384048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572" y="2202972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09360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Nguyện vọng thứ mấy thì được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30936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biết học sinh hài lòng tới đâu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760720" y="2926080"/>
            <a:ext cx="384048" cy="384048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0572" y="3025932"/>
            <a:ext cx="184343" cy="184343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09360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em chưa có chỗ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309360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nhà trường cần xử lý tiếp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760720" y="3749040"/>
            <a:ext cx="384048" cy="384048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0572" y="3848892"/>
            <a:ext cx="184343" cy="18434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0936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tệp cho từng CLB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30936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thẳng cho giáo viên phụ trách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THỬ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Chạy thử với 120 học sinh, 10 CLB, 130 chỗ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108/120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887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được xếp CLB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965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nguyện vọng 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8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743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vào bằng suất dự trữ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0,011 s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chạy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60520" y="1143000"/>
            <a:ext cx="45262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graphicFrame>
        <p:nvGraphicFramePr>
          <p:cNvPr id="13" name="Chart 0" descr=""/>
          <p:cNvGraphicFramePr/>
          <p:nvPr/>
        </p:nvGraphicFramePr>
        <p:xfrm>
          <a:off x="4297680" y="1234440"/>
          <a:ext cx="42519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389120"/>
            <a:ext cx="7726680" cy="384048"/>
          </a:xfrm>
          <a:prstGeom prst="roundRect">
            <a:avLst>
              <a:gd name="adj" fmla="val 14286"/>
            </a:avLst>
          </a:prstGeom>
          <a:solidFill>
            <a:srgbClr val="F3DCD9"/>
          </a:solidFill>
          <a:ln w="12700">
            <a:solidFill>
              <a:srgbClr val="F3DC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438912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mô phỏng</a:t>
            </a:r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máy sinh, cố ý tạo cạnh tranh cao để kiểm tra thuật toán — không phải số liệu học sinh thật của trường.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TIN CẬY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bằng được đo, không chỉ được hứa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cặp học sinh – CLB muốn đổi cho nhau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 200 lần bốc thăm khác nhau: kết quả luôn “ổn định”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280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sinh có kết cục phụ thuộc bốc thăm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những em ngang điểm đúng ở ranh giới chỉ tiêu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18872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2801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750+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kiểm thử tự động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lại sau mỗi lần sửa mã nguồn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02920" cy="50292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3422599"/>
            <a:ext cx="241402" cy="24140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28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sao lưu trước mỗi lần chạy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37673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10 bản gần nhất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246120" y="3291840"/>
            <a:ext cx="502920" cy="50292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79" y="3422599"/>
            <a:ext cx="241402" cy="24140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88620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hình phục hồi khi dữ liệu hỏng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3886200" y="37673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khôi phục bản sao lưu còn đọc được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035040" y="3291840"/>
            <a:ext cx="502920" cy="502920"/>
          </a:xfrm>
          <a:prstGeom prst="ellipse">
            <a:avLst/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799" y="3422599"/>
            <a:ext cx="241402" cy="24140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67512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cảnh báo dữ liệu trước khi chạy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675120" y="37673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lỗi nhập liệu mà mắt thường bỏ sót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4526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đo trên dữ liệu mô phỏng; cách đo lại được ghi kèm trong hồ sơ dự án.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SẴN SÀNG THÊM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được cho nhiều cách tổ chức của trường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36192"/>
            <a:ext cx="548640" cy="548640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167883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5087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buổi trong tuần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8745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CLB sinh hoạt một buổi; học sinh có thể tham gia nhiều CLB miễn không trùng buổi. Phần mềm xếp ra thời khoá biểu CLB cho từng em.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536192"/>
            <a:ext cx="548640" cy="548640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686" y="167883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5087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Nhập bổ sung tại chỗ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18745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không nộp được qua biểu mẫu vẫn được thêm tay; em thêm sau khi đã bốc thăm vẫn được bốc một vị trí ngẫu nhiên, không bị xếp cuối.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8803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" y="3279038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1089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ngữ Việt – Anh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474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ngôn ngữ giao diện bằng một nút, phù hợp khi có giáo viên nước ngoài phụ trách CLB.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BDCD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136392"/>
            <a:ext cx="548640" cy="548640"/>
          </a:xfrm>
          <a:prstGeom prst="ellipse">
            <a:avLst/>
          </a:prstGeom>
          <a:solidFill>
            <a:srgbClr val="DCE9E0"/>
          </a:solidFill>
          <a:ln w="12700">
            <a:solidFill>
              <a:srgbClr val="DCE9E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4686" y="3279038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23560" y="31089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hoặc không dùng suất dự trữ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23560" y="3474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không cần diện ưu tiên chỉ việc đặt số suất dự trữ bằng 0 — phần mềm vẫn chạy đúng.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NGHỊ BAN GIÁM HIỆU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để chạy thử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A3330"/>
          </a:solidFill>
          <a:ln w="9525">
            <a:solidFill>
              <a:srgbClr val="3A4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20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8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 phép chạy thử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một đợt đăng ký CLB thật, song song với cách làm hiện tại để đối chiếu.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7830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A3330"/>
          </a:solidFill>
          <a:ln w="9525">
            <a:solidFill>
              <a:srgbClr val="3A4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20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8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chính sách suất dự trữ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01752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dùng hay không, dành cho diện nào, mỗi CLB bao nhiêu suất.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A3330"/>
          </a:solidFill>
          <a:ln w="9525">
            <a:solidFill>
              <a:srgbClr val="3A4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920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8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công người phụ trách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01752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người vận hành phần mềm và giáo viên chấm điểm cho các CLB có thi tuyển.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CE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Ban Giám hiệu đã lắng nghe.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Phần mềm sắp xếp Câu lạc bộ RB-DA</dc:title>
  <dc:subject>PptxGenJS Presentation</dc:subject>
  <dc:creator>PptxGenJS</dc:creator>
  <cp:lastModifiedBy>PptxGenJS</cp:lastModifiedBy>
  <cp:revision>1</cp:revision>
  <dcterms:created xsi:type="dcterms:W3CDTF">2026-09-24T14:44:13Z</dcterms:created>
  <dcterms:modified xsi:type="dcterms:W3CDTF">2026-09-24T14:44:13Z</dcterms:modified>
</cp:coreProperties>
</file>