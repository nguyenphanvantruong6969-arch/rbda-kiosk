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321"/>
                </a:solidFill>
                <a:latin typeface="Calibri"/>
              </a:defRPr>
            </a:pPr>
            <a:r>
              <a:rPr sz="1200" b="0" i="0" u="none" strike="noStrike">
                <a:solidFill>
                  <a:srgbClr val="1C2321"/>
                </a:solidFill>
                <a:latin typeface="Calibri"/>
              </a:rPr>
              <a:t>Số học sinh theo nguyện vọng được xếp</a:t>
            </a:r>
          </a:p>
        </c:rich>
      </c:tx>
      <c:layout/>
      <c:overlay val="0"/>
    </c:title>
    <c:autoTitleDeleted val="0"/>
    <c:plotArea>
      <c:layout/>
      <c:barChart>
        <c:barDir val="col"/>
        <c:grouping val="clustered"/>
        <c:varyColors val="0"/>
        <c:ser>
          <c:idx val="0"/>
          <c:order val="0"/>
          <c:tx>
            <c:strRef>
              <c:f>Sheet1!$B$1</c:f>
              <c:strCache>
                <c:ptCount val="1"/>
                <c:pt idx="0">
                  <c:v>Số học sinh</c:v>
                </c:pt>
              </c:strCache>
            </c:strRef>
          </c:tx>
          <c:spPr>
            <a:solidFill>
              <a:srgbClr val="3F6B52"/>
            </a:solidFill>
            <a:effectLst/>
          </c:spPr>
          <c:invertIfNegative val="0"/>
          <c:dLbls>
            <c:numFmt formatCode="#,##0" sourceLinked="0"/>
            <c:txPr>
              <a:bodyPr/>
              <a:lstStyle/>
              <a:p>
                <a:pPr>
                  <a:defRPr b="0" i="0" strike="noStrike" sz="1100" u="none">
                    <a:solidFill>
                      <a:srgbClr val="1C2321"/>
                    </a:solidFill>
                    <a:latin typeface="Arial"/>
                  </a:defRPr>
                </a:pPr>
              </a:p>
            </c:txPr>
            <c:showLegendKey val="0"/>
            <c:showVal val="1"/>
            <c:showCatName val="0"/>
            <c:showSerName val="0"/>
            <c:showPercent val="0"/>
            <c:showBubbleSize val="0"/>
            <c:showLeaderLines val="0"/>
          </c:dLbls>
          <c:cat>
            <c:multiLvlStrRef>
              <c:f>Sheet1!$A$2:$A$5</c:f>
              <c:multiLvlStrCache>
                <c:ptCount val="4"/>
                <c:lvl>
                  <c:pt idx="0">
                    <c:v>NV 1</c:v>
                  </c:pt>
                  <c:pt idx="1">
                    <c:v>NV 2</c:v>
                  </c:pt>
                  <c:pt idx="2">
                    <c:v>NV 3</c:v>
                  </c:pt>
                  <c:pt idx="3">
                    <c:v>NV 4</c:v>
                  </c:pt>
                </c:lvl>
              </c:multiLvlStrCache>
            </c:multiLvlStrRef>
          </c:cat>
          <c:val>
            <c:numRef>
              <c:f>Sheet1!$B$2:$B$5</c:f>
              <c:numCache>
                <c:formatCode>General</c:formatCode>
                <c:ptCount val="4"/>
                <c:pt idx="0">
                  <c:v>64</c:v>
                </c:pt>
                <c:pt idx="1">
                  <c:v>28</c:v>
                </c:pt>
                <c:pt idx="2">
                  <c:v>10</c:v>
                </c:pt>
                <c:pt idx="3">
                  <c:v>6</c:v>
                </c:pt>
              </c:numCache>
            </c:numRef>
          </c:val>
        </c:ser>
        <c:dLbls>
          <c:numFmt formatCode="#,##0" sourceLinked="0"/>
          <c:txPr>
            <a:bodyPr/>
            <a:lstStyle/>
            <a:p>
              <a:pPr>
                <a:defRPr b="0" i="0" strike="noStrike" sz="1100" u="none">
                  <a:solidFill>
                    <a:srgbClr val="1C2321"/>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5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7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mục đích buổi báo cáo: giới thiệu phần mềm xếp học sinh vào câu lạc bộ, giải thích vì sao cách xếp này công bằng, và xin ý kiến Ban Giám hiệu về việc chạy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nhanh bảy phần của bài trình bày để Ban Giám hiệu nắm trước mạch nội 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bốn khó khăn thường gặp khi xếp học sinh vào CLB. Nên dừng lâu hơn ở ô cuối, vì phần mềm được làm ra để thay cho cách xét theo thứ tự đăng ký.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Nhà trường vốn đã quen dùng Microsoft Forms. Kết quả từ Forms xuất ra Excel là nạp được ngay, không phải chuyển đổi gì. Toàn bộ dữ liệu học sinh nằm trên máy của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Nên giải thích bằng lời thường, không cần công thức. Ý chính là CLB chỉ giữ chỗ tạm chứ không chốt ngay, nên thứ tự nộp đơn không làm thay đổi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xuất phát từ thực tế của trường: có CLB thi tuyển, có CLB không. Hai tầng luôn tách riêng, toàn bộ Tầng 1 đứng trước Tầng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2 rất quan trọng. Phần mềm tự kiểm tra 8 tình huống mà dữ liệu vẫn hợp lệ nhưng có thể làm sai kết quả mà không ai hay, chẳng hạn giáo viên mới chấm được một phần. Các cảnh báo này hiện ngay phía trên nút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màn hình Kết quả sau khi chạy với bộ dữ liệu mô phỏng gồm 120 học sinh và 10 CLB.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lấy từ du_lieu_test/SO_LIEU_DA_KIEM_CHUNG.md, seed 42. Có 12 học sinh chưa có chỗ vì những CLB các học sinh này chọn đều đã đủ người. Phần mềm tách riêng danh sách này để nhà trường xử lý. Cần nói rõ đây là dữ liệu mô phỏng.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ổn định nghĩa là không có học sinh và CLB nào cùng muốn bỏ kết quả hiện tại để chọn nhau. Con số 1,1% tính trên ba bộ dữ liệu, tổng cộng 270 học sinh: chỉ có 3 học sinh mà việc có chỗ hay không phụ thuộc vào bốc thăm.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tính năng này đã có sẵn trong phần mềm.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ba việc cụ thể cần Ban Giám hiệu quyết định. Nhóm nên sửa phần đề nghị cho khớp với kế hoạch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321"/>
        </a:solidFill>
      </p:bgPr>
    </p:bg>
    <p:spTree>
      <p:nvGrpSpPr>
        <p:cNvPr id="1" name=""/>
        <p:cNvGrpSpPr/>
        <p:nvPr/>
      </p:nvGrpSpPr>
      <p:grpSpPr>
        <a:xfrm>
          <a:off x="0" y="0"/>
          <a:ext cx="0" cy="0"/>
          <a:chOff x="0" y="0"/>
          <a:chExt cx="0" cy="0"/>
        </a:xfrm>
      </p:grpSpPr>
      <p:sp>
        <p:nvSpPr>
          <p:cNvPr id="2" name="Shape 0"/>
          <p:cNvSpPr/>
          <p:nvPr/>
        </p:nvSpPr>
        <p:spPr>
          <a:xfrm>
            <a:off x="457200" y="548640"/>
            <a:ext cx="685800" cy="685800"/>
          </a:xfrm>
          <a:prstGeom prst="roundRect">
            <a:avLst>
              <a:gd name="adj" fmla="val 13333"/>
            </a:avLst>
          </a:prstGeom>
          <a:solidFill>
            <a:srgbClr val="C98A1F"/>
          </a:solidFill>
          <a:ln w="12700">
            <a:solidFill>
              <a:srgbClr val="C98A1F"/>
            </a:solidFill>
            <a:prstDash val="solid"/>
          </a:ln>
        </p:spPr>
      </p:sp>
      <p:sp>
        <p:nvSpPr>
          <p:cNvPr id="3" name="Text 1"/>
          <p:cNvSpPr txBox="1"/>
          <p:nvPr/>
        </p:nvSpPr>
        <p:spPr>
          <a:xfrm>
            <a:off x="457200" y="548640"/>
            <a:ext cx="685800" cy="685800"/>
          </a:xfrm>
          <a:prstGeom prst="rect">
            <a:avLst/>
          </a:prstGeom>
          <a:noFill/>
          <a:ln/>
        </p:spPr>
        <p:txBody>
          <a:bodyPr wrap="square" lIns="0" tIns="0" rIns="0" bIns="0" rtlCol="0" anchor="ctr"/>
          <a:lstStyle/>
          <a:p>
            <a:pPr algn="ctr" indent="0" marL="0">
              <a:buNone/>
            </a:pPr>
            <a:r>
              <a:rPr lang="en-US" sz="2200" b="1" dirty="0">
                <a:solidFill>
                  <a:srgbClr val="1C2321"/>
                </a:solidFill>
                <a:latin typeface="Cambria" pitchFamily="34" charset="0"/>
                <a:ea typeface="Cambria" pitchFamily="34" charset="-122"/>
                <a:cs typeface="Cambria" pitchFamily="34" charset="-120"/>
              </a:rPr>
              <a:t>RB</a:t>
            </a:r>
            <a:endParaRPr lang="en-US" sz="2200" dirty="0"/>
          </a:p>
        </p:txBody>
      </p:sp>
      <p:sp>
        <p:nvSpPr>
          <p:cNvPr id="4" name="Text 2"/>
          <p:cNvSpPr txBox="1"/>
          <p:nvPr/>
        </p:nvSpPr>
        <p:spPr>
          <a:xfrm>
            <a:off x="457200" y="1600200"/>
            <a:ext cx="8229600" cy="274320"/>
          </a:xfrm>
          <a:prstGeom prst="rect">
            <a:avLst/>
          </a:prstGeom>
          <a:noFill/>
          <a:ln/>
        </p:spPr>
        <p:txBody>
          <a:bodyPr wrap="square" lIns="0" tIns="0" rIns="0" bIns="0" rtlCol="0" anchor="ctr"/>
          <a:lstStyle/>
          <a:p>
            <a:pPr indent="0" marL="0">
              <a:buNone/>
            </a:pPr>
            <a:r>
              <a:rPr lang="en-US" sz="1200" b="1" spc="300" kern="0" dirty="0">
                <a:solidFill>
                  <a:srgbClr val="C98A1F"/>
                </a:solidFill>
                <a:latin typeface="Calibri" pitchFamily="34" charset="0"/>
                <a:ea typeface="Calibri" pitchFamily="34" charset="-122"/>
                <a:cs typeface="Calibri" pitchFamily="34" charset="-120"/>
              </a:rPr>
              <a:t>BÁO CÁO BAN GIÁM HIỆU</a:t>
            </a:r>
            <a:endParaRPr lang="en-US" sz="1200" dirty="0"/>
          </a:p>
        </p:txBody>
      </p:sp>
      <p:sp>
        <p:nvSpPr>
          <p:cNvPr id="5" name="Text 3"/>
          <p:cNvSpPr txBox="1"/>
          <p:nvPr/>
        </p:nvSpPr>
        <p:spPr>
          <a:xfrm>
            <a:off x="457200" y="1920240"/>
            <a:ext cx="7772400"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Phần mềm sắp xếp</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học sinh vào câu lạc bộ</a:t>
            </a:r>
            <a:endParaRPr lang="en-US" sz="4000" dirty="0"/>
          </a:p>
        </p:txBody>
      </p:sp>
      <p:sp>
        <p:nvSpPr>
          <p:cNvPr id="6" name="Text 4"/>
          <p:cNvSpPr txBox="1"/>
          <p:nvPr/>
        </p:nvSpPr>
        <p:spPr>
          <a:xfrm>
            <a:off x="457200" y="3429000"/>
            <a:ext cx="7772400" cy="365760"/>
          </a:xfrm>
          <a:prstGeom prst="rect">
            <a:avLst/>
          </a:prstGeom>
          <a:noFill/>
          <a:ln/>
        </p:spPr>
        <p:txBody>
          <a:bodyPr wrap="square" lIns="0" tIns="0" rIns="0" bIns="0" rtlCol="0" anchor="ctr"/>
          <a:lstStyle/>
          <a:p>
            <a:pPr indent="0" marL="0">
              <a:buNone/>
            </a:pPr>
            <a:r>
              <a:rPr lang="en-US" sz="1600" i="1" dirty="0">
                <a:solidFill>
                  <a:srgbClr val="C9CEC9"/>
                </a:solidFill>
                <a:latin typeface="Calibri" pitchFamily="34" charset="0"/>
                <a:ea typeface="Calibri" pitchFamily="34" charset="-122"/>
                <a:cs typeface="Calibri" pitchFamily="34" charset="-120"/>
              </a:rPr>
              <a:t>Xếp chỗ công bằng, ai cũng kiểm tra lại được, chạy ngay trên máy tính của trường</a:t>
            </a:r>
            <a:endParaRPr lang="en-US" sz="1600" dirty="0"/>
          </a:p>
        </p:txBody>
      </p:sp>
      <p:sp>
        <p:nvSpPr>
          <p:cNvPr id="7" name="Text 5"/>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00" dirty="0">
                <a:solidFill>
                  <a:srgbClr val="8A938F"/>
                </a:solidFill>
                <a:latin typeface="Calibri" pitchFamily="34" charset="0"/>
                <a:ea typeface="Calibri" pitchFamily="34" charset="-122"/>
                <a:cs typeface="Calibri" pitchFamily="34" charset="-120"/>
              </a:rPr>
              <a:t>Đề tài nghiên cứu khoa học. Thuật toán RB-DA (Reserve-Based Deferred Acceptance)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NỘI DUNG</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Mục lục</a:t>
            </a:r>
            <a:endParaRPr lang="en-US" sz="3000" dirty="0"/>
          </a:p>
        </p:txBody>
      </p:sp>
      <p:sp>
        <p:nvSpPr>
          <p:cNvPr id="4" name="Shape 2"/>
          <p:cNvSpPr/>
          <p:nvPr/>
        </p:nvSpPr>
        <p:spPr>
          <a:xfrm>
            <a:off x="457200" y="1234440"/>
            <a:ext cx="457200" cy="457200"/>
          </a:xfrm>
          <a:prstGeom prst="ellipse">
            <a:avLst/>
          </a:prstGeom>
          <a:solidFill>
            <a:srgbClr val="1C2321"/>
          </a:solidFill>
          <a:ln w="12700">
            <a:solidFill>
              <a:srgbClr val="1C2321"/>
            </a:solidFill>
            <a:prstDash val="solid"/>
          </a:ln>
        </p:spPr>
      </p:sp>
      <p:sp>
        <p:nvSpPr>
          <p:cNvPr id="5" name="Text 3"/>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097280" y="118872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Bài toán</a:t>
            </a:r>
            <a:endParaRPr lang="en-US" sz="1500" dirty="0"/>
          </a:p>
        </p:txBody>
      </p:sp>
      <p:sp>
        <p:nvSpPr>
          <p:cNvPr id="7" name="Text 5"/>
          <p:cNvSpPr txBox="1"/>
          <p:nvPr/>
        </p:nvSpPr>
        <p:spPr>
          <a:xfrm>
            <a:off x="1097280" y="1481328"/>
            <a:ext cx="2743200" cy="27432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Vì sao cần một cách xếp CLB mới</a:t>
            </a:r>
            <a:endParaRPr lang="en-US" sz="1100" dirty="0"/>
          </a:p>
        </p:txBody>
      </p:sp>
      <p:sp>
        <p:nvSpPr>
          <p:cNvPr id="8" name="Text 6"/>
          <p:cNvSpPr txBox="1"/>
          <p:nvPr/>
        </p:nvSpPr>
        <p:spPr>
          <a:xfrm>
            <a:off x="3840480" y="118872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3</a:t>
            </a:r>
            <a:endParaRPr lang="en-US" sz="1000" dirty="0"/>
          </a:p>
        </p:txBody>
      </p:sp>
      <p:sp>
        <p:nvSpPr>
          <p:cNvPr id="9" name="Shape 7"/>
          <p:cNvSpPr/>
          <p:nvPr/>
        </p:nvSpPr>
        <p:spPr>
          <a:xfrm>
            <a:off x="457200" y="2011680"/>
            <a:ext cx="457200" cy="457200"/>
          </a:xfrm>
          <a:prstGeom prst="ellipse">
            <a:avLst/>
          </a:prstGeom>
          <a:solidFill>
            <a:srgbClr val="1C2321"/>
          </a:solidFill>
          <a:ln w="12700">
            <a:solidFill>
              <a:srgbClr val="1C2321"/>
            </a:solidFill>
            <a:prstDash val="solid"/>
          </a:ln>
        </p:spPr>
      </p:sp>
      <p:sp>
        <p:nvSpPr>
          <p:cNvPr id="10" name="Text 8"/>
          <p:cNvSpPr txBox="1"/>
          <p:nvPr/>
        </p:nvSpPr>
        <p:spPr>
          <a:xfrm>
            <a:off x="457200" y="201168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1097280" y="196596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Giải pháp</a:t>
            </a:r>
            <a:endParaRPr lang="en-US" sz="1500" dirty="0"/>
          </a:p>
        </p:txBody>
      </p:sp>
      <p:sp>
        <p:nvSpPr>
          <p:cNvPr id="12" name="Text 10"/>
          <p:cNvSpPr txBox="1"/>
          <p:nvPr/>
        </p:nvSpPr>
        <p:spPr>
          <a:xfrm>
            <a:off x="1097280" y="2258568"/>
            <a:ext cx="2743200" cy="27432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Từ ba tệp Excel tới danh sách từng CLB</a:t>
            </a:r>
            <a:endParaRPr lang="en-US" sz="1100" dirty="0"/>
          </a:p>
        </p:txBody>
      </p:sp>
      <p:sp>
        <p:nvSpPr>
          <p:cNvPr id="13" name="Text 11"/>
          <p:cNvSpPr txBox="1"/>
          <p:nvPr/>
        </p:nvSpPr>
        <p:spPr>
          <a:xfrm>
            <a:off x="3840480" y="196596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4</a:t>
            </a:r>
            <a:endParaRPr lang="en-US" sz="1000" dirty="0"/>
          </a:p>
        </p:txBody>
      </p:sp>
      <p:sp>
        <p:nvSpPr>
          <p:cNvPr id="14" name="Shape 12"/>
          <p:cNvSpPr/>
          <p:nvPr/>
        </p:nvSpPr>
        <p:spPr>
          <a:xfrm>
            <a:off x="457200" y="2788920"/>
            <a:ext cx="457200" cy="457200"/>
          </a:xfrm>
          <a:prstGeom prst="ellipse">
            <a:avLst/>
          </a:prstGeom>
          <a:solidFill>
            <a:srgbClr val="1C2321"/>
          </a:solidFill>
          <a:ln w="12700">
            <a:solidFill>
              <a:srgbClr val="1C2321"/>
            </a:solidFill>
            <a:prstDash val="solid"/>
          </a:ln>
        </p:spPr>
      </p:sp>
      <p:sp>
        <p:nvSpPr>
          <p:cNvPr id="15" name="Text 13"/>
          <p:cNvSpPr txBox="1"/>
          <p:nvPr/>
        </p:nvSpPr>
        <p:spPr>
          <a:xfrm>
            <a:off x="457200" y="278892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097280" y="274320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Cách phần mềm quyết định</a:t>
            </a:r>
            <a:endParaRPr lang="en-US" sz="1500" dirty="0"/>
          </a:p>
        </p:txBody>
      </p:sp>
      <p:sp>
        <p:nvSpPr>
          <p:cNvPr id="17" name="Text 15"/>
          <p:cNvSpPr txBox="1"/>
          <p:nvPr/>
        </p:nvSpPr>
        <p:spPr>
          <a:xfrm>
            <a:off x="1097280" y="3035808"/>
            <a:ext cx="2743200" cy="27432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Bốn quy tắc và hai tầng xếp hạng</a:t>
            </a:r>
            <a:endParaRPr lang="en-US" sz="1100" dirty="0"/>
          </a:p>
        </p:txBody>
      </p:sp>
      <p:sp>
        <p:nvSpPr>
          <p:cNvPr id="18" name="Text 16"/>
          <p:cNvSpPr txBox="1"/>
          <p:nvPr/>
        </p:nvSpPr>
        <p:spPr>
          <a:xfrm>
            <a:off x="3840480" y="274320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5</a:t>
            </a:r>
            <a:endParaRPr lang="en-US" sz="1000" dirty="0"/>
          </a:p>
        </p:txBody>
      </p:sp>
      <p:sp>
        <p:nvSpPr>
          <p:cNvPr id="19" name="Shape 17"/>
          <p:cNvSpPr/>
          <p:nvPr/>
        </p:nvSpPr>
        <p:spPr>
          <a:xfrm>
            <a:off x="457200" y="3566160"/>
            <a:ext cx="457200" cy="457200"/>
          </a:xfrm>
          <a:prstGeom prst="ellipse">
            <a:avLst/>
          </a:prstGeom>
          <a:solidFill>
            <a:srgbClr val="1C2321"/>
          </a:solidFill>
          <a:ln w="12700">
            <a:solidFill>
              <a:srgbClr val="1C2321"/>
            </a:solidFill>
            <a:prstDash val="solid"/>
          </a:ln>
        </p:spPr>
      </p:sp>
      <p:sp>
        <p:nvSpPr>
          <p:cNvPr id="20" name="Text 18"/>
          <p:cNvSpPr txBox="1"/>
          <p:nvPr/>
        </p:nvSpPr>
        <p:spPr>
          <a:xfrm>
            <a:off x="457200" y="356616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097280" y="352044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Vận hành và kết quả</a:t>
            </a:r>
            <a:endParaRPr lang="en-US" sz="1500" dirty="0"/>
          </a:p>
        </p:txBody>
      </p:sp>
      <p:sp>
        <p:nvSpPr>
          <p:cNvPr id="22" name="Text 20"/>
          <p:cNvSpPr txBox="1"/>
          <p:nvPr/>
        </p:nvSpPr>
        <p:spPr>
          <a:xfrm>
            <a:off x="1097280" y="3813048"/>
            <a:ext cx="2743200" cy="27432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Năm bước sử dụng, màn hình kết quả</a:t>
            </a:r>
            <a:endParaRPr lang="en-US" sz="1100" dirty="0"/>
          </a:p>
        </p:txBody>
      </p:sp>
      <p:sp>
        <p:nvSpPr>
          <p:cNvPr id="23" name="Text 21"/>
          <p:cNvSpPr txBox="1"/>
          <p:nvPr/>
        </p:nvSpPr>
        <p:spPr>
          <a:xfrm>
            <a:off x="3840480" y="352044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7</a:t>
            </a:r>
            <a:endParaRPr lang="en-US" sz="1000" dirty="0"/>
          </a:p>
        </p:txBody>
      </p:sp>
      <p:sp>
        <p:nvSpPr>
          <p:cNvPr id="24" name="Shape 22"/>
          <p:cNvSpPr/>
          <p:nvPr/>
        </p:nvSpPr>
        <p:spPr>
          <a:xfrm>
            <a:off x="4663440" y="1234440"/>
            <a:ext cx="457200" cy="457200"/>
          </a:xfrm>
          <a:prstGeom prst="ellipse">
            <a:avLst/>
          </a:prstGeom>
          <a:solidFill>
            <a:srgbClr val="1C2321"/>
          </a:solidFill>
          <a:ln w="12700">
            <a:solidFill>
              <a:srgbClr val="1C2321"/>
            </a:solidFill>
            <a:prstDash val="solid"/>
          </a:ln>
        </p:spPr>
      </p:sp>
      <p:sp>
        <p:nvSpPr>
          <p:cNvPr id="25" name="Text 2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5</a:t>
            </a:r>
            <a:endParaRPr lang="en-US" sz="1600" dirty="0"/>
          </a:p>
        </p:txBody>
      </p:sp>
      <p:sp>
        <p:nvSpPr>
          <p:cNvPr id="26" name="Text 24"/>
          <p:cNvSpPr txBox="1"/>
          <p:nvPr/>
        </p:nvSpPr>
        <p:spPr>
          <a:xfrm>
            <a:off x="5303520" y="118872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Chạy thử và độ tin cậy</a:t>
            </a:r>
            <a:endParaRPr lang="en-US" sz="1500" dirty="0"/>
          </a:p>
        </p:txBody>
      </p:sp>
      <p:sp>
        <p:nvSpPr>
          <p:cNvPr id="27" name="Text 25"/>
          <p:cNvSpPr txBox="1"/>
          <p:nvPr/>
        </p:nvSpPr>
        <p:spPr>
          <a:xfrm>
            <a:off x="5303520" y="1481328"/>
            <a:ext cx="2743200" cy="27432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Số liệu thử nghiệm, kiểm thử, an toàn dữ liệu</a:t>
            </a:r>
            <a:endParaRPr lang="en-US" sz="1100" dirty="0"/>
          </a:p>
        </p:txBody>
      </p:sp>
      <p:sp>
        <p:nvSpPr>
          <p:cNvPr id="28" name="Text 26"/>
          <p:cNvSpPr txBox="1"/>
          <p:nvPr/>
        </p:nvSpPr>
        <p:spPr>
          <a:xfrm>
            <a:off x="8046720" y="118872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9</a:t>
            </a:r>
            <a:endParaRPr lang="en-US" sz="1000" dirty="0"/>
          </a:p>
        </p:txBody>
      </p:sp>
      <p:sp>
        <p:nvSpPr>
          <p:cNvPr id="29" name="Shape 27"/>
          <p:cNvSpPr/>
          <p:nvPr/>
        </p:nvSpPr>
        <p:spPr>
          <a:xfrm>
            <a:off x="4663440" y="2011680"/>
            <a:ext cx="457200" cy="457200"/>
          </a:xfrm>
          <a:prstGeom prst="ellipse">
            <a:avLst/>
          </a:prstGeom>
          <a:solidFill>
            <a:srgbClr val="1C2321"/>
          </a:solidFill>
          <a:ln w="12700">
            <a:solidFill>
              <a:srgbClr val="1C2321"/>
            </a:solidFill>
            <a:prstDash val="solid"/>
          </a:ln>
        </p:spPr>
      </p:sp>
      <p:sp>
        <p:nvSpPr>
          <p:cNvPr id="30" name="Text 28"/>
          <p:cNvSpPr txBox="1"/>
          <p:nvPr/>
        </p:nvSpPr>
        <p:spPr>
          <a:xfrm>
            <a:off x="4663440" y="201168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6</a:t>
            </a:r>
            <a:endParaRPr lang="en-US" sz="1600" dirty="0"/>
          </a:p>
        </p:txBody>
      </p:sp>
      <p:sp>
        <p:nvSpPr>
          <p:cNvPr id="31" name="Text 29"/>
          <p:cNvSpPr txBox="1"/>
          <p:nvPr/>
        </p:nvSpPr>
        <p:spPr>
          <a:xfrm>
            <a:off x="5303520" y="196596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Tính năng khác</a:t>
            </a:r>
            <a:endParaRPr lang="en-US" sz="1500" dirty="0"/>
          </a:p>
        </p:txBody>
      </p:sp>
      <p:sp>
        <p:nvSpPr>
          <p:cNvPr id="32" name="Text 30"/>
          <p:cNvSpPr txBox="1"/>
          <p:nvPr/>
        </p:nvSpPr>
        <p:spPr>
          <a:xfrm>
            <a:off x="5303520" y="2258568"/>
            <a:ext cx="2743200" cy="27432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Nhiều buổi, nhập tại chỗ, song ngữ</a:t>
            </a:r>
            <a:endParaRPr lang="en-US" sz="1100" dirty="0"/>
          </a:p>
        </p:txBody>
      </p:sp>
      <p:sp>
        <p:nvSpPr>
          <p:cNvPr id="33" name="Text 31"/>
          <p:cNvSpPr txBox="1"/>
          <p:nvPr/>
        </p:nvSpPr>
        <p:spPr>
          <a:xfrm>
            <a:off x="8046720" y="196596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11</a:t>
            </a:r>
            <a:endParaRPr lang="en-US" sz="1000" dirty="0"/>
          </a:p>
        </p:txBody>
      </p:sp>
      <p:sp>
        <p:nvSpPr>
          <p:cNvPr id="34" name="Shape 32"/>
          <p:cNvSpPr/>
          <p:nvPr/>
        </p:nvSpPr>
        <p:spPr>
          <a:xfrm>
            <a:off x="4663440" y="2788920"/>
            <a:ext cx="457200" cy="457200"/>
          </a:xfrm>
          <a:prstGeom prst="ellipse">
            <a:avLst/>
          </a:prstGeom>
          <a:solidFill>
            <a:srgbClr val="1C2321"/>
          </a:solidFill>
          <a:ln w="12700">
            <a:solidFill>
              <a:srgbClr val="1C2321"/>
            </a:solidFill>
            <a:prstDash val="solid"/>
          </a:ln>
        </p:spPr>
      </p:sp>
      <p:sp>
        <p:nvSpPr>
          <p:cNvPr id="35" name="Text 33"/>
          <p:cNvSpPr txBox="1"/>
          <p:nvPr/>
        </p:nvSpPr>
        <p:spPr>
          <a:xfrm>
            <a:off x="4663440" y="278892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7</a:t>
            </a:r>
            <a:endParaRPr lang="en-US" sz="1600" dirty="0"/>
          </a:p>
        </p:txBody>
      </p:sp>
      <p:sp>
        <p:nvSpPr>
          <p:cNvPr id="36" name="Text 34"/>
          <p:cNvSpPr txBox="1"/>
          <p:nvPr/>
        </p:nvSpPr>
        <p:spPr>
          <a:xfrm>
            <a:off x="5303520" y="274320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Đề nghị Ban Giám hiệu</a:t>
            </a:r>
            <a:endParaRPr lang="en-US" sz="1500" dirty="0"/>
          </a:p>
        </p:txBody>
      </p:sp>
      <p:sp>
        <p:nvSpPr>
          <p:cNvPr id="37" name="Text 35"/>
          <p:cNvSpPr txBox="1"/>
          <p:nvPr/>
        </p:nvSpPr>
        <p:spPr>
          <a:xfrm>
            <a:off x="5303520" y="3035808"/>
            <a:ext cx="2743200" cy="27432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Ba việc cần quyết định để chạy thử</a:t>
            </a:r>
            <a:endParaRPr lang="en-US" sz="1100" dirty="0"/>
          </a:p>
        </p:txBody>
      </p:sp>
      <p:sp>
        <p:nvSpPr>
          <p:cNvPr id="38" name="Text 36"/>
          <p:cNvSpPr txBox="1"/>
          <p:nvPr/>
        </p:nvSpPr>
        <p:spPr>
          <a:xfrm>
            <a:off x="8046720" y="274320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12</a:t>
            </a:r>
            <a:endParaRPr lang="en-US" sz="1000" dirty="0"/>
          </a:p>
        </p:txBody>
      </p:sp>
      <p:sp>
        <p:nvSpPr>
          <p:cNvPr id="39" name="Text 37"/>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BÀI TOÁN</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Nhiều CLB, ít chỗ: ai sẽ vào đâu?</a:t>
            </a:r>
            <a:endParaRPr lang="en-US" sz="3000" dirty="0"/>
          </a:p>
        </p:txBody>
      </p:sp>
      <p:sp>
        <p:nvSpPr>
          <p:cNvPr id="4" name="Shape 2"/>
          <p:cNvSpPr/>
          <p:nvPr/>
        </p:nvSpPr>
        <p:spPr>
          <a:xfrm>
            <a:off x="457200" y="1188720"/>
            <a:ext cx="4023360" cy="1554480"/>
          </a:xfrm>
          <a:prstGeom prst="roundRect">
            <a:avLst>
              <a:gd name="adj" fmla="val 4706"/>
            </a:avLst>
          </a:prstGeom>
          <a:solidFill>
            <a:srgbClr val="FFFFFF"/>
          </a:solidFill>
          <a:ln w="9525">
            <a:solidFill>
              <a:srgbClr val="DBDCD5"/>
            </a:solidFill>
            <a:prstDash val="solid"/>
          </a:ln>
        </p:spPr>
      </p:sp>
      <p:sp>
        <p:nvSpPr>
          <p:cNvPr id="5" name="Shape 3"/>
          <p:cNvSpPr/>
          <p:nvPr/>
        </p:nvSpPr>
        <p:spPr>
          <a:xfrm>
            <a:off x="685800" y="1463040"/>
            <a:ext cx="548640" cy="548640"/>
          </a:xfrm>
          <a:prstGeom prst="ellipse">
            <a:avLst/>
          </a:prstGeom>
          <a:solidFill>
            <a:srgbClr val="F1DFB8"/>
          </a:solidFill>
          <a:ln w="12700">
            <a:solidFill>
              <a:srgbClr val="F1DFB8"/>
            </a:solidFill>
            <a:prstDash val="solid"/>
          </a:ln>
        </p:spPr>
      </p:sp>
      <p:pic>
        <p:nvPicPr>
          <p:cNvPr id="6" name="Image 0" descr="preencoded.png">    </p:cNvPr>
          <p:cNvPicPr>
            <a:picLocks noChangeAspect="1"/>
          </p:cNvPicPr>
          <p:nvPr/>
        </p:nvPicPr>
        <p:blipFill>
          <a:blip r:embed="rId1"/>
          <a:stretch>
            <a:fillRect/>
          </a:stretch>
        </p:blipFill>
        <p:spPr>
          <a:xfrm>
            <a:off x="828446" y="1605686"/>
            <a:ext cx="263347" cy="263347"/>
          </a:xfrm>
          <a:prstGeom prst="rect">
            <a:avLst/>
          </a:prstGeom>
        </p:spPr>
      </p:pic>
      <p:sp>
        <p:nvSpPr>
          <p:cNvPr id="7" name="Text 4"/>
          <p:cNvSpPr txBox="1"/>
          <p:nvPr/>
        </p:nvSpPr>
        <p:spPr>
          <a:xfrm>
            <a:off x="1417320" y="1417320"/>
            <a:ext cx="2880360" cy="411480"/>
          </a:xfrm>
          <a:prstGeom prst="rect">
            <a:avLst/>
          </a:prstGeom>
          <a:noFill/>
          <a:ln/>
        </p:spPr>
        <p:txBody>
          <a:bodyPr wrap="square" lIns="0" tIns="0" rIns="0" bIns="0" rtlCol="0" anchor="t"/>
          <a:lstStyle/>
          <a:p>
            <a:pPr indent="0" marL="0">
              <a:buNone/>
            </a:pPr>
            <a:r>
              <a:rPr lang="en-US" sz="1500" b="1" dirty="0">
                <a:solidFill>
                  <a:srgbClr val="1C2321"/>
                </a:solidFill>
                <a:latin typeface="Calibri" pitchFamily="34" charset="0"/>
                <a:ea typeface="Calibri" pitchFamily="34" charset="-122"/>
                <a:cs typeface="Calibri" pitchFamily="34" charset="-120"/>
              </a:rPr>
              <a:t>Chỗ ít hơn số người muốn vào</a:t>
            </a:r>
            <a:endParaRPr lang="en-US" sz="1500" dirty="0"/>
          </a:p>
        </p:txBody>
      </p:sp>
      <p:sp>
        <p:nvSpPr>
          <p:cNvPr id="8" name="Text 5"/>
          <p:cNvSpPr txBox="1"/>
          <p:nvPr/>
        </p:nvSpPr>
        <p:spPr>
          <a:xfrm>
            <a:off x="1417320" y="1847088"/>
            <a:ext cx="2880360" cy="77724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Những CLB đông người đăng ký buộc phải từ chối bớt. Vì vậy cần một cách chọn mà học sinh và phụ huynh thấy hợp lý.</a:t>
            </a:r>
            <a:endParaRPr lang="en-US" sz="1200" dirty="0"/>
          </a:p>
        </p:txBody>
      </p:sp>
      <p:sp>
        <p:nvSpPr>
          <p:cNvPr id="9" name="Shape 6"/>
          <p:cNvSpPr/>
          <p:nvPr/>
        </p:nvSpPr>
        <p:spPr>
          <a:xfrm>
            <a:off x="4663440" y="1188720"/>
            <a:ext cx="4023360" cy="1554480"/>
          </a:xfrm>
          <a:prstGeom prst="roundRect">
            <a:avLst>
              <a:gd name="adj" fmla="val 4706"/>
            </a:avLst>
          </a:prstGeom>
          <a:solidFill>
            <a:srgbClr val="FFFFFF"/>
          </a:solidFill>
          <a:ln w="9525">
            <a:solidFill>
              <a:srgbClr val="DBDCD5"/>
            </a:solidFill>
            <a:prstDash val="solid"/>
          </a:ln>
        </p:spPr>
      </p:sp>
      <p:sp>
        <p:nvSpPr>
          <p:cNvPr id="10" name="Shape 7"/>
          <p:cNvSpPr/>
          <p:nvPr/>
        </p:nvSpPr>
        <p:spPr>
          <a:xfrm>
            <a:off x="4892040" y="1463040"/>
            <a:ext cx="548640" cy="548640"/>
          </a:xfrm>
          <a:prstGeom prst="ellipse">
            <a:avLst/>
          </a:prstGeom>
          <a:solidFill>
            <a:srgbClr val="F1DFB8"/>
          </a:solidFill>
          <a:ln w="12700">
            <a:solidFill>
              <a:srgbClr val="F1DFB8"/>
            </a:solidFill>
            <a:prstDash val="solid"/>
          </a:ln>
        </p:spPr>
      </p:sp>
      <p:pic>
        <p:nvPicPr>
          <p:cNvPr id="11" name="Image 1" descr="preencoded.png">    </p:cNvPr>
          <p:cNvPicPr>
            <a:picLocks noChangeAspect="1"/>
          </p:cNvPicPr>
          <p:nvPr/>
        </p:nvPicPr>
        <p:blipFill>
          <a:blip r:embed="rId2"/>
          <a:stretch>
            <a:fillRect/>
          </a:stretch>
        </p:blipFill>
        <p:spPr>
          <a:xfrm>
            <a:off x="5034686" y="1605686"/>
            <a:ext cx="263347" cy="263347"/>
          </a:xfrm>
          <a:prstGeom prst="rect">
            <a:avLst/>
          </a:prstGeom>
        </p:spPr>
      </p:pic>
      <p:sp>
        <p:nvSpPr>
          <p:cNvPr id="12" name="Text 8"/>
          <p:cNvSpPr txBox="1"/>
          <p:nvPr/>
        </p:nvSpPr>
        <p:spPr>
          <a:xfrm>
            <a:off x="5623560" y="1417320"/>
            <a:ext cx="2880360" cy="411480"/>
          </a:xfrm>
          <a:prstGeom prst="rect">
            <a:avLst/>
          </a:prstGeom>
          <a:noFill/>
          <a:ln/>
        </p:spPr>
        <p:txBody>
          <a:bodyPr wrap="square" lIns="0" tIns="0" rIns="0" bIns="0" rtlCol="0" anchor="t"/>
          <a:lstStyle/>
          <a:p>
            <a:pPr indent="0" marL="0">
              <a:buNone/>
            </a:pPr>
            <a:r>
              <a:rPr lang="en-US" sz="1500" b="1" dirty="0">
                <a:solidFill>
                  <a:srgbClr val="1C2321"/>
                </a:solidFill>
                <a:latin typeface="Calibri" pitchFamily="34" charset="0"/>
                <a:ea typeface="Calibri" pitchFamily="34" charset="-122"/>
                <a:cs typeface="Calibri" pitchFamily="34" charset="-120"/>
              </a:rPr>
              <a:t>Có CLB thi, có CLB không</a:t>
            </a:r>
            <a:endParaRPr lang="en-US" sz="1500" dirty="0"/>
          </a:p>
        </p:txBody>
      </p:sp>
      <p:sp>
        <p:nvSpPr>
          <p:cNvPr id="13" name="Text 9"/>
          <p:cNvSpPr txBox="1"/>
          <p:nvPr/>
        </p:nvSpPr>
        <p:spPr>
          <a:xfrm>
            <a:off x="5623560" y="1847088"/>
            <a:ext cx="2880360" cy="77724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Một số CLB tổ chức thi tuyển, số khác thì không. Cách xét thông thường khó xử lý cả hai loại trong cùng một đợt.</a:t>
            </a:r>
            <a:endParaRPr lang="en-US" sz="1200" dirty="0"/>
          </a:p>
        </p:txBody>
      </p:sp>
      <p:sp>
        <p:nvSpPr>
          <p:cNvPr id="14" name="Shape 10"/>
          <p:cNvSpPr/>
          <p:nvPr/>
        </p:nvSpPr>
        <p:spPr>
          <a:xfrm>
            <a:off x="457200" y="2971800"/>
            <a:ext cx="4023360" cy="1554480"/>
          </a:xfrm>
          <a:prstGeom prst="roundRect">
            <a:avLst>
              <a:gd name="adj" fmla="val 4706"/>
            </a:avLst>
          </a:prstGeom>
          <a:solidFill>
            <a:srgbClr val="FFFFFF"/>
          </a:solidFill>
          <a:ln w="9525">
            <a:solidFill>
              <a:srgbClr val="DBDCD5"/>
            </a:solidFill>
            <a:prstDash val="solid"/>
          </a:ln>
        </p:spPr>
      </p:sp>
      <p:sp>
        <p:nvSpPr>
          <p:cNvPr id="15" name="Shape 11"/>
          <p:cNvSpPr/>
          <p:nvPr/>
        </p:nvSpPr>
        <p:spPr>
          <a:xfrm>
            <a:off x="685800" y="3246120"/>
            <a:ext cx="548640" cy="548640"/>
          </a:xfrm>
          <a:prstGeom prst="ellipse">
            <a:avLst/>
          </a:prstGeom>
          <a:solidFill>
            <a:srgbClr val="F1DFB8"/>
          </a:solidFill>
          <a:ln w="12700">
            <a:solidFill>
              <a:srgbClr val="F1DFB8"/>
            </a:solidFill>
            <a:prstDash val="solid"/>
          </a:ln>
        </p:spPr>
      </p:sp>
      <p:pic>
        <p:nvPicPr>
          <p:cNvPr id="16" name="Image 2" descr="preencoded.png">    </p:cNvPr>
          <p:cNvPicPr>
            <a:picLocks noChangeAspect="1"/>
          </p:cNvPicPr>
          <p:nvPr/>
        </p:nvPicPr>
        <p:blipFill>
          <a:blip r:embed="rId3"/>
          <a:stretch>
            <a:fillRect/>
          </a:stretch>
        </p:blipFill>
        <p:spPr>
          <a:xfrm>
            <a:off x="828446" y="3388766"/>
            <a:ext cx="263347" cy="263347"/>
          </a:xfrm>
          <a:prstGeom prst="rect">
            <a:avLst/>
          </a:prstGeom>
        </p:spPr>
      </p:pic>
      <p:sp>
        <p:nvSpPr>
          <p:cNvPr id="17" name="Text 12"/>
          <p:cNvSpPr txBox="1"/>
          <p:nvPr/>
        </p:nvSpPr>
        <p:spPr>
          <a:xfrm>
            <a:off x="1417320" y="3200400"/>
            <a:ext cx="2880360" cy="411480"/>
          </a:xfrm>
          <a:prstGeom prst="rect">
            <a:avLst/>
          </a:prstGeom>
          <a:noFill/>
          <a:ln/>
        </p:spPr>
        <p:txBody>
          <a:bodyPr wrap="square" lIns="0" tIns="0" rIns="0" bIns="0" rtlCol="0" anchor="t"/>
          <a:lstStyle/>
          <a:p>
            <a:pPr indent="0" marL="0">
              <a:buNone/>
            </a:pPr>
            <a:r>
              <a:rPr lang="en-US" sz="1500" b="1" dirty="0">
                <a:solidFill>
                  <a:srgbClr val="1C2321"/>
                </a:solidFill>
                <a:latin typeface="Calibri" pitchFamily="34" charset="0"/>
                <a:ea typeface="Calibri" pitchFamily="34" charset="-122"/>
                <a:cs typeface="Calibri" pitchFamily="34" charset="-120"/>
              </a:rPr>
              <a:t>Giữ chỗ cho diện ưu tiên</a:t>
            </a:r>
            <a:endParaRPr lang="en-US" sz="1500" dirty="0"/>
          </a:p>
        </p:txBody>
      </p:sp>
      <p:sp>
        <p:nvSpPr>
          <p:cNvPr id="18" name="Text 13"/>
          <p:cNvSpPr txBox="1"/>
          <p:nvPr/>
        </p:nvSpPr>
        <p:spPr>
          <a:xfrm>
            <a:off x="1417320" y="3630168"/>
            <a:ext cx="2880360" cy="77724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Nhà trường có thể muốn dành một số chỗ cho học sinh diện chính sách hoặc học sinh khối 10.</a:t>
            </a:r>
            <a:endParaRPr lang="en-US" sz="1200" dirty="0"/>
          </a:p>
        </p:txBody>
      </p:sp>
      <p:sp>
        <p:nvSpPr>
          <p:cNvPr id="19" name="Shape 14"/>
          <p:cNvSpPr/>
          <p:nvPr/>
        </p:nvSpPr>
        <p:spPr>
          <a:xfrm>
            <a:off x="4663440" y="2971800"/>
            <a:ext cx="4023360" cy="1554480"/>
          </a:xfrm>
          <a:prstGeom prst="roundRect">
            <a:avLst>
              <a:gd name="adj" fmla="val 4706"/>
            </a:avLst>
          </a:prstGeom>
          <a:solidFill>
            <a:srgbClr val="FFFFFF"/>
          </a:solidFill>
          <a:ln w="9525">
            <a:solidFill>
              <a:srgbClr val="DBDCD5"/>
            </a:solidFill>
            <a:prstDash val="solid"/>
          </a:ln>
        </p:spPr>
      </p:sp>
      <p:sp>
        <p:nvSpPr>
          <p:cNvPr id="20" name="Shape 15"/>
          <p:cNvSpPr/>
          <p:nvPr/>
        </p:nvSpPr>
        <p:spPr>
          <a:xfrm>
            <a:off x="4892040" y="3246120"/>
            <a:ext cx="548640" cy="548640"/>
          </a:xfrm>
          <a:prstGeom prst="ellipse">
            <a:avLst/>
          </a:prstGeom>
          <a:solidFill>
            <a:srgbClr val="F3DCD9"/>
          </a:solidFill>
          <a:ln w="12700">
            <a:solidFill>
              <a:srgbClr val="F3DCD9"/>
            </a:solidFill>
            <a:prstDash val="solid"/>
          </a:ln>
        </p:spPr>
      </p:sp>
      <p:pic>
        <p:nvPicPr>
          <p:cNvPr id="21" name="Image 3" descr="preencoded.png">    </p:cNvPr>
          <p:cNvPicPr>
            <a:picLocks noChangeAspect="1"/>
          </p:cNvPicPr>
          <p:nvPr/>
        </p:nvPicPr>
        <p:blipFill>
          <a:blip r:embed="rId4"/>
          <a:stretch>
            <a:fillRect/>
          </a:stretch>
        </p:blipFill>
        <p:spPr>
          <a:xfrm>
            <a:off x="5034686" y="3388766"/>
            <a:ext cx="263347" cy="263347"/>
          </a:xfrm>
          <a:prstGeom prst="rect">
            <a:avLst/>
          </a:prstGeom>
        </p:spPr>
      </p:pic>
      <p:sp>
        <p:nvSpPr>
          <p:cNvPr id="22" name="Text 16"/>
          <p:cNvSpPr txBox="1"/>
          <p:nvPr/>
        </p:nvSpPr>
        <p:spPr>
          <a:xfrm>
            <a:off x="5623560" y="3200400"/>
            <a:ext cx="2880360" cy="411480"/>
          </a:xfrm>
          <a:prstGeom prst="rect">
            <a:avLst/>
          </a:prstGeom>
          <a:noFill/>
          <a:ln/>
        </p:spPr>
        <p:txBody>
          <a:bodyPr wrap="square" lIns="0" tIns="0" rIns="0" bIns="0" rtlCol="0" anchor="t"/>
          <a:lstStyle/>
          <a:p>
            <a:pPr indent="0" marL="0">
              <a:buNone/>
            </a:pPr>
            <a:r>
              <a:rPr lang="en-US" sz="1500" b="1" dirty="0">
                <a:solidFill>
                  <a:srgbClr val="1C2321"/>
                </a:solidFill>
                <a:latin typeface="Calibri" pitchFamily="34" charset="0"/>
                <a:ea typeface="Calibri" pitchFamily="34" charset="-122"/>
                <a:cs typeface="Calibri" pitchFamily="34" charset="-120"/>
              </a:rPr>
              <a:t>Ai nộp trước được trước</a:t>
            </a:r>
            <a:endParaRPr lang="en-US" sz="1500" dirty="0"/>
          </a:p>
        </p:txBody>
      </p:sp>
      <p:sp>
        <p:nvSpPr>
          <p:cNvPr id="23" name="Text 17"/>
          <p:cNvSpPr txBox="1"/>
          <p:nvPr/>
        </p:nvSpPr>
        <p:spPr>
          <a:xfrm>
            <a:off x="5623560" y="3630168"/>
            <a:ext cx="2880360" cy="77724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Nếu xét theo thứ tự đăng ký, học sinh nộp sớm có lợi còn học sinh nộp muộn chịu thiệt, dù nguyện vọng và năng lực như nhau.</a:t>
            </a:r>
            <a:endParaRPr lang="en-US" sz="1200" dirty="0"/>
          </a:p>
        </p:txBody>
      </p:sp>
      <p:sp>
        <p:nvSpPr>
          <p:cNvPr id="24"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GIẢI PHÁP</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Nạp ba tệp Excel, nhận danh sách từng CLB</a:t>
            </a:r>
            <a:endParaRPr lang="en-US" sz="3000" dirty="0"/>
          </a:p>
        </p:txBody>
      </p:sp>
      <p:sp>
        <p:nvSpPr>
          <p:cNvPr id="4" name="Shape 2"/>
          <p:cNvSpPr/>
          <p:nvPr/>
        </p:nvSpPr>
        <p:spPr>
          <a:xfrm>
            <a:off x="457200" y="1325880"/>
            <a:ext cx="2468880" cy="2514600"/>
          </a:xfrm>
          <a:prstGeom prst="roundRect">
            <a:avLst>
              <a:gd name="adj" fmla="val 2963"/>
            </a:avLst>
          </a:prstGeom>
          <a:solidFill>
            <a:srgbClr val="FFFFFF"/>
          </a:solidFill>
          <a:ln w="9525">
            <a:solidFill>
              <a:srgbClr val="DBDCD5"/>
            </a:solidFill>
            <a:prstDash val="solid"/>
          </a:ln>
        </p:spPr>
      </p:sp>
      <p:sp>
        <p:nvSpPr>
          <p:cNvPr id="5" name="Shape 3"/>
          <p:cNvSpPr/>
          <p:nvPr/>
        </p:nvSpPr>
        <p:spPr>
          <a:xfrm>
            <a:off x="685800" y="1600200"/>
            <a:ext cx="640080" cy="640080"/>
          </a:xfrm>
          <a:prstGeom prst="ellipse">
            <a:avLst/>
          </a:prstGeom>
          <a:solidFill>
            <a:srgbClr val="DCE9E0"/>
          </a:solidFill>
          <a:ln w="12700">
            <a:solidFill>
              <a:srgbClr val="DCE9E0"/>
            </a:solidFill>
            <a:prstDash val="solid"/>
          </a:ln>
        </p:spPr>
      </p:sp>
      <p:pic>
        <p:nvPicPr>
          <p:cNvPr id="6" name="Image 0" descr="preencoded.png">    </p:cNvPr>
          <p:cNvPicPr>
            <a:picLocks noChangeAspect="1"/>
          </p:cNvPicPr>
          <p:nvPr/>
        </p:nvPicPr>
        <p:blipFill>
          <a:blip r:embed="rId1"/>
          <a:stretch>
            <a:fillRect/>
          </a:stretch>
        </p:blipFill>
        <p:spPr>
          <a:xfrm>
            <a:off x="852221" y="1766621"/>
            <a:ext cx="307238" cy="307238"/>
          </a:xfrm>
          <a:prstGeom prst="rect">
            <a:avLst/>
          </a:prstGeom>
        </p:spPr>
      </p:pic>
      <p:sp>
        <p:nvSpPr>
          <p:cNvPr id="7" name="Text 4"/>
          <p:cNvSpPr txBox="1"/>
          <p:nvPr/>
        </p:nvSpPr>
        <p:spPr>
          <a:xfrm>
            <a:off x="685800" y="2377440"/>
            <a:ext cx="2011680" cy="228600"/>
          </a:xfrm>
          <a:prstGeom prst="rect">
            <a:avLst/>
          </a:prstGeom>
          <a:noFill/>
          <a:ln/>
        </p:spPr>
        <p:txBody>
          <a:bodyPr wrap="square" lIns="0" tIns="0" rIns="0" bIns="0" rtlCol="0" anchor="ctr"/>
          <a:lstStyle/>
          <a:p>
            <a:pPr indent="0" marL="0">
              <a:buNone/>
            </a:pPr>
            <a:r>
              <a:rPr lang="en-US" sz="1000" b="1" spc="200" kern="0" dirty="0">
                <a:solidFill>
                  <a:srgbClr val="3F6B52"/>
                </a:solidFill>
                <a:latin typeface="Calibri" pitchFamily="34" charset="0"/>
                <a:ea typeface="Calibri" pitchFamily="34" charset="-122"/>
                <a:cs typeface="Calibri" pitchFamily="34" charset="-120"/>
              </a:rPr>
              <a:t>ĐẦU VÀO</a:t>
            </a:r>
            <a:endParaRPr lang="en-US" sz="1000" dirty="0"/>
          </a:p>
        </p:txBody>
      </p:sp>
      <p:sp>
        <p:nvSpPr>
          <p:cNvPr id="8" name="Text 5"/>
          <p:cNvSpPr txBox="1"/>
          <p:nvPr/>
        </p:nvSpPr>
        <p:spPr>
          <a:xfrm>
            <a:off x="685800" y="2624328"/>
            <a:ext cx="2011680" cy="365760"/>
          </a:xfrm>
          <a:prstGeom prst="rect">
            <a:avLst/>
          </a:prstGeom>
          <a:noFill/>
          <a:ln/>
        </p:spPr>
        <p:txBody>
          <a:bodyPr wrap="square" lIns="0" tIns="0" rIns="0" bIns="0" rtlCol="0" anchor="ctr"/>
          <a:lstStyle/>
          <a:p>
            <a:pPr indent="0" marL="0">
              <a:buNone/>
            </a:pPr>
            <a:r>
              <a:rPr lang="en-US" sz="1600" b="1" dirty="0">
                <a:solidFill>
                  <a:srgbClr val="1C2321"/>
                </a:solidFill>
                <a:latin typeface="Calibri" pitchFamily="34" charset="0"/>
                <a:ea typeface="Calibri" pitchFamily="34" charset="-122"/>
                <a:cs typeface="Calibri" pitchFamily="34" charset="-120"/>
              </a:rPr>
              <a:t>Ba tệp Excel</a:t>
            </a:r>
            <a:endParaRPr lang="en-US" sz="1600" dirty="0"/>
          </a:p>
        </p:txBody>
      </p:sp>
      <p:sp>
        <p:nvSpPr>
          <p:cNvPr id="9" name="Text 6"/>
          <p:cNvSpPr txBox="1"/>
          <p:nvPr/>
        </p:nvSpPr>
        <p:spPr>
          <a:xfrm>
            <a:off x="685800" y="3017520"/>
            <a:ext cx="2011680" cy="73152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Danh sách CLB, các CLB học sinh muốn thi kèm điểm, và thứ tự nguyện vọng. Lấy thẳng từ Microsoft Forms.</a:t>
            </a:r>
            <a:endParaRPr lang="en-US" sz="1100" dirty="0"/>
          </a:p>
        </p:txBody>
      </p:sp>
      <p:pic>
        <p:nvPicPr>
          <p:cNvPr id="10" name="Image 1" descr="preencoded.png">    </p:cNvPr>
          <p:cNvPicPr>
            <a:picLocks noChangeAspect="1"/>
          </p:cNvPicPr>
          <p:nvPr/>
        </p:nvPicPr>
        <p:blipFill>
          <a:blip r:embed="rId2"/>
          <a:stretch>
            <a:fillRect/>
          </a:stretch>
        </p:blipFill>
        <p:spPr>
          <a:xfrm>
            <a:off x="3017520" y="2423160"/>
            <a:ext cx="228600" cy="228600"/>
          </a:xfrm>
          <a:prstGeom prst="rect">
            <a:avLst/>
          </a:prstGeom>
        </p:spPr>
      </p:pic>
      <p:sp>
        <p:nvSpPr>
          <p:cNvPr id="11" name="Shape 7"/>
          <p:cNvSpPr/>
          <p:nvPr/>
        </p:nvSpPr>
        <p:spPr>
          <a:xfrm>
            <a:off x="3337560" y="1325880"/>
            <a:ext cx="2468880" cy="2514600"/>
          </a:xfrm>
          <a:prstGeom prst="roundRect">
            <a:avLst>
              <a:gd name="adj" fmla="val 2963"/>
            </a:avLst>
          </a:prstGeom>
          <a:solidFill>
            <a:srgbClr val="FFFFFF"/>
          </a:solidFill>
          <a:ln w="9525">
            <a:solidFill>
              <a:srgbClr val="DBDCD5"/>
            </a:solidFill>
            <a:prstDash val="solid"/>
          </a:ln>
        </p:spPr>
      </p:sp>
      <p:sp>
        <p:nvSpPr>
          <p:cNvPr id="12" name="Shape 8"/>
          <p:cNvSpPr/>
          <p:nvPr/>
        </p:nvSpPr>
        <p:spPr>
          <a:xfrm>
            <a:off x="3566160" y="1600200"/>
            <a:ext cx="640080" cy="640080"/>
          </a:xfrm>
          <a:prstGeom prst="ellipse">
            <a:avLst/>
          </a:prstGeom>
          <a:solidFill>
            <a:srgbClr val="F1DFB8"/>
          </a:solidFill>
          <a:ln w="12700">
            <a:solidFill>
              <a:srgbClr val="F1DFB8"/>
            </a:solidFill>
            <a:prstDash val="solid"/>
          </a:ln>
        </p:spPr>
      </p:sp>
      <p:pic>
        <p:nvPicPr>
          <p:cNvPr id="13" name="Image 2" descr="preencoded.png">    </p:cNvPr>
          <p:cNvPicPr>
            <a:picLocks noChangeAspect="1"/>
          </p:cNvPicPr>
          <p:nvPr/>
        </p:nvPicPr>
        <p:blipFill>
          <a:blip r:embed="rId3"/>
          <a:stretch>
            <a:fillRect/>
          </a:stretch>
        </p:blipFill>
        <p:spPr>
          <a:xfrm>
            <a:off x="3732581" y="1766621"/>
            <a:ext cx="307238" cy="307238"/>
          </a:xfrm>
          <a:prstGeom prst="rect">
            <a:avLst/>
          </a:prstGeom>
        </p:spPr>
      </p:pic>
      <p:sp>
        <p:nvSpPr>
          <p:cNvPr id="14" name="Text 9"/>
          <p:cNvSpPr txBox="1"/>
          <p:nvPr/>
        </p:nvSpPr>
        <p:spPr>
          <a:xfrm>
            <a:off x="3566160" y="2377440"/>
            <a:ext cx="201168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PHẦN MỀM</a:t>
            </a:r>
            <a:endParaRPr lang="en-US" sz="1000" dirty="0"/>
          </a:p>
        </p:txBody>
      </p:sp>
      <p:sp>
        <p:nvSpPr>
          <p:cNvPr id="15" name="Text 10"/>
          <p:cNvSpPr txBox="1"/>
          <p:nvPr/>
        </p:nvSpPr>
        <p:spPr>
          <a:xfrm>
            <a:off x="3566160" y="2624328"/>
            <a:ext cx="2011680" cy="365760"/>
          </a:xfrm>
          <a:prstGeom prst="rect">
            <a:avLst/>
          </a:prstGeom>
          <a:noFill/>
          <a:ln/>
        </p:spPr>
        <p:txBody>
          <a:bodyPr wrap="square" lIns="0" tIns="0" rIns="0" bIns="0" rtlCol="0" anchor="ctr"/>
          <a:lstStyle/>
          <a:p>
            <a:pPr indent="0" marL="0">
              <a:buNone/>
            </a:pPr>
            <a:r>
              <a:rPr lang="en-US" sz="1600" b="1" dirty="0">
                <a:solidFill>
                  <a:srgbClr val="1C2321"/>
                </a:solidFill>
                <a:latin typeface="Calibri" pitchFamily="34" charset="0"/>
                <a:ea typeface="Calibri" pitchFamily="34" charset="-122"/>
                <a:cs typeface="Calibri" pitchFamily="34" charset="-120"/>
              </a:rPr>
              <a:t>Kiểm tra và xếp chỗ</a:t>
            </a:r>
            <a:endParaRPr lang="en-US" sz="1600" dirty="0"/>
          </a:p>
        </p:txBody>
      </p:sp>
      <p:sp>
        <p:nvSpPr>
          <p:cNvPr id="16" name="Text 11"/>
          <p:cNvSpPr txBox="1"/>
          <p:nvPr/>
        </p:nvSpPr>
        <p:spPr>
          <a:xfrm>
            <a:off x="3566160" y="3017520"/>
            <a:ext cx="2011680" cy="73152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Tự nhận ra từng loại tệp, báo những chỗ dữ liệu còn thiếu, rồi chạy thuật toán RB-DA.</a:t>
            </a:r>
            <a:endParaRPr lang="en-US" sz="1100" dirty="0"/>
          </a:p>
        </p:txBody>
      </p:sp>
      <p:pic>
        <p:nvPicPr>
          <p:cNvPr id="17" name="Image 3" descr="preencoded.png">    </p:cNvPr>
          <p:cNvPicPr>
            <a:picLocks noChangeAspect="1"/>
          </p:cNvPicPr>
          <p:nvPr/>
        </p:nvPicPr>
        <p:blipFill>
          <a:blip r:embed="rId4"/>
          <a:stretch>
            <a:fillRect/>
          </a:stretch>
        </p:blipFill>
        <p:spPr>
          <a:xfrm>
            <a:off x="5897880" y="2423160"/>
            <a:ext cx="228600" cy="228600"/>
          </a:xfrm>
          <a:prstGeom prst="rect">
            <a:avLst/>
          </a:prstGeom>
        </p:spPr>
      </p:pic>
      <p:sp>
        <p:nvSpPr>
          <p:cNvPr id="18" name="Shape 12"/>
          <p:cNvSpPr/>
          <p:nvPr/>
        </p:nvSpPr>
        <p:spPr>
          <a:xfrm>
            <a:off x="6217920" y="1325880"/>
            <a:ext cx="2468880" cy="2514600"/>
          </a:xfrm>
          <a:prstGeom prst="roundRect">
            <a:avLst>
              <a:gd name="adj" fmla="val 2963"/>
            </a:avLst>
          </a:prstGeom>
          <a:solidFill>
            <a:srgbClr val="FFFFFF"/>
          </a:solidFill>
          <a:ln w="9525">
            <a:solidFill>
              <a:srgbClr val="DBDCD5"/>
            </a:solidFill>
            <a:prstDash val="solid"/>
          </a:ln>
        </p:spPr>
      </p:sp>
      <p:sp>
        <p:nvSpPr>
          <p:cNvPr id="19" name="Shape 13"/>
          <p:cNvSpPr/>
          <p:nvPr/>
        </p:nvSpPr>
        <p:spPr>
          <a:xfrm>
            <a:off x="6446520" y="1600200"/>
            <a:ext cx="640080" cy="640080"/>
          </a:xfrm>
          <a:prstGeom prst="ellipse">
            <a:avLst/>
          </a:prstGeom>
          <a:solidFill>
            <a:srgbClr val="DCE9E0"/>
          </a:solidFill>
          <a:ln w="12700">
            <a:solidFill>
              <a:srgbClr val="DCE9E0"/>
            </a:solidFill>
            <a:prstDash val="solid"/>
          </a:ln>
        </p:spPr>
      </p:sp>
      <p:pic>
        <p:nvPicPr>
          <p:cNvPr id="20" name="Image 4" descr="preencoded.png">    </p:cNvPr>
          <p:cNvPicPr>
            <a:picLocks noChangeAspect="1"/>
          </p:cNvPicPr>
          <p:nvPr/>
        </p:nvPicPr>
        <p:blipFill>
          <a:blip r:embed="rId5"/>
          <a:stretch>
            <a:fillRect/>
          </a:stretch>
        </p:blipFill>
        <p:spPr>
          <a:xfrm>
            <a:off x="6612941" y="1766621"/>
            <a:ext cx="307238" cy="307238"/>
          </a:xfrm>
          <a:prstGeom prst="rect">
            <a:avLst/>
          </a:prstGeom>
        </p:spPr>
      </p:pic>
      <p:sp>
        <p:nvSpPr>
          <p:cNvPr id="21" name="Text 14"/>
          <p:cNvSpPr txBox="1"/>
          <p:nvPr/>
        </p:nvSpPr>
        <p:spPr>
          <a:xfrm>
            <a:off x="6446520" y="2377440"/>
            <a:ext cx="2011680" cy="228600"/>
          </a:xfrm>
          <a:prstGeom prst="rect">
            <a:avLst/>
          </a:prstGeom>
          <a:noFill/>
          <a:ln/>
        </p:spPr>
        <p:txBody>
          <a:bodyPr wrap="square" lIns="0" tIns="0" rIns="0" bIns="0" rtlCol="0" anchor="ctr"/>
          <a:lstStyle/>
          <a:p>
            <a:pPr indent="0" marL="0">
              <a:buNone/>
            </a:pPr>
            <a:r>
              <a:rPr lang="en-US" sz="1000" b="1" spc="200" kern="0" dirty="0">
                <a:solidFill>
                  <a:srgbClr val="3F6B52"/>
                </a:solidFill>
                <a:latin typeface="Calibri" pitchFamily="34" charset="0"/>
                <a:ea typeface="Calibri" pitchFamily="34" charset="-122"/>
                <a:cs typeface="Calibri" pitchFamily="34" charset="-120"/>
              </a:rPr>
              <a:t>ĐẦU RA</a:t>
            </a:r>
            <a:endParaRPr lang="en-US" sz="1000" dirty="0"/>
          </a:p>
        </p:txBody>
      </p:sp>
      <p:sp>
        <p:nvSpPr>
          <p:cNvPr id="22" name="Text 15"/>
          <p:cNvSpPr txBox="1"/>
          <p:nvPr/>
        </p:nvSpPr>
        <p:spPr>
          <a:xfrm>
            <a:off x="6446520" y="2624328"/>
            <a:ext cx="2011680" cy="365760"/>
          </a:xfrm>
          <a:prstGeom prst="rect">
            <a:avLst/>
          </a:prstGeom>
          <a:noFill/>
          <a:ln/>
        </p:spPr>
        <p:txBody>
          <a:bodyPr wrap="square" lIns="0" tIns="0" rIns="0" bIns="0" rtlCol="0" anchor="ctr"/>
          <a:lstStyle/>
          <a:p>
            <a:pPr indent="0" marL="0">
              <a:buNone/>
            </a:pPr>
            <a:r>
              <a:rPr lang="en-US" sz="1600" b="1" dirty="0">
                <a:solidFill>
                  <a:srgbClr val="1C2321"/>
                </a:solidFill>
                <a:latin typeface="Calibri" pitchFamily="34" charset="0"/>
                <a:ea typeface="Calibri" pitchFamily="34" charset="-122"/>
                <a:cs typeface="Calibri" pitchFamily="34" charset="-120"/>
              </a:rPr>
              <a:t>Kết quả để gửi đi</a:t>
            </a:r>
            <a:endParaRPr lang="en-US" sz="1600" dirty="0"/>
          </a:p>
        </p:txBody>
      </p:sp>
      <p:sp>
        <p:nvSpPr>
          <p:cNvPr id="23" name="Text 16"/>
          <p:cNvSpPr txBox="1"/>
          <p:nvPr/>
        </p:nvSpPr>
        <p:spPr>
          <a:xfrm>
            <a:off x="6446520" y="3017520"/>
            <a:ext cx="2011680" cy="73152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Một tệp tổng cho nhà trường, một tệp riêng cho mỗi CLB, và danh sách học sinh chưa có chỗ.</a:t>
            </a:r>
            <a:endParaRPr lang="en-US" sz="1100" dirty="0"/>
          </a:p>
        </p:txBody>
      </p:sp>
      <p:sp>
        <p:nvSpPr>
          <p:cNvPr id="24" name="Text 17"/>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300" b="1" dirty="0">
                <a:solidFill>
                  <a:srgbClr val="3F6B52"/>
                </a:solidFill>
                <a:latin typeface="Calibri" pitchFamily="34" charset="0"/>
                <a:ea typeface="Calibri" pitchFamily="34" charset="-122"/>
                <a:cs typeface="Calibri" pitchFamily="34" charset="-120"/>
              </a:rPr>
              <a:t>Không cần Internet.</a:t>
            </a:r>
            <a:pPr indent="0" marL="0">
              <a:buNone/>
            </a:pPr>
            <a:r>
              <a:rPr lang="en-US" sz="1300" dirty="0">
                <a:solidFill>
                  <a:srgbClr val="3A423F"/>
                </a:solidFill>
                <a:latin typeface="Calibri" pitchFamily="34" charset="0"/>
                <a:ea typeface="Calibri" pitchFamily="34" charset="-122"/>
                <a:cs typeface="Calibri" pitchFamily="34" charset="-120"/>
              </a:rPr>
              <a:t> Phần mềm chạy trên một máy Windows 10 hoặc 11, không cần cài đặt, và dữ liệu học sinh không bị gửi ra ngoài.</a:t>
            </a:r>
            <a:endParaRPr lang="en-US" sz="1300" dirty="0"/>
          </a:p>
        </p:txBody>
      </p:sp>
      <p:sp>
        <p:nvSpPr>
          <p:cNvPr id="25"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CÁCH PHẦN MỀM QUYẾT ĐỊNH</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Bốn quy tắc chung cho mọi học sinh</a:t>
            </a:r>
            <a:endParaRPr lang="en-US" sz="3000" dirty="0"/>
          </a:p>
        </p:txBody>
      </p:sp>
      <p:sp>
        <p:nvSpPr>
          <p:cNvPr id="4" name="Shape 2"/>
          <p:cNvSpPr/>
          <p:nvPr/>
        </p:nvSpPr>
        <p:spPr>
          <a:xfrm>
            <a:off x="457200" y="1188720"/>
            <a:ext cx="594360" cy="594360"/>
          </a:xfrm>
          <a:prstGeom prst="ellipse">
            <a:avLst/>
          </a:prstGeom>
          <a:solidFill>
            <a:srgbClr val="1C2321"/>
          </a:solidFill>
          <a:ln w="12700">
            <a:solidFill>
              <a:srgbClr val="1C2321"/>
            </a:solidFill>
            <a:prstDash val="solid"/>
          </a:ln>
        </p:spPr>
      </p:sp>
      <p:pic>
        <p:nvPicPr>
          <p:cNvPr id="5" name="Image 0" descr="preencoded.png">    </p:cNvPr>
          <p:cNvPicPr>
            <a:picLocks noChangeAspect="1"/>
          </p:cNvPicPr>
          <p:nvPr/>
        </p:nvPicPr>
        <p:blipFill>
          <a:blip r:embed="rId1"/>
          <a:stretch>
            <a:fillRect/>
          </a:stretch>
        </p:blipFill>
        <p:spPr>
          <a:xfrm>
            <a:off x="611734" y="1343254"/>
            <a:ext cx="285293" cy="285293"/>
          </a:xfrm>
          <a:prstGeom prst="rect">
            <a:avLst/>
          </a:prstGeom>
        </p:spPr>
      </p:pic>
      <p:sp>
        <p:nvSpPr>
          <p:cNvPr id="6" name="Text 3"/>
          <p:cNvSpPr txBox="1"/>
          <p:nvPr/>
        </p:nvSpPr>
        <p:spPr>
          <a:xfrm>
            <a:off x="1280160" y="1188720"/>
            <a:ext cx="4206240" cy="320040"/>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Học sinh nộp đơn theo thứ tự nguyện vọng</a:t>
            </a:r>
            <a:endParaRPr lang="en-US" sz="1500" dirty="0"/>
          </a:p>
        </p:txBody>
      </p:sp>
      <p:sp>
        <p:nvSpPr>
          <p:cNvPr id="7" name="Text 4"/>
          <p:cNvSpPr txBox="1"/>
          <p:nvPr/>
        </p:nvSpPr>
        <p:spPr>
          <a:xfrm>
            <a:off x="1280160" y="1508760"/>
            <a:ext cx="420624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Nếu không được nhận ở nguyện vọng 1, đơn tự chuyển sang nguyện vọng 2, rồi 3, cứ thế tiếp tục.</a:t>
            </a:r>
            <a:endParaRPr lang="en-US" sz="1200" dirty="0"/>
          </a:p>
        </p:txBody>
      </p:sp>
      <p:sp>
        <p:nvSpPr>
          <p:cNvPr id="8" name="Shape 5"/>
          <p:cNvSpPr/>
          <p:nvPr/>
        </p:nvSpPr>
        <p:spPr>
          <a:xfrm>
            <a:off x="457200" y="2084832"/>
            <a:ext cx="594360" cy="594360"/>
          </a:xfrm>
          <a:prstGeom prst="ellipse">
            <a:avLst/>
          </a:prstGeom>
          <a:solidFill>
            <a:srgbClr val="1C2321"/>
          </a:solidFill>
          <a:ln w="12700">
            <a:solidFill>
              <a:srgbClr val="1C2321"/>
            </a:solidFill>
            <a:prstDash val="solid"/>
          </a:ln>
        </p:spPr>
      </p:sp>
      <p:pic>
        <p:nvPicPr>
          <p:cNvPr id="9" name="Image 1" descr="preencoded.png">    </p:cNvPr>
          <p:cNvPicPr>
            <a:picLocks noChangeAspect="1"/>
          </p:cNvPicPr>
          <p:nvPr/>
        </p:nvPicPr>
        <p:blipFill>
          <a:blip r:embed="rId2"/>
          <a:stretch>
            <a:fillRect/>
          </a:stretch>
        </p:blipFill>
        <p:spPr>
          <a:xfrm>
            <a:off x="611734" y="2239366"/>
            <a:ext cx="285293" cy="285293"/>
          </a:xfrm>
          <a:prstGeom prst="rect">
            <a:avLst/>
          </a:prstGeom>
        </p:spPr>
      </p:pic>
      <p:sp>
        <p:nvSpPr>
          <p:cNvPr id="10" name="Text 6"/>
          <p:cNvSpPr txBox="1"/>
          <p:nvPr/>
        </p:nvSpPr>
        <p:spPr>
          <a:xfrm>
            <a:off x="1280160" y="2084832"/>
            <a:ext cx="4206240" cy="320040"/>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CLB giữ chỗ tạm, chưa chốt ngay</a:t>
            </a:r>
            <a:endParaRPr lang="en-US" sz="1500" dirty="0"/>
          </a:p>
        </p:txBody>
      </p:sp>
      <p:sp>
        <p:nvSpPr>
          <p:cNvPr id="11" name="Text 7"/>
          <p:cNvSpPr txBox="1"/>
          <p:nvPr/>
        </p:nvSpPr>
        <p:spPr>
          <a:xfrm>
            <a:off x="1280160" y="2404872"/>
            <a:ext cx="420624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Học sinh phù hợp hơn dù đến sau vẫn được xét đầy đủ, nên nộp sớm hay muộn không ảnh hưởng kết quả.</a:t>
            </a:r>
            <a:endParaRPr lang="en-US" sz="1200" dirty="0"/>
          </a:p>
        </p:txBody>
      </p:sp>
      <p:sp>
        <p:nvSpPr>
          <p:cNvPr id="12" name="Shape 8"/>
          <p:cNvSpPr/>
          <p:nvPr/>
        </p:nvSpPr>
        <p:spPr>
          <a:xfrm>
            <a:off x="457200" y="2980944"/>
            <a:ext cx="594360" cy="594360"/>
          </a:xfrm>
          <a:prstGeom prst="ellipse">
            <a:avLst/>
          </a:prstGeom>
          <a:solidFill>
            <a:srgbClr val="1C2321"/>
          </a:solidFill>
          <a:ln w="12700">
            <a:solidFill>
              <a:srgbClr val="1C2321"/>
            </a:solidFill>
            <a:prstDash val="solid"/>
          </a:ln>
        </p:spPr>
      </p:sp>
      <p:pic>
        <p:nvPicPr>
          <p:cNvPr id="13" name="Image 2" descr="preencoded.png">    </p:cNvPr>
          <p:cNvPicPr>
            <a:picLocks noChangeAspect="1"/>
          </p:cNvPicPr>
          <p:nvPr/>
        </p:nvPicPr>
        <p:blipFill>
          <a:blip r:embed="rId3"/>
          <a:stretch>
            <a:fillRect/>
          </a:stretch>
        </p:blipFill>
        <p:spPr>
          <a:xfrm>
            <a:off x="611734" y="3135478"/>
            <a:ext cx="285293" cy="285293"/>
          </a:xfrm>
          <a:prstGeom prst="rect">
            <a:avLst/>
          </a:prstGeom>
        </p:spPr>
      </p:pic>
      <p:sp>
        <p:nvSpPr>
          <p:cNvPr id="14" name="Text 9"/>
          <p:cNvSpPr txBox="1"/>
          <p:nvPr/>
        </p:nvSpPr>
        <p:spPr>
          <a:xfrm>
            <a:off x="1280160" y="2980944"/>
            <a:ext cx="4206240" cy="320040"/>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Suất dự trữ cho diện ưu tiên</a:t>
            </a:r>
            <a:endParaRPr lang="en-US" sz="1500" dirty="0"/>
          </a:p>
        </p:txBody>
      </p:sp>
      <p:sp>
        <p:nvSpPr>
          <p:cNvPr id="15" name="Text 10"/>
          <p:cNvSpPr txBox="1"/>
          <p:nvPr/>
        </p:nvSpPr>
        <p:spPr>
          <a:xfrm>
            <a:off x="1280160" y="3300984"/>
            <a:ext cx="420624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Nếu không đủ học sinh thuộc diện, chỗ còn trống được trả lại cho xét chung, CLB không bị thiếu người.</a:t>
            </a:r>
            <a:endParaRPr lang="en-US" sz="1200" dirty="0"/>
          </a:p>
        </p:txBody>
      </p:sp>
      <p:sp>
        <p:nvSpPr>
          <p:cNvPr id="16" name="Shape 11"/>
          <p:cNvSpPr/>
          <p:nvPr/>
        </p:nvSpPr>
        <p:spPr>
          <a:xfrm>
            <a:off x="457200" y="3877056"/>
            <a:ext cx="594360" cy="594360"/>
          </a:xfrm>
          <a:prstGeom prst="ellipse">
            <a:avLst/>
          </a:prstGeom>
          <a:solidFill>
            <a:srgbClr val="1C2321"/>
          </a:solidFill>
          <a:ln w="12700">
            <a:solidFill>
              <a:srgbClr val="1C2321"/>
            </a:solidFill>
            <a:prstDash val="solid"/>
          </a:ln>
        </p:spPr>
      </p:sp>
      <p:pic>
        <p:nvPicPr>
          <p:cNvPr id="17" name="Image 3" descr="preencoded.png">    </p:cNvPr>
          <p:cNvPicPr>
            <a:picLocks noChangeAspect="1"/>
          </p:cNvPicPr>
          <p:nvPr/>
        </p:nvPicPr>
        <p:blipFill>
          <a:blip r:embed="rId4"/>
          <a:stretch>
            <a:fillRect/>
          </a:stretch>
        </p:blipFill>
        <p:spPr>
          <a:xfrm>
            <a:off x="611734" y="4031590"/>
            <a:ext cx="285293" cy="285293"/>
          </a:xfrm>
          <a:prstGeom prst="rect">
            <a:avLst/>
          </a:prstGeom>
        </p:spPr>
      </p:pic>
      <p:sp>
        <p:nvSpPr>
          <p:cNvPr id="18" name="Text 12"/>
          <p:cNvSpPr txBox="1"/>
          <p:nvPr/>
        </p:nvSpPr>
        <p:spPr>
          <a:xfrm>
            <a:off x="1280160" y="3877056"/>
            <a:ext cx="4206240" cy="320040"/>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Bốc thăm một lần, dùng cho mọi CLB</a:t>
            </a:r>
            <a:endParaRPr lang="en-US" sz="1500" dirty="0"/>
          </a:p>
        </p:txBody>
      </p:sp>
      <p:sp>
        <p:nvSpPr>
          <p:cNvPr id="19" name="Text 13"/>
          <p:cNvSpPr txBox="1"/>
          <p:nvPr/>
        </p:nvSpPr>
        <p:spPr>
          <a:xfrm>
            <a:off x="1280160" y="4197096"/>
            <a:ext cx="420624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Số bốc thăm chỉ dùng khi hai học sinh ngang nhau. Bốc xong là khóa lại, nên chạy lại vẫn ra đúng kết quả cũ.</a:t>
            </a:r>
            <a:endParaRPr lang="en-US" sz="1200" dirty="0"/>
          </a:p>
        </p:txBody>
      </p:sp>
      <p:sp>
        <p:nvSpPr>
          <p:cNvPr id="20" name="Shape 14"/>
          <p:cNvSpPr/>
          <p:nvPr/>
        </p:nvSpPr>
        <p:spPr>
          <a:xfrm>
            <a:off x="5806440" y="1188720"/>
            <a:ext cx="2880360" cy="3291840"/>
          </a:xfrm>
          <a:prstGeom prst="roundRect">
            <a:avLst>
              <a:gd name="adj" fmla="val 2540"/>
            </a:avLst>
          </a:prstGeom>
          <a:solidFill>
            <a:srgbClr val="1C2321"/>
          </a:solidFill>
          <a:ln w="9525">
            <a:solidFill>
              <a:srgbClr val="DBDCD5"/>
            </a:solidFill>
            <a:prstDash val="solid"/>
          </a:ln>
        </p:spPr>
      </p:sp>
      <p:sp>
        <p:nvSpPr>
          <p:cNvPr id="21" name="Text 15"/>
          <p:cNvSpPr txBox="1"/>
          <p:nvPr/>
        </p:nvSpPr>
        <p:spPr>
          <a:xfrm>
            <a:off x="6080760" y="1417320"/>
            <a:ext cx="2377440" cy="548640"/>
          </a:xfrm>
          <a:prstGeom prst="rect">
            <a:avLst/>
          </a:prstGeom>
          <a:noFill/>
          <a:ln/>
        </p:spPr>
        <p:txBody>
          <a:bodyPr wrap="square" lIns="0" tIns="0" rIns="0" bIns="0" rtlCol="0" anchor="ctr"/>
          <a:lstStyle/>
          <a:p>
            <a:pPr indent="0" marL="0">
              <a:buNone/>
            </a:pPr>
            <a:r>
              <a:rPr lang="en-US" sz="3200" b="1" dirty="0">
                <a:solidFill>
                  <a:srgbClr val="C98A1F"/>
                </a:solidFill>
                <a:latin typeface="Cambria" pitchFamily="34" charset="0"/>
                <a:ea typeface="Cambria" pitchFamily="34" charset="-122"/>
                <a:cs typeface="Cambria" pitchFamily="34" charset="-120"/>
              </a:rPr>
              <a:t>RB-DA</a:t>
            </a:r>
            <a:endParaRPr lang="en-US" sz="3200" dirty="0"/>
          </a:p>
        </p:txBody>
      </p:sp>
      <p:sp>
        <p:nvSpPr>
          <p:cNvPr id="22" name="Text 16"/>
          <p:cNvSpPr txBox="1"/>
          <p:nvPr/>
        </p:nvSpPr>
        <p:spPr>
          <a:xfrm>
            <a:off x="6080760" y="1965960"/>
            <a:ext cx="2377440" cy="457200"/>
          </a:xfrm>
          <a:prstGeom prst="rect">
            <a:avLst/>
          </a:prstGeom>
          <a:noFill/>
          <a:ln/>
        </p:spPr>
        <p:txBody>
          <a:bodyPr wrap="square" lIns="0" tIns="0" rIns="0" bIns="0" rtlCol="0" anchor="ctr"/>
          <a:lstStyle/>
          <a:p>
            <a:pPr indent="0" marL="0">
              <a:buNone/>
            </a:pPr>
            <a:r>
              <a:rPr lang="en-US" sz="1200" i="1" dirty="0">
                <a:solidFill>
                  <a:srgbClr val="C9CEC9"/>
                </a:solidFill>
                <a:latin typeface="Calibri" pitchFamily="34" charset="0"/>
                <a:ea typeface="Calibri" pitchFamily="34" charset="-122"/>
                <a:cs typeface="Calibri" pitchFamily="34" charset="-120"/>
              </a:rPr>
              <a:t>Reserve-Based Deferred Acceptance</a:t>
            </a:r>
            <a:endParaRPr lang="en-US" sz="1200" dirty="0"/>
          </a:p>
        </p:txBody>
      </p:sp>
      <p:sp>
        <p:nvSpPr>
          <p:cNvPr id="23" name="Text 17"/>
          <p:cNvSpPr txBox="1"/>
          <p:nvPr/>
        </p:nvSpPr>
        <p:spPr>
          <a:xfrm>
            <a:off x="6080760" y="2514600"/>
            <a:ext cx="2377440" cy="17830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Thuộc họ thuật toán Gale-Shapley, vốn được dùng trong nhiều hệ thống tuyển sinh theo nguyện vọng. Phần mềm thêm suất dự trữ và bốc thăm dùng chung cho hợp với CLB trong trường.</a:t>
            </a:r>
            <a:endParaRPr lang="en-US" sz="1200" dirty="0"/>
          </a:p>
        </p:txBody>
      </p:sp>
      <p:sp>
        <p:nvSpPr>
          <p:cNvPr id="24"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CLB CÓ THI VÀ KHÔNG THI</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Mỗi CLB xếp học sinh thành hai tầng</a:t>
            </a:r>
            <a:endParaRPr lang="en-US" sz="3000" dirty="0"/>
          </a:p>
        </p:txBody>
      </p:sp>
      <p:sp>
        <p:nvSpPr>
          <p:cNvPr id="4" name="Shape 2"/>
          <p:cNvSpPr/>
          <p:nvPr/>
        </p:nvSpPr>
        <p:spPr>
          <a:xfrm>
            <a:off x="457200" y="1188720"/>
            <a:ext cx="4846320" cy="1051560"/>
          </a:xfrm>
          <a:prstGeom prst="roundRect">
            <a:avLst>
              <a:gd name="adj" fmla="val 6957"/>
            </a:avLst>
          </a:prstGeom>
          <a:solidFill>
            <a:srgbClr val="DCE9E0"/>
          </a:solidFill>
          <a:ln w="9525">
            <a:solidFill>
              <a:srgbClr val="DBDCD5"/>
            </a:solidFill>
            <a:prstDash val="solid"/>
          </a:ln>
        </p:spPr>
      </p:sp>
      <p:sp>
        <p:nvSpPr>
          <p:cNvPr id="5" name="Text 3"/>
          <p:cNvSpPr txBox="1"/>
          <p:nvPr/>
        </p:nvSpPr>
        <p:spPr>
          <a:xfrm>
            <a:off x="685800" y="1371600"/>
            <a:ext cx="1005840" cy="685800"/>
          </a:xfrm>
          <a:prstGeom prst="rect">
            <a:avLst/>
          </a:prstGeom>
          <a:noFill/>
          <a:ln/>
        </p:spPr>
        <p:txBody>
          <a:bodyPr wrap="square" lIns="0" tIns="0" rIns="0" bIns="0" rtlCol="0" anchor="ctr"/>
          <a:lstStyle/>
          <a:p>
            <a:pPr indent="0" marL="0">
              <a:buNone/>
            </a:pPr>
            <a:r>
              <a:rPr lang="en-US" sz="1800" b="1" dirty="0">
                <a:solidFill>
                  <a:srgbClr val="3F6B52"/>
                </a:solidFill>
                <a:latin typeface="Cambria" pitchFamily="34" charset="0"/>
                <a:ea typeface="Cambria" pitchFamily="34" charset="-122"/>
                <a:cs typeface="Cambria" pitchFamily="34" charset="-120"/>
              </a:rPr>
              <a:t>TẦNG 1</a:t>
            </a:r>
            <a:endParaRPr lang="en-US" sz="1800" dirty="0"/>
          </a:p>
        </p:txBody>
      </p:sp>
      <p:sp>
        <p:nvSpPr>
          <p:cNvPr id="6" name="Text 4"/>
          <p:cNvSpPr txBox="1"/>
          <p:nvPr/>
        </p:nvSpPr>
        <p:spPr>
          <a:xfrm>
            <a:off x="1783080" y="1344168"/>
            <a:ext cx="3383280" cy="32004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Học sinh đã được chấm điểm cho CLB đó</a:t>
            </a:r>
            <a:endParaRPr lang="en-US" sz="1400" dirty="0"/>
          </a:p>
        </p:txBody>
      </p:sp>
      <p:sp>
        <p:nvSpPr>
          <p:cNvPr id="7" name="Text 5"/>
          <p:cNvSpPr txBox="1"/>
          <p:nvPr/>
        </p:nvSpPr>
        <p:spPr>
          <a:xfrm>
            <a:off x="1783080" y="1664208"/>
            <a:ext cx="338328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Xếp theo điểm từ cao xuống thấp. Chỉ khi bằng điểm mới dùng đến số bốc thăm.</a:t>
            </a:r>
            <a:endParaRPr lang="en-US" sz="1200" dirty="0"/>
          </a:p>
        </p:txBody>
      </p:sp>
      <p:sp>
        <p:nvSpPr>
          <p:cNvPr id="8" name="Shape 6"/>
          <p:cNvSpPr/>
          <p:nvPr/>
        </p:nvSpPr>
        <p:spPr>
          <a:xfrm>
            <a:off x="457200" y="2423160"/>
            <a:ext cx="4846320" cy="1051560"/>
          </a:xfrm>
          <a:prstGeom prst="roundRect">
            <a:avLst>
              <a:gd name="adj" fmla="val 6957"/>
            </a:avLst>
          </a:prstGeom>
          <a:solidFill>
            <a:srgbClr val="F1DFB8"/>
          </a:solidFill>
          <a:ln w="9525">
            <a:solidFill>
              <a:srgbClr val="DBDCD5"/>
            </a:solidFill>
            <a:prstDash val="solid"/>
          </a:ln>
        </p:spPr>
      </p:sp>
      <p:sp>
        <p:nvSpPr>
          <p:cNvPr id="9" name="Text 7"/>
          <p:cNvSpPr txBox="1"/>
          <p:nvPr/>
        </p:nvSpPr>
        <p:spPr>
          <a:xfrm>
            <a:off x="685800" y="2606040"/>
            <a:ext cx="1005840" cy="685800"/>
          </a:xfrm>
          <a:prstGeom prst="rect">
            <a:avLst/>
          </a:prstGeom>
          <a:noFill/>
          <a:ln/>
        </p:spPr>
        <p:txBody>
          <a:bodyPr wrap="square" lIns="0" tIns="0" rIns="0" bIns="0" rtlCol="0" anchor="ctr"/>
          <a:lstStyle/>
          <a:p>
            <a:pPr indent="0" marL="0">
              <a:buNone/>
            </a:pPr>
            <a:r>
              <a:rPr lang="en-US" sz="1800" b="1" dirty="0">
                <a:solidFill>
                  <a:srgbClr val="C98A1F"/>
                </a:solidFill>
                <a:latin typeface="Cambria" pitchFamily="34" charset="0"/>
                <a:ea typeface="Cambria" pitchFamily="34" charset="-122"/>
                <a:cs typeface="Cambria" pitchFamily="34" charset="-120"/>
              </a:rPr>
              <a:t>TẦNG 2</a:t>
            </a:r>
            <a:endParaRPr lang="en-US" sz="1800" dirty="0"/>
          </a:p>
        </p:txBody>
      </p:sp>
      <p:sp>
        <p:nvSpPr>
          <p:cNvPr id="10" name="Text 8"/>
          <p:cNvSpPr txBox="1"/>
          <p:nvPr/>
        </p:nvSpPr>
        <p:spPr>
          <a:xfrm>
            <a:off x="1783080" y="2578608"/>
            <a:ext cx="3383280" cy="32004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Học sinh đăng ký nhưng không thi CLB đó</a:t>
            </a:r>
            <a:endParaRPr lang="en-US" sz="1400" dirty="0"/>
          </a:p>
        </p:txBody>
      </p:sp>
      <p:sp>
        <p:nvSpPr>
          <p:cNvPr id="11" name="Text 9"/>
          <p:cNvSpPr txBox="1"/>
          <p:nvPr/>
        </p:nvSpPr>
        <p:spPr>
          <a:xfrm>
            <a:off x="1783080" y="2898648"/>
            <a:ext cx="338328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Xếp theo số bốc thăm, luôn đứng sau Tầng 1.</a:t>
            </a:r>
            <a:endParaRPr lang="en-US" sz="1200" dirty="0"/>
          </a:p>
        </p:txBody>
      </p:sp>
      <p:sp>
        <p:nvSpPr>
          <p:cNvPr id="12" name="Text 10"/>
          <p:cNvSpPr txBox="1"/>
          <p:nvPr/>
        </p:nvSpPr>
        <p:spPr>
          <a:xfrm>
            <a:off x="457200" y="3749040"/>
            <a:ext cx="4846320" cy="82296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CLB không biết học sinh đặt mình ở nguyện vọng thứ mấy. </a:t>
            </a:r>
            <a:pPr indent="0" marL="0">
              <a:buNone/>
            </a:pPr>
            <a:r>
              <a:rPr lang="en-US" sz="1200" dirty="0">
                <a:solidFill>
                  <a:srgbClr val="3A423F"/>
                </a:solidFill>
                <a:latin typeface="Calibri" pitchFamily="34" charset="0"/>
                <a:ea typeface="Calibri" pitchFamily="34" charset="-122"/>
                <a:cs typeface="Calibri" pitchFamily="34" charset="-120"/>
              </a:rPr>
              <a:t>Vì thế học sinh cứ ghi đúng mong muốn của mình. Tính toán chiến thuật cũng không được lợi thêm.</a:t>
            </a:r>
            <a:endParaRPr lang="en-US" sz="1200" dirty="0"/>
          </a:p>
        </p:txBody>
      </p:sp>
      <p:sp>
        <p:nvSpPr>
          <p:cNvPr id="13" name="Shape 11"/>
          <p:cNvSpPr/>
          <p:nvPr/>
        </p:nvSpPr>
        <p:spPr>
          <a:xfrm>
            <a:off x="5669280" y="1188720"/>
            <a:ext cx="3017520" cy="3383280"/>
          </a:xfrm>
          <a:prstGeom prst="roundRect">
            <a:avLst>
              <a:gd name="adj" fmla="val 2424"/>
            </a:avLst>
          </a:prstGeom>
          <a:solidFill>
            <a:srgbClr val="FFFFFF"/>
          </a:solidFill>
          <a:ln w="9525">
            <a:solidFill>
              <a:srgbClr val="DBDCD5"/>
            </a:solidFill>
            <a:prstDash val="solid"/>
          </a:ln>
        </p:spPr>
      </p:sp>
      <p:sp>
        <p:nvSpPr>
          <p:cNvPr id="14" name="Shape 12"/>
          <p:cNvSpPr/>
          <p:nvPr/>
        </p:nvSpPr>
        <p:spPr>
          <a:xfrm>
            <a:off x="5897880" y="1417320"/>
            <a:ext cx="548640" cy="548640"/>
          </a:xfrm>
          <a:prstGeom prst="ellipse">
            <a:avLst/>
          </a:prstGeom>
          <a:solidFill>
            <a:srgbClr val="1C2321"/>
          </a:solidFill>
          <a:ln w="12700">
            <a:solidFill>
              <a:srgbClr val="1C2321"/>
            </a:solidFill>
            <a:prstDash val="solid"/>
          </a:ln>
        </p:spPr>
      </p:sp>
      <p:pic>
        <p:nvPicPr>
          <p:cNvPr id="15" name="Image 0" descr="preencoded.png">    </p:cNvPr>
          <p:cNvPicPr>
            <a:picLocks noChangeAspect="1"/>
          </p:cNvPicPr>
          <p:nvPr/>
        </p:nvPicPr>
        <p:blipFill>
          <a:blip r:embed="rId1"/>
          <a:stretch>
            <a:fillRect/>
          </a:stretch>
        </p:blipFill>
        <p:spPr>
          <a:xfrm>
            <a:off x="6040526" y="1559966"/>
            <a:ext cx="263347" cy="263347"/>
          </a:xfrm>
          <a:prstGeom prst="rect">
            <a:avLst/>
          </a:prstGeom>
        </p:spPr>
      </p:pic>
      <p:sp>
        <p:nvSpPr>
          <p:cNvPr id="16" name="Text 13"/>
          <p:cNvSpPr txBox="1"/>
          <p:nvPr/>
        </p:nvSpPr>
        <p:spPr>
          <a:xfrm>
            <a:off x="6583680" y="1463040"/>
            <a:ext cx="2057400" cy="45720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Chấm điểm khách quan</a:t>
            </a:r>
            <a:endParaRPr lang="en-US" sz="1400" dirty="0"/>
          </a:p>
        </p:txBody>
      </p:sp>
      <p:sp>
        <p:nvSpPr>
          <p:cNvPr id="17" name="Text 14"/>
          <p:cNvSpPr txBox="1"/>
          <p:nvPr/>
        </p:nvSpPr>
        <p:spPr>
          <a:xfrm>
            <a:off x="5897880" y="2148840"/>
            <a:ext cx="2606040" cy="2286000"/>
          </a:xfrm>
          <a:prstGeom prst="rect">
            <a:avLst/>
          </a:prstGeom>
          <a:noFill/>
          <a:ln/>
        </p:spPr>
        <p:txBody>
          <a:bodyPr wrap="square" lIns="0" tIns="0" rIns="0" bIns="0" rtlCol="0" anchor="t"/>
          <a:lstStyle/>
          <a:p>
            <a:pPr indent="0" marL="0">
              <a:buNone/>
            </a:pPr>
            <a:r>
              <a:rPr lang="en-US" sz="1300" dirty="0">
                <a:solidFill>
                  <a:srgbClr val="3A423F"/>
                </a:solidFill>
                <a:latin typeface="Calibri" pitchFamily="34" charset="0"/>
                <a:ea typeface="Calibri" pitchFamily="34" charset="-122"/>
                <a:cs typeface="Calibri" pitchFamily="34" charset="-120"/>
              </a:rPr>
              <a:t>Màn hình chấm điểm chỉ hiện mã và họ tên học sinh.</a:t>
            </a:r>
            <a:endParaRPr lang="en-US" sz="1300" dirty="0"/>
          </a:p>
          <a:p>
            <a:pPr indent="0" marL="0">
              <a:buNone/>
            </a:pPr>
            <a:r>
              <a:rPr lang="en-US" sz="600" dirty="0">
                <a:solidFill>
                  <a:srgbClr val="3A423F"/>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3A423F"/>
                </a:solidFill>
                <a:latin typeface="Calibri" pitchFamily="34" charset="0"/>
                <a:ea typeface="Calibri" pitchFamily="34" charset="-122"/>
                <a:cs typeface="Calibri" pitchFamily="34" charset="-120"/>
              </a:rPr>
              <a:t>Giáo viên không thấy số bốc thăm, cũng không biết học sinh đặt CLB mình ở nguyện vọng thứ mấy, nên không thể chấm để ưu ái ai.</a:t>
            </a:r>
            <a:endParaRPr lang="en-US" sz="1300" dirty="0"/>
          </a:p>
        </p:txBody>
      </p:sp>
      <p:sp>
        <p:nvSpPr>
          <p:cNvPr id="18" name="Text 1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VẬN HÀNH</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Năm bước để có kết quả</a:t>
            </a:r>
            <a:endParaRPr lang="en-US" sz="3000" dirty="0"/>
          </a:p>
        </p:txBody>
      </p:sp>
      <p:sp>
        <p:nvSpPr>
          <p:cNvPr id="4" name="Shape 2"/>
          <p:cNvSpPr/>
          <p:nvPr/>
        </p:nvSpPr>
        <p:spPr>
          <a:xfrm>
            <a:off x="457200" y="1188720"/>
            <a:ext cx="420624" cy="420624"/>
          </a:xfrm>
          <a:prstGeom prst="ellipse">
            <a:avLst/>
          </a:prstGeom>
          <a:solidFill>
            <a:srgbClr val="1C2321"/>
          </a:solidFill>
          <a:ln w="12700">
            <a:solidFill>
              <a:srgbClr val="1C2321"/>
            </a:solidFill>
            <a:prstDash val="solid"/>
          </a:ln>
        </p:spPr>
      </p:sp>
      <p:sp>
        <p:nvSpPr>
          <p:cNvPr id="5" name="Text 3"/>
          <p:cNvSpPr txBox="1"/>
          <p:nvPr/>
        </p:nvSpPr>
        <p:spPr>
          <a:xfrm>
            <a:off x="457200" y="1188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005840" y="1188720"/>
            <a:ext cx="2377440" cy="420624"/>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Nạp ba tệp Excel</a:t>
            </a:r>
            <a:endParaRPr lang="en-US" sz="1400" dirty="0"/>
          </a:p>
        </p:txBody>
      </p:sp>
      <p:sp>
        <p:nvSpPr>
          <p:cNvPr id="7" name="Shape 5"/>
          <p:cNvSpPr/>
          <p:nvPr/>
        </p:nvSpPr>
        <p:spPr>
          <a:xfrm>
            <a:off x="667512" y="1645920"/>
            <a:ext cx="0" cy="182880"/>
          </a:xfrm>
          <a:prstGeom prst="line">
            <a:avLst/>
          </a:prstGeom>
          <a:noFill/>
          <a:ln w="19050">
            <a:solidFill>
              <a:srgbClr val="DBDCD5"/>
            </a:solidFill>
            <a:prstDash val="solid"/>
          </a:ln>
        </p:spPr>
      </p:sp>
      <p:sp>
        <p:nvSpPr>
          <p:cNvPr id="8" name="Shape 6"/>
          <p:cNvSpPr/>
          <p:nvPr/>
        </p:nvSpPr>
        <p:spPr>
          <a:xfrm>
            <a:off x="457200" y="1865376"/>
            <a:ext cx="420624" cy="420624"/>
          </a:xfrm>
          <a:prstGeom prst="ellipse">
            <a:avLst/>
          </a:prstGeom>
          <a:solidFill>
            <a:srgbClr val="1C2321"/>
          </a:solidFill>
          <a:ln w="12700">
            <a:solidFill>
              <a:srgbClr val="1C2321"/>
            </a:solidFill>
            <a:prstDash val="solid"/>
          </a:ln>
        </p:spPr>
      </p:sp>
      <p:sp>
        <p:nvSpPr>
          <p:cNvPr id="9" name="Text 7"/>
          <p:cNvSpPr txBox="1"/>
          <p:nvPr/>
        </p:nvSpPr>
        <p:spPr>
          <a:xfrm>
            <a:off x="457200" y="18653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005840" y="1865376"/>
            <a:ext cx="2377440" cy="420624"/>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Xem mục Cảnh báo dữ liệu</a:t>
            </a:r>
            <a:endParaRPr lang="en-US" sz="1400" dirty="0"/>
          </a:p>
        </p:txBody>
      </p:sp>
      <p:sp>
        <p:nvSpPr>
          <p:cNvPr id="11" name="Shape 9"/>
          <p:cNvSpPr/>
          <p:nvPr/>
        </p:nvSpPr>
        <p:spPr>
          <a:xfrm>
            <a:off x="667512" y="2322576"/>
            <a:ext cx="0" cy="182880"/>
          </a:xfrm>
          <a:prstGeom prst="line">
            <a:avLst/>
          </a:prstGeom>
          <a:noFill/>
          <a:ln w="19050">
            <a:solidFill>
              <a:srgbClr val="DBDCD5"/>
            </a:solidFill>
            <a:prstDash val="solid"/>
          </a:ln>
        </p:spPr>
      </p:sp>
      <p:sp>
        <p:nvSpPr>
          <p:cNvPr id="12" name="Shape 10"/>
          <p:cNvSpPr/>
          <p:nvPr/>
        </p:nvSpPr>
        <p:spPr>
          <a:xfrm>
            <a:off x="457200" y="2542032"/>
            <a:ext cx="420624" cy="420624"/>
          </a:xfrm>
          <a:prstGeom prst="ellipse">
            <a:avLst/>
          </a:prstGeom>
          <a:solidFill>
            <a:srgbClr val="1C2321"/>
          </a:solidFill>
          <a:ln w="12700">
            <a:solidFill>
              <a:srgbClr val="1C2321"/>
            </a:solidFill>
            <a:prstDash val="solid"/>
          </a:ln>
        </p:spPr>
      </p:sp>
      <p:sp>
        <p:nvSpPr>
          <p:cNvPr id="13" name="Text 11"/>
          <p:cNvSpPr txBox="1"/>
          <p:nvPr/>
        </p:nvSpPr>
        <p:spPr>
          <a:xfrm>
            <a:off x="457200" y="25420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05840" y="2542032"/>
            <a:ext cx="2377440" cy="420624"/>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Giáo viên nhập điểm</a:t>
            </a:r>
            <a:endParaRPr lang="en-US" sz="1400" dirty="0"/>
          </a:p>
        </p:txBody>
      </p:sp>
      <p:sp>
        <p:nvSpPr>
          <p:cNvPr id="15" name="Shape 13"/>
          <p:cNvSpPr/>
          <p:nvPr/>
        </p:nvSpPr>
        <p:spPr>
          <a:xfrm>
            <a:off x="667512" y="2999232"/>
            <a:ext cx="0" cy="182880"/>
          </a:xfrm>
          <a:prstGeom prst="line">
            <a:avLst/>
          </a:prstGeom>
          <a:noFill/>
          <a:ln w="19050">
            <a:solidFill>
              <a:srgbClr val="DBDCD5"/>
            </a:solidFill>
            <a:prstDash val="solid"/>
          </a:ln>
        </p:spPr>
      </p:sp>
      <p:sp>
        <p:nvSpPr>
          <p:cNvPr id="16" name="Shape 14"/>
          <p:cNvSpPr/>
          <p:nvPr/>
        </p:nvSpPr>
        <p:spPr>
          <a:xfrm>
            <a:off x="457200" y="3218688"/>
            <a:ext cx="420624" cy="420624"/>
          </a:xfrm>
          <a:prstGeom prst="ellipse">
            <a:avLst/>
          </a:prstGeom>
          <a:solidFill>
            <a:srgbClr val="C98A1F"/>
          </a:solidFill>
          <a:ln w="12700">
            <a:solidFill>
              <a:srgbClr val="C98A1F"/>
            </a:solidFill>
            <a:prstDash val="solid"/>
          </a:ln>
        </p:spPr>
      </p:sp>
      <p:sp>
        <p:nvSpPr>
          <p:cNvPr id="17" name="Text 15"/>
          <p:cNvSpPr txBox="1"/>
          <p:nvPr/>
        </p:nvSpPr>
        <p:spPr>
          <a:xfrm>
            <a:off x="457200" y="3218688"/>
            <a:ext cx="420624" cy="420624"/>
          </a:xfrm>
          <a:prstGeom prst="rect">
            <a:avLst/>
          </a:prstGeom>
          <a:noFill/>
          <a:ln/>
        </p:spPr>
        <p:txBody>
          <a:bodyPr wrap="square" lIns="0" tIns="0" rIns="0" bIns="0" rtlCol="0" anchor="ctr"/>
          <a:lstStyle/>
          <a:p>
            <a:pPr algn="ctr" indent="0" marL="0">
              <a:buNone/>
            </a:pPr>
            <a:r>
              <a:rPr lang="en-US" sz="1500" b="1" dirty="0">
                <a:solidFill>
                  <a:srgbClr val="1C232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005840" y="3218688"/>
            <a:ext cx="2377440" cy="420624"/>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Bấm Chạy sắp xếp</a:t>
            </a:r>
            <a:endParaRPr lang="en-US" sz="1400" dirty="0"/>
          </a:p>
        </p:txBody>
      </p:sp>
      <p:sp>
        <p:nvSpPr>
          <p:cNvPr id="19" name="Shape 17"/>
          <p:cNvSpPr/>
          <p:nvPr/>
        </p:nvSpPr>
        <p:spPr>
          <a:xfrm>
            <a:off x="667512" y="3675888"/>
            <a:ext cx="0" cy="182880"/>
          </a:xfrm>
          <a:prstGeom prst="line">
            <a:avLst/>
          </a:prstGeom>
          <a:noFill/>
          <a:ln w="19050">
            <a:solidFill>
              <a:srgbClr val="DBDCD5"/>
            </a:solidFill>
            <a:prstDash val="solid"/>
          </a:ln>
        </p:spPr>
      </p:sp>
      <p:sp>
        <p:nvSpPr>
          <p:cNvPr id="20" name="Shape 18"/>
          <p:cNvSpPr/>
          <p:nvPr/>
        </p:nvSpPr>
        <p:spPr>
          <a:xfrm>
            <a:off x="457200" y="3895344"/>
            <a:ext cx="420624" cy="420624"/>
          </a:xfrm>
          <a:prstGeom prst="ellipse">
            <a:avLst/>
          </a:prstGeom>
          <a:solidFill>
            <a:srgbClr val="1C2321"/>
          </a:solidFill>
          <a:ln w="12700">
            <a:solidFill>
              <a:srgbClr val="1C2321"/>
            </a:solidFill>
            <a:prstDash val="solid"/>
          </a:ln>
        </p:spPr>
      </p:sp>
      <p:sp>
        <p:nvSpPr>
          <p:cNvPr id="21" name="Text 19"/>
          <p:cNvSpPr txBox="1"/>
          <p:nvPr/>
        </p:nvSpPr>
        <p:spPr>
          <a:xfrm>
            <a:off x="457200" y="38953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005840" y="3895344"/>
            <a:ext cx="2377440" cy="420624"/>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Xuất kết quả</a:t>
            </a:r>
            <a:endParaRPr lang="en-US" sz="1400" dirty="0"/>
          </a:p>
        </p:txBody>
      </p:sp>
      <p:pic>
        <p:nvPicPr>
          <p:cNvPr id="23" name="Image 0" descr="/tmp/claude-0/-home-user-rbda-kiosk/30f99193-b3ff-5853-a228-d09690c4e584/scratchpad/shots/c_pipeline.png">    </p:cNvPr>
          <p:cNvPicPr>
            <a:picLocks noChangeAspect="1"/>
          </p:cNvPicPr>
          <p:nvPr/>
        </p:nvPicPr>
        <p:blipFill>
          <a:blip r:embed="rId1"/>
          <a:stretch>
            <a:fillRect/>
          </a:stretch>
        </p:blipFill>
        <p:spPr>
          <a:xfrm>
            <a:off x="3611880" y="1280160"/>
            <a:ext cx="5074920" cy="2343626"/>
          </a:xfrm>
          <a:prstGeom prst="rect">
            <a:avLst/>
          </a:prstGeom>
          <a:effectLst>
            <a:outerShdw sx="100000" sy="100000" kx="0" ky="0" algn="bl" rotWithShape="0" blurRad="101600" dist="25400" dir="5400000">
              <a:srgbClr val="000000">
                <a:alpha val="18000"/>
              </a:srgbClr>
            </a:outerShdw>
          </a:effectLst>
        </p:spPr>
      </p:pic>
      <p:sp>
        <p:nvSpPr>
          <p:cNvPr id="24" name="Text 21"/>
          <p:cNvSpPr txBox="1"/>
          <p:nvPr/>
        </p:nvSpPr>
        <p:spPr>
          <a:xfrm>
            <a:off x="3611880" y="3715226"/>
            <a:ext cx="5074920" cy="274320"/>
          </a:xfrm>
          <a:prstGeom prst="rect">
            <a:avLst/>
          </a:prstGeom>
          <a:noFill/>
          <a:ln/>
        </p:spPr>
        <p:txBody>
          <a:bodyPr wrap="square" lIns="0" tIns="0" rIns="0" bIns="0" rtlCol="0" anchor="ctr"/>
          <a:lstStyle/>
          <a:p>
            <a:pPr indent="0" marL="0">
              <a:buNone/>
            </a:pPr>
            <a:r>
              <a:rPr lang="en-US" sz="1000" i="1" dirty="0">
                <a:solidFill>
                  <a:srgbClr val="5B6570"/>
                </a:solidFill>
                <a:latin typeface="Calibri" pitchFamily="34" charset="0"/>
                <a:ea typeface="Calibri" pitchFamily="34" charset="-122"/>
                <a:cs typeface="Calibri" pitchFamily="34" charset="-120"/>
              </a:rPr>
              <a:t>Màn hình Vận hành sắp xếp: kéo thả tệp, xem cảnh báo rồi bấm chạy.</a:t>
            </a:r>
            <a:endParaRPr lang="en-US" sz="1000" dirty="0"/>
          </a:p>
        </p:txBody>
      </p:sp>
      <p:sp>
        <p:nvSpPr>
          <p:cNvPr id="25" name="Text 22"/>
          <p:cNvSpPr txBox="1"/>
          <p:nvPr/>
        </p:nvSpPr>
        <p:spPr>
          <a:xfrm>
            <a:off x="3611880" y="4206240"/>
            <a:ext cx="5074920" cy="365760"/>
          </a:xfrm>
          <a:prstGeom prst="rect">
            <a:avLst/>
          </a:prstGeom>
          <a:noFill/>
          <a:ln/>
        </p:spPr>
        <p:txBody>
          <a:bodyPr wrap="square" lIns="0" tIns="0" rIns="0" bIns="0" rtlCol="0" anchor="ctr"/>
          <a:lstStyle/>
          <a:p>
            <a:pPr indent="0" marL="0">
              <a:buNone/>
            </a:pPr>
            <a:r>
              <a:rPr lang="en-US" sz="1200" b="1" dirty="0">
                <a:solidFill>
                  <a:srgbClr val="3F6B52"/>
                </a:solidFill>
                <a:latin typeface="Calibri" pitchFamily="34" charset="0"/>
                <a:ea typeface="Calibri" pitchFamily="34" charset="-122"/>
                <a:cs typeface="Calibri" pitchFamily="34" charset="-120"/>
              </a:rPr>
              <a:t>Với 120 học sinh, bước chạy và xuất kết quả xong trong chưa đầy một giây.</a:t>
            </a:r>
            <a:endParaRPr lang="en-US" sz="1200" dirty="0"/>
          </a:p>
        </p:txBody>
      </p:sp>
      <p:sp>
        <p:nvSpPr>
          <p:cNvPr id="26" name="Text 23"/>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KẾT QUẢ</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Nhìn vào là biết CLB nào đã đủ người</a:t>
            </a:r>
            <a:endParaRPr lang="en-US" sz="3000" dirty="0"/>
          </a:p>
        </p:txBody>
      </p:sp>
      <p:pic>
        <p:nvPicPr>
          <p:cNvPr id="4" name="Image 0" descr="/tmp/claude-0/-home-user-rbda-kiosk/30f99193-b3ff-5853-a228-d09690c4e584/scratchpad/shots/c_results.png">    </p:cNvPr>
          <p:cNvPicPr>
            <a:picLocks noChangeAspect="1"/>
          </p:cNvPicPr>
          <p:nvPr/>
        </p:nvPicPr>
        <p:blipFill>
          <a:blip r:embed="rId1"/>
          <a:stretch>
            <a:fillRect/>
          </a:stretch>
        </p:blipFill>
        <p:spPr>
          <a:xfrm>
            <a:off x="457200" y="1234440"/>
            <a:ext cx="4937760" cy="2492850"/>
          </a:xfrm>
          <a:prstGeom prst="rect">
            <a:avLst/>
          </a:prstGeom>
          <a:effectLst>
            <a:outerShdw sx="100000" sy="100000" kx="0" ky="0" algn="bl" rotWithShape="0" blurRad="101600" dist="25400" dir="5400000">
              <a:srgbClr val="000000">
                <a:alpha val="18000"/>
              </a:srgbClr>
            </a:outerShdw>
          </a:effectLst>
        </p:spPr>
      </p:pic>
      <p:sp>
        <p:nvSpPr>
          <p:cNvPr id="5" name="Text 2"/>
          <p:cNvSpPr txBox="1"/>
          <p:nvPr/>
        </p:nvSpPr>
        <p:spPr>
          <a:xfrm>
            <a:off x="457200" y="3818730"/>
            <a:ext cx="4937760" cy="274320"/>
          </a:xfrm>
          <a:prstGeom prst="rect">
            <a:avLst/>
          </a:prstGeom>
          <a:noFill/>
          <a:ln/>
        </p:spPr>
        <p:txBody>
          <a:bodyPr wrap="square" lIns="0" tIns="0" rIns="0" bIns="0" rtlCol="0" anchor="ctr"/>
          <a:lstStyle/>
          <a:p>
            <a:pPr indent="0" marL="0">
              <a:buNone/>
            </a:pPr>
            <a:r>
              <a:rPr lang="en-US" sz="1000" i="1" dirty="0">
                <a:solidFill>
                  <a:srgbClr val="5B6570"/>
                </a:solidFill>
                <a:latin typeface="Calibri" pitchFamily="34" charset="0"/>
                <a:ea typeface="Calibri" pitchFamily="34" charset="-122"/>
                <a:cs typeface="Calibri" pitchFamily="34" charset="-120"/>
              </a:rPr>
              <a:t>Màu xanh: xét chung. Màu vàng: vào bằng suất dự trữ. Dữ liệu mô phỏng.</a:t>
            </a:r>
            <a:endParaRPr lang="en-US" sz="1000" dirty="0"/>
          </a:p>
        </p:txBody>
      </p:sp>
      <p:sp>
        <p:nvSpPr>
          <p:cNvPr id="6" name="Shape 3"/>
          <p:cNvSpPr/>
          <p:nvPr/>
        </p:nvSpPr>
        <p:spPr>
          <a:xfrm>
            <a:off x="5760720" y="1280160"/>
            <a:ext cx="384048" cy="384048"/>
          </a:xfrm>
          <a:prstGeom prst="ellipse">
            <a:avLst/>
          </a:prstGeom>
          <a:solidFill>
            <a:srgbClr val="DCE9E0"/>
          </a:solidFill>
          <a:ln w="12700">
            <a:solidFill>
              <a:srgbClr val="DCE9E0"/>
            </a:solidFill>
            <a:prstDash val="solid"/>
          </a:ln>
        </p:spPr>
      </p:sp>
      <p:pic>
        <p:nvPicPr>
          <p:cNvPr id="7" name="Image 1" descr="preencoded.png">    </p:cNvPr>
          <p:cNvPicPr>
            <a:picLocks noChangeAspect="1"/>
          </p:cNvPicPr>
          <p:nvPr/>
        </p:nvPicPr>
        <p:blipFill>
          <a:blip r:embed="rId2"/>
          <a:stretch>
            <a:fillRect/>
          </a:stretch>
        </p:blipFill>
        <p:spPr>
          <a:xfrm>
            <a:off x="5860572" y="1380012"/>
            <a:ext cx="184343" cy="184343"/>
          </a:xfrm>
          <a:prstGeom prst="rect">
            <a:avLst/>
          </a:prstGeom>
        </p:spPr>
      </p:pic>
      <p:sp>
        <p:nvSpPr>
          <p:cNvPr id="8" name="Text 4"/>
          <p:cNvSpPr txBox="1"/>
          <p:nvPr/>
        </p:nvSpPr>
        <p:spPr>
          <a:xfrm>
            <a:off x="6309360" y="1234440"/>
            <a:ext cx="2377440" cy="274320"/>
          </a:xfrm>
          <a:prstGeom prst="rect">
            <a:avLst/>
          </a:prstGeom>
          <a:noFill/>
          <a:ln/>
        </p:spPr>
        <p:txBody>
          <a:bodyPr wrap="square" lIns="0" tIns="0" rIns="0" bIns="0" rtlCol="0" anchor="ctr"/>
          <a:lstStyle/>
          <a:p>
            <a:pPr indent="0" marL="0">
              <a:buNone/>
            </a:pPr>
            <a:r>
              <a:rPr lang="en-US" sz="1300" b="1" dirty="0">
                <a:solidFill>
                  <a:srgbClr val="1C2321"/>
                </a:solidFill>
                <a:latin typeface="Calibri" pitchFamily="34" charset="0"/>
                <a:ea typeface="Calibri" pitchFamily="34" charset="-122"/>
                <a:cs typeface="Calibri" pitchFamily="34" charset="-120"/>
              </a:rPr>
              <a:t>Mức lấp đầy của từng CLB</a:t>
            </a:r>
            <a:endParaRPr lang="en-US" sz="1300" dirty="0"/>
          </a:p>
        </p:txBody>
      </p:sp>
      <p:sp>
        <p:nvSpPr>
          <p:cNvPr id="9" name="Text 5"/>
          <p:cNvSpPr txBox="1"/>
          <p:nvPr/>
        </p:nvSpPr>
        <p:spPr>
          <a:xfrm>
            <a:off x="6309360" y="1508760"/>
            <a:ext cx="2377440" cy="41148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kèm số chỗ dùng cho suất dự trữ</a:t>
            </a:r>
            <a:endParaRPr lang="en-US" sz="1100" dirty="0"/>
          </a:p>
        </p:txBody>
      </p:sp>
      <p:sp>
        <p:nvSpPr>
          <p:cNvPr id="10" name="Shape 6"/>
          <p:cNvSpPr/>
          <p:nvPr/>
        </p:nvSpPr>
        <p:spPr>
          <a:xfrm>
            <a:off x="5760720" y="2103120"/>
            <a:ext cx="384048" cy="384048"/>
          </a:xfrm>
          <a:prstGeom prst="ellipse">
            <a:avLst/>
          </a:prstGeom>
          <a:solidFill>
            <a:srgbClr val="DCE9E0"/>
          </a:solidFill>
          <a:ln w="12700">
            <a:solidFill>
              <a:srgbClr val="DCE9E0"/>
            </a:solidFill>
            <a:prstDash val="solid"/>
          </a:ln>
        </p:spPr>
      </p:sp>
      <p:pic>
        <p:nvPicPr>
          <p:cNvPr id="11" name="Image 2" descr="preencoded.png">    </p:cNvPr>
          <p:cNvPicPr>
            <a:picLocks noChangeAspect="1"/>
          </p:cNvPicPr>
          <p:nvPr/>
        </p:nvPicPr>
        <p:blipFill>
          <a:blip r:embed="rId3"/>
          <a:stretch>
            <a:fillRect/>
          </a:stretch>
        </p:blipFill>
        <p:spPr>
          <a:xfrm>
            <a:off x="5860572" y="2202972"/>
            <a:ext cx="184343" cy="184343"/>
          </a:xfrm>
          <a:prstGeom prst="rect">
            <a:avLst/>
          </a:prstGeom>
        </p:spPr>
      </p:pic>
      <p:sp>
        <p:nvSpPr>
          <p:cNvPr id="12" name="Text 7"/>
          <p:cNvSpPr txBox="1"/>
          <p:nvPr/>
        </p:nvSpPr>
        <p:spPr>
          <a:xfrm>
            <a:off x="6309360" y="2057400"/>
            <a:ext cx="2377440" cy="274320"/>
          </a:xfrm>
          <a:prstGeom prst="rect">
            <a:avLst/>
          </a:prstGeom>
          <a:noFill/>
          <a:ln/>
        </p:spPr>
        <p:txBody>
          <a:bodyPr wrap="square" lIns="0" tIns="0" rIns="0" bIns="0" rtlCol="0" anchor="ctr"/>
          <a:lstStyle/>
          <a:p>
            <a:pPr indent="0" marL="0">
              <a:buNone/>
            </a:pPr>
            <a:r>
              <a:rPr lang="en-US" sz="1300" b="1" dirty="0">
                <a:solidFill>
                  <a:srgbClr val="1C2321"/>
                </a:solidFill>
                <a:latin typeface="Calibri" pitchFamily="34" charset="0"/>
                <a:ea typeface="Calibri" pitchFamily="34" charset="-122"/>
                <a:cs typeface="Calibri" pitchFamily="34" charset="-120"/>
              </a:rPr>
              <a:t>Được nguyện vọng thứ mấy</a:t>
            </a:r>
            <a:endParaRPr lang="en-US" sz="1300" dirty="0"/>
          </a:p>
        </p:txBody>
      </p:sp>
      <p:sp>
        <p:nvSpPr>
          <p:cNvPr id="13" name="Text 8"/>
          <p:cNvSpPr txBox="1"/>
          <p:nvPr/>
        </p:nvSpPr>
        <p:spPr>
          <a:xfrm>
            <a:off x="6309360" y="2331720"/>
            <a:ext cx="2377440" cy="41148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cho thấy học sinh hài lòng đến đâu</a:t>
            </a:r>
            <a:endParaRPr lang="en-US" sz="1100" dirty="0"/>
          </a:p>
        </p:txBody>
      </p:sp>
      <p:sp>
        <p:nvSpPr>
          <p:cNvPr id="14" name="Shape 9"/>
          <p:cNvSpPr/>
          <p:nvPr/>
        </p:nvSpPr>
        <p:spPr>
          <a:xfrm>
            <a:off x="5760720" y="2926080"/>
            <a:ext cx="384048" cy="384048"/>
          </a:xfrm>
          <a:prstGeom prst="ellipse">
            <a:avLst/>
          </a:prstGeom>
          <a:solidFill>
            <a:srgbClr val="DCE9E0"/>
          </a:solidFill>
          <a:ln w="12700">
            <a:solidFill>
              <a:srgbClr val="DCE9E0"/>
            </a:solidFill>
            <a:prstDash val="solid"/>
          </a:ln>
        </p:spPr>
      </p:sp>
      <p:pic>
        <p:nvPicPr>
          <p:cNvPr id="15" name="Image 3" descr="preencoded.png">    </p:cNvPr>
          <p:cNvPicPr>
            <a:picLocks noChangeAspect="1"/>
          </p:cNvPicPr>
          <p:nvPr/>
        </p:nvPicPr>
        <p:blipFill>
          <a:blip r:embed="rId4"/>
          <a:stretch>
            <a:fillRect/>
          </a:stretch>
        </p:blipFill>
        <p:spPr>
          <a:xfrm>
            <a:off x="5860572" y="3025932"/>
            <a:ext cx="184343" cy="184343"/>
          </a:xfrm>
          <a:prstGeom prst="rect">
            <a:avLst/>
          </a:prstGeom>
        </p:spPr>
      </p:pic>
      <p:sp>
        <p:nvSpPr>
          <p:cNvPr id="16" name="Text 10"/>
          <p:cNvSpPr txBox="1"/>
          <p:nvPr/>
        </p:nvSpPr>
        <p:spPr>
          <a:xfrm>
            <a:off x="6309360" y="2880360"/>
            <a:ext cx="2377440" cy="274320"/>
          </a:xfrm>
          <a:prstGeom prst="rect">
            <a:avLst/>
          </a:prstGeom>
          <a:noFill/>
          <a:ln/>
        </p:spPr>
        <p:txBody>
          <a:bodyPr wrap="square" lIns="0" tIns="0" rIns="0" bIns="0" rtlCol="0" anchor="ctr"/>
          <a:lstStyle/>
          <a:p>
            <a:pPr indent="0" marL="0">
              <a:buNone/>
            </a:pPr>
            <a:r>
              <a:rPr lang="en-US" sz="1300" b="1" dirty="0">
                <a:solidFill>
                  <a:srgbClr val="1C2321"/>
                </a:solidFill>
                <a:latin typeface="Calibri" pitchFamily="34" charset="0"/>
                <a:ea typeface="Calibri" pitchFamily="34" charset="-122"/>
                <a:cs typeface="Calibri" pitchFamily="34" charset="-120"/>
              </a:rPr>
              <a:t>Học sinh chưa có chỗ</a:t>
            </a:r>
            <a:endParaRPr lang="en-US" sz="1300" dirty="0"/>
          </a:p>
        </p:txBody>
      </p:sp>
      <p:sp>
        <p:nvSpPr>
          <p:cNvPr id="17" name="Text 11"/>
          <p:cNvSpPr txBox="1"/>
          <p:nvPr/>
        </p:nvSpPr>
        <p:spPr>
          <a:xfrm>
            <a:off x="6309360" y="3154680"/>
            <a:ext cx="2377440" cy="41148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danh sách để nhà trường xử lý tiếp</a:t>
            </a:r>
            <a:endParaRPr lang="en-US" sz="1100" dirty="0"/>
          </a:p>
        </p:txBody>
      </p:sp>
      <p:sp>
        <p:nvSpPr>
          <p:cNvPr id="18" name="Shape 12"/>
          <p:cNvSpPr/>
          <p:nvPr/>
        </p:nvSpPr>
        <p:spPr>
          <a:xfrm>
            <a:off x="5760720" y="3749040"/>
            <a:ext cx="384048" cy="384048"/>
          </a:xfrm>
          <a:prstGeom prst="ellipse">
            <a:avLst/>
          </a:prstGeom>
          <a:solidFill>
            <a:srgbClr val="DCE9E0"/>
          </a:solidFill>
          <a:ln w="12700">
            <a:solidFill>
              <a:srgbClr val="DCE9E0"/>
            </a:solidFill>
            <a:prstDash val="solid"/>
          </a:ln>
        </p:spPr>
      </p:sp>
      <p:pic>
        <p:nvPicPr>
          <p:cNvPr id="19" name="Image 4" descr="preencoded.png">    </p:cNvPr>
          <p:cNvPicPr>
            <a:picLocks noChangeAspect="1"/>
          </p:cNvPicPr>
          <p:nvPr/>
        </p:nvPicPr>
        <p:blipFill>
          <a:blip r:embed="rId5"/>
          <a:stretch>
            <a:fillRect/>
          </a:stretch>
        </p:blipFill>
        <p:spPr>
          <a:xfrm>
            <a:off x="5860572" y="3848892"/>
            <a:ext cx="184343" cy="184343"/>
          </a:xfrm>
          <a:prstGeom prst="rect">
            <a:avLst/>
          </a:prstGeom>
        </p:spPr>
      </p:pic>
      <p:sp>
        <p:nvSpPr>
          <p:cNvPr id="20" name="Text 13"/>
          <p:cNvSpPr txBox="1"/>
          <p:nvPr/>
        </p:nvSpPr>
        <p:spPr>
          <a:xfrm>
            <a:off x="6309360" y="3703320"/>
            <a:ext cx="2377440" cy="274320"/>
          </a:xfrm>
          <a:prstGeom prst="rect">
            <a:avLst/>
          </a:prstGeom>
          <a:noFill/>
          <a:ln/>
        </p:spPr>
        <p:txBody>
          <a:bodyPr wrap="square" lIns="0" tIns="0" rIns="0" bIns="0" rtlCol="0" anchor="ctr"/>
          <a:lstStyle/>
          <a:p>
            <a:pPr indent="0" marL="0">
              <a:buNone/>
            </a:pPr>
            <a:r>
              <a:rPr lang="en-US" sz="1300" b="1" dirty="0">
                <a:solidFill>
                  <a:srgbClr val="1C2321"/>
                </a:solidFill>
                <a:latin typeface="Calibri" pitchFamily="34" charset="0"/>
                <a:ea typeface="Calibri" pitchFamily="34" charset="-122"/>
                <a:cs typeface="Calibri" pitchFamily="34" charset="-120"/>
              </a:rPr>
              <a:t>Tệp riêng cho từng CLB</a:t>
            </a:r>
            <a:endParaRPr lang="en-US" sz="1300" dirty="0"/>
          </a:p>
        </p:txBody>
      </p:sp>
      <p:sp>
        <p:nvSpPr>
          <p:cNvPr id="21" name="Text 14"/>
          <p:cNvSpPr txBox="1"/>
          <p:nvPr/>
        </p:nvSpPr>
        <p:spPr>
          <a:xfrm>
            <a:off x="6309360" y="3977640"/>
            <a:ext cx="2377440" cy="41148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gửi thẳng cho giáo viên phụ trách</a:t>
            </a:r>
            <a:endParaRPr lang="en-US" sz="1100" dirty="0"/>
          </a:p>
        </p:txBody>
      </p:sp>
      <p:sp>
        <p:nvSpPr>
          <p:cNvPr id="22" name="Text 1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CHẠY THỬ</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Chạy thử: 120 học sinh, 10 CLB, 130 chỗ</a:t>
            </a:r>
            <a:endParaRPr lang="en-US" sz="3000" dirty="0"/>
          </a:p>
        </p:txBody>
      </p:sp>
      <p:sp>
        <p:nvSpPr>
          <p:cNvPr id="4" name="Text 2"/>
          <p:cNvSpPr txBox="1"/>
          <p:nvPr/>
        </p:nvSpPr>
        <p:spPr>
          <a:xfrm>
            <a:off x="457200" y="1188720"/>
            <a:ext cx="1737360" cy="548640"/>
          </a:xfrm>
          <a:prstGeom prst="rect">
            <a:avLst/>
          </a:prstGeom>
          <a:noFill/>
          <a:ln/>
        </p:spPr>
        <p:txBody>
          <a:bodyPr wrap="square" lIns="0" tIns="0" rIns="0" bIns="0" rtlCol="0" anchor="ctr"/>
          <a:lstStyle/>
          <a:p>
            <a:pPr indent="0" marL="0">
              <a:buNone/>
            </a:pPr>
            <a:r>
              <a:rPr lang="en-US" sz="2800" b="1" dirty="0">
                <a:solidFill>
                  <a:srgbClr val="3F6B52"/>
                </a:solidFill>
                <a:latin typeface="Cambria" pitchFamily="34" charset="0"/>
                <a:ea typeface="Cambria" pitchFamily="34" charset="-122"/>
                <a:cs typeface="Cambria" pitchFamily="34" charset="-120"/>
              </a:rPr>
              <a:t>108/120</a:t>
            </a:r>
            <a:endParaRPr lang="en-US" sz="2800" dirty="0"/>
          </a:p>
        </p:txBody>
      </p:sp>
      <p:sp>
        <p:nvSpPr>
          <p:cNvPr id="5" name="Text 3"/>
          <p:cNvSpPr txBox="1"/>
          <p:nvPr/>
        </p:nvSpPr>
        <p:spPr>
          <a:xfrm>
            <a:off x="2103120" y="1188720"/>
            <a:ext cx="1783080" cy="548640"/>
          </a:xfrm>
          <a:prstGeom prst="rect">
            <a:avLst/>
          </a:prstGeom>
          <a:noFill/>
          <a:ln/>
        </p:spPr>
        <p:txBody>
          <a:bodyPr wrap="square" lIns="0" tIns="0" rIns="0" bIns="0" rtlCol="0" anchor="ctr"/>
          <a:lstStyle/>
          <a:p>
            <a:pPr indent="0" marL="0">
              <a:buNone/>
            </a:pPr>
            <a:r>
              <a:rPr lang="en-US" sz="1200" dirty="0">
                <a:solidFill>
                  <a:srgbClr val="3A423F"/>
                </a:solidFill>
                <a:latin typeface="Calibri" pitchFamily="34" charset="0"/>
                <a:ea typeface="Calibri" pitchFamily="34" charset="-122"/>
                <a:cs typeface="Calibri" pitchFamily="34" charset="-120"/>
              </a:rPr>
              <a:t>học sinh có CLB</a:t>
            </a:r>
            <a:endParaRPr lang="en-US" sz="1200" dirty="0"/>
          </a:p>
        </p:txBody>
      </p:sp>
      <p:sp>
        <p:nvSpPr>
          <p:cNvPr id="6" name="Text 4"/>
          <p:cNvSpPr txBox="1"/>
          <p:nvPr/>
        </p:nvSpPr>
        <p:spPr>
          <a:xfrm>
            <a:off x="457200" y="1965960"/>
            <a:ext cx="1737360" cy="548640"/>
          </a:xfrm>
          <a:prstGeom prst="rect">
            <a:avLst/>
          </a:prstGeom>
          <a:noFill/>
          <a:ln/>
        </p:spPr>
        <p:txBody>
          <a:bodyPr wrap="square" lIns="0" tIns="0" rIns="0" bIns="0" rtlCol="0" anchor="ctr"/>
          <a:lstStyle/>
          <a:p>
            <a:pPr indent="0" marL="0">
              <a:buNone/>
            </a:pPr>
            <a:r>
              <a:rPr lang="en-US" sz="2800" b="1" dirty="0">
                <a:solidFill>
                  <a:srgbClr val="3F6B52"/>
                </a:solidFill>
                <a:latin typeface="Cambria" pitchFamily="34" charset="0"/>
                <a:ea typeface="Cambria" pitchFamily="34" charset="-122"/>
                <a:cs typeface="Cambria" pitchFamily="34" charset="-120"/>
              </a:rPr>
              <a:t>59%</a:t>
            </a:r>
            <a:endParaRPr lang="en-US" sz="2800" dirty="0"/>
          </a:p>
        </p:txBody>
      </p:sp>
      <p:sp>
        <p:nvSpPr>
          <p:cNvPr id="7" name="Text 5"/>
          <p:cNvSpPr txBox="1"/>
          <p:nvPr/>
        </p:nvSpPr>
        <p:spPr>
          <a:xfrm>
            <a:off x="2103120" y="1965960"/>
            <a:ext cx="1783080" cy="548640"/>
          </a:xfrm>
          <a:prstGeom prst="rect">
            <a:avLst/>
          </a:prstGeom>
          <a:noFill/>
          <a:ln/>
        </p:spPr>
        <p:txBody>
          <a:bodyPr wrap="square" lIns="0" tIns="0" rIns="0" bIns="0" rtlCol="0" anchor="ctr"/>
          <a:lstStyle/>
          <a:p>
            <a:pPr indent="0" marL="0">
              <a:buNone/>
            </a:pPr>
            <a:r>
              <a:rPr lang="en-US" sz="1200" dirty="0">
                <a:solidFill>
                  <a:srgbClr val="3A423F"/>
                </a:solidFill>
                <a:latin typeface="Calibri" pitchFamily="34" charset="0"/>
                <a:ea typeface="Calibri" pitchFamily="34" charset="-122"/>
                <a:cs typeface="Calibri" pitchFamily="34" charset="-120"/>
              </a:rPr>
              <a:t>được nguyện vọng 1</a:t>
            </a:r>
            <a:endParaRPr lang="en-US" sz="1200" dirty="0"/>
          </a:p>
        </p:txBody>
      </p:sp>
      <p:sp>
        <p:nvSpPr>
          <p:cNvPr id="8" name="Text 6"/>
          <p:cNvSpPr txBox="1"/>
          <p:nvPr/>
        </p:nvSpPr>
        <p:spPr>
          <a:xfrm>
            <a:off x="457200" y="2743200"/>
            <a:ext cx="1737360" cy="548640"/>
          </a:xfrm>
          <a:prstGeom prst="rect">
            <a:avLst/>
          </a:prstGeom>
          <a:noFill/>
          <a:ln/>
        </p:spPr>
        <p:txBody>
          <a:bodyPr wrap="square" lIns="0" tIns="0" rIns="0" bIns="0" rtlCol="0" anchor="ctr"/>
          <a:lstStyle/>
          <a:p>
            <a:pPr indent="0" marL="0">
              <a:buNone/>
            </a:pPr>
            <a:r>
              <a:rPr lang="en-US" sz="2800" b="1" dirty="0">
                <a:solidFill>
                  <a:srgbClr val="C98A1F"/>
                </a:solidFill>
                <a:latin typeface="Cambria" pitchFamily="34" charset="0"/>
                <a:ea typeface="Cambria" pitchFamily="34" charset="-122"/>
                <a:cs typeface="Cambria" pitchFamily="34" charset="-120"/>
              </a:rPr>
              <a:t>10</a:t>
            </a:r>
            <a:endParaRPr lang="en-US" sz="2800" dirty="0"/>
          </a:p>
        </p:txBody>
      </p:sp>
      <p:sp>
        <p:nvSpPr>
          <p:cNvPr id="9" name="Text 7"/>
          <p:cNvSpPr txBox="1"/>
          <p:nvPr/>
        </p:nvSpPr>
        <p:spPr>
          <a:xfrm>
            <a:off x="2103120" y="2743200"/>
            <a:ext cx="1783080" cy="548640"/>
          </a:xfrm>
          <a:prstGeom prst="rect">
            <a:avLst/>
          </a:prstGeom>
          <a:noFill/>
          <a:ln/>
        </p:spPr>
        <p:txBody>
          <a:bodyPr wrap="square" lIns="0" tIns="0" rIns="0" bIns="0" rtlCol="0" anchor="ctr"/>
          <a:lstStyle/>
          <a:p>
            <a:pPr indent="0" marL="0">
              <a:buNone/>
            </a:pPr>
            <a:r>
              <a:rPr lang="en-US" sz="1200" dirty="0">
                <a:solidFill>
                  <a:srgbClr val="3A423F"/>
                </a:solidFill>
                <a:latin typeface="Calibri" pitchFamily="34" charset="0"/>
                <a:ea typeface="Calibri" pitchFamily="34" charset="-122"/>
                <a:cs typeface="Calibri" pitchFamily="34" charset="-120"/>
              </a:rPr>
              <a:t>vào bằng suất dự trữ</a:t>
            </a:r>
            <a:endParaRPr lang="en-US" sz="1200" dirty="0"/>
          </a:p>
        </p:txBody>
      </p:sp>
      <p:sp>
        <p:nvSpPr>
          <p:cNvPr id="10" name="Text 8"/>
          <p:cNvSpPr txBox="1"/>
          <p:nvPr/>
        </p:nvSpPr>
        <p:spPr>
          <a:xfrm>
            <a:off x="457200" y="3520440"/>
            <a:ext cx="1737360" cy="548640"/>
          </a:xfrm>
          <a:prstGeom prst="rect">
            <a:avLst/>
          </a:prstGeom>
          <a:noFill/>
          <a:ln/>
        </p:spPr>
        <p:txBody>
          <a:bodyPr wrap="square" lIns="0" tIns="0" rIns="0" bIns="0" rtlCol="0" anchor="ctr"/>
          <a:lstStyle/>
          <a:p>
            <a:pPr indent="0" marL="0">
              <a:buNone/>
            </a:pPr>
            <a:r>
              <a:rPr lang="en-US" sz="2800" b="1" dirty="0">
                <a:solidFill>
                  <a:srgbClr val="3F6B52"/>
                </a:solidFill>
                <a:latin typeface="Cambria" pitchFamily="34" charset="0"/>
                <a:ea typeface="Cambria" pitchFamily="34" charset="-122"/>
                <a:cs typeface="Cambria" pitchFamily="34" charset="-120"/>
              </a:rPr>
              <a:t>0,011 s</a:t>
            </a:r>
            <a:endParaRPr lang="en-US" sz="2800" dirty="0"/>
          </a:p>
        </p:txBody>
      </p:sp>
      <p:sp>
        <p:nvSpPr>
          <p:cNvPr id="11" name="Text 9"/>
          <p:cNvSpPr txBox="1"/>
          <p:nvPr/>
        </p:nvSpPr>
        <p:spPr>
          <a:xfrm>
            <a:off x="2103120" y="3520440"/>
            <a:ext cx="1783080" cy="548640"/>
          </a:xfrm>
          <a:prstGeom prst="rect">
            <a:avLst/>
          </a:prstGeom>
          <a:noFill/>
          <a:ln/>
        </p:spPr>
        <p:txBody>
          <a:bodyPr wrap="square" lIns="0" tIns="0" rIns="0" bIns="0" rtlCol="0" anchor="ctr"/>
          <a:lstStyle/>
          <a:p>
            <a:pPr indent="0" marL="0">
              <a:buNone/>
            </a:pPr>
            <a:r>
              <a:rPr lang="en-US" sz="1200" dirty="0">
                <a:solidFill>
                  <a:srgbClr val="3A423F"/>
                </a:solidFill>
                <a:latin typeface="Calibri" pitchFamily="34" charset="0"/>
                <a:ea typeface="Calibri" pitchFamily="34" charset="-122"/>
                <a:cs typeface="Calibri" pitchFamily="34" charset="-120"/>
              </a:rPr>
              <a:t>thời gian chạy</a:t>
            </a:r>
            <a:endParaRPr lang="en-US" sz="1200" dirty="0"/>
          </a:p>
        </p:txBody>
      </p:sp>
      <p:sp>
        <p:nvSpPr>
          <p:cNvPr id="12" name="Shape 10"/>
          <p:cNvSpPr/>
          <p:nvPr/>
        </p:nvSpPr>
        <p:spPr>
          <a:xfrm>
            <a:off x="4160520" y="1143000"/>
            <a:ext cx="4526280" cy="3154680"/>
          </a:xfrm>
          <a:prstGeom prst="roundRect">
            <a:avLst>
              <a:gd name="adj" fmla="val 2319"/>
            </a:avLst>
          </a:prstGeom>
          <a:solidFill>
            <a:srgbClr val="FFFFFF"/>
          </a:solidFill>
          <a:ln w="9525">
            <a:solidFill>
              <a:srgbClr val="DBDCD5"/>
            </a:solidFill>
            <a:prstDash val="solid"/>
          </a:ln>
        </p:spPr>
      </p:sp>
      <p:graphicFrame>
        <p:nvGraphicFramePr>
          <p:cNvPr id="13" name="Chart 0" descr=""/>
          <p:cNvGraphicFramePr/>
          <p:nvPr/>
        </p:nvGraphicFramePr>
        <p:xfrm>
          <a:off x="4297680" y="1234440"/>
          <a:ext cx="4251960" cy="29718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457200" y="4389120"/>
            <a:ext cx="7726680" cy="384048"/>
          </a:xfrm>
          <a:prstGeom prst="roundRect">
            <a:avLst>
              <a:gd name="adj" fmla="val 14286"/>
            </a:avLst>
          </a:prstGeom>
          <a:solidFill>
            <a:srgbClr val="F3DCD9"/>
          </a:solidFill>
          <a:ln w="12700">
            <a:solidFill>
              <a:srgbClr val="F3DCD9"/>
            </a:solidFill>
            <a:prstDash val="solid"/>
          </a:ln>
        </p:spPr>
      </p:sp>
      <p:sp>
        <p:nvSpPr>
          <p:cNvPr id="15" name="Text 12"/>
          <p:cNvSpPr txBox="1"/>
          <p:nvPr/>
        </p:nvSpPr>
        <p:spPr>
          <a:xfrm>
            <a:off x="640080" y="4389120"/>
            <a:ext cx="7406640" cy="384048"/>
          </a:xfrm>
          <a:prstGeom prst="rect">
            <a:avLst/>
          </a:prstGeom>
          <a:noFill/>
          <a:ln/>
        </p:spPr>
        <p:txBody>
          <a:bodyPr wrap="square" lIns="0" tIns="0" rIns="0" bIns="0" rtlCol="0" anchor="ctr"/>
          <a:lstStyle/>
          <a:p>
            <a:pPr indent="0" marL="0">
              <a:buNone/>
            </a:pPr>
            <a:r>
              <a:rPr lang="en-US" sz="1100" b="1" dirty="0">
                <a:solidFill>
                  <a:srgbClr val="B84A3E"/>
                </a:solidFill>
                <a:latin typeface="Calibri" pitchFamily="34" charset="0"/>
                <a:ea typeface="Calibri" pitchFamily="34" charset="-122"/>
                <a:cs typeface="Calibri" pitchFamily="34" charset="-120"/>
              </a:rPr>
              <a:t>Dữ liệu mô phỏng.</a:t>
            </a:r>
            <a:pPr indent="0" marL="0">
              <a:buNone/>
            </a:pPr>
            <a:r>
              <a:rPr lang="en-US" sz="1100" dirty="0">
                <a:solidFill>
                  <a:srgbClr val="3A423F"/>
                </a:solidFill>
                <a:latin typeface="Calibri" pitchFamily="34" charset="0"/>
                <a:ea typeface="Calibri" pitchFamily="34" charset="-122"/>
                <a:cs typeface="Calibri" pitchFamily="34" charset="-120"/>
              </a:rPr>
              <a:t> Bộ dữ liệu do máy tạo ra để thử thuật toán, không phải số liệu thật của học sinh trong trường.</a:t>
            </a:r>
            <a:endParaRPr lang="en-US" sz="1100" dirty="0"/>
          </a:p>
        </p:txBody>
      </p:sp>
      <p:sp>
        <p:nvSpPr>
          <p:cNvPr id="16" name="Text 13"/>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ĐỘ TIN CẬY</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Công bằng có số đo cụ thể</a:t>
            </a:r>
            <a:endParaRPr lang="en-US" sz="3000" dirty="0"/>
          </a:p>
        </p:txBody>
      </p:sp>
      <p:sp>
        <p:nvSpPr>
          <p:cNvPr id="4" name="Shape 2"/>
          <p:cNvSpPr/>
          <p:nvPr/>
        </p:nvSpPr>
        <p:spPr>
          <a:xfrm>
            <a:off x="457200" y="1188720"/>
            <a:ext cx="2606040" cy="1783080"/>
          </a:xfrm>
          <a:prstGeom prst="roundRect">
            <a:avLst>
              <a:gd name="adj" fmla="val 4103"/>
            </a:avLst>
          </a:prstGeom>
          <a:solidFill>
            <a:srgbClr val="FFFFFF"/>
          </a:solidFill>
          <a:ln w="9525">
            <a:solidFill>
              <a:srgbClr val="DBDCD5"/>
            </a:solidFill>
            <a:prstDash val="solid"/>
          </a:ln>
        </p:spPr>
      </p:sp>
      <p:sp>
        <p:nvSpPr>
          <p:cNvPr id="5" name="Text 3"/>
          <p:cNvSpPr txBox="1"/>
          <p:nvPr/>
        </p:nvSpPr>
        <p:spPr>
          <a:xfrm>
            <a:off x="685800" y="1280160"/>
            <a:ext cx="2194560" cy="685800"/>
          </a:xfrm>
          <a:prstGeom prst="rect">
            <a:avLst/>
          </a:prstGeom>
          <a:noFill/>
          <a:ln/>
        </p:spPr>
        <p:txBody>
          <a:bodyPr wrap="square" lIns="0" tIns="0" rIns="0" bIns="0" rtlCol="0" anchor="ctr"/>
          <a:lstStyle/>
          <a:p>
            <a:pPr indent="0" marL="0">
              <a:buNone/>
            </a:pPr>
            <a:r>
              <a:rPr lang="en-US" sz="3600" b="1" dirty="0">
                <a:solidFill>
                  <a:srgbClr val="3F6B52"/>
                </a:solidFill>
                <a:latin typeface="Cambria" pitchFamily="34" charset="0"/>
                <a:ea typeface="Cambria" pitchFamily="34" charset="-122"/>
                <a:cs typeface="Cambria" pitchFamily="34" charset="-120"/>
              </a:rPr>
              <a:t>0</a:t>
            </a:r>
            <a:endParaRPr lang="en-US" sz="3600" dirty="0"/>
          </a:p>
        </p:txBody>
      </p:sp>
      <p:sp>
        <p:nvSpPr>
          <p:cNvPr id="6" name="Text 4"/>
          <p:cNvSpPr txBox="1"/>
          <p:nvPr/>
        </p:nvSpPr>
        <p:spPr>
          <a:xfrm>
            <a:off x="685800" y="1965960"/>
            <a:ext cx="2194560" cy="45720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cặp học sinh và CLB cùng muốn đổi kết quả</a:t>
            </a:r>
            <a:endParaRPr lang="en-US" sz="1200" dirty="0"/>
          </a:p>
        </p:txBody>
      </p:sp>
      <p:sp>
        <p:nvSpPr>
          <p:cNvPr id="7" name="Text 5"/>
          <p:cNvSpPr txBox="1"/>
          <p:nvPr/>
        </p:nvSpPr>
        <p:spPr>
          <a:xfrm>
            <a:off x="685800" y="2423160"/>
            <a:ext cx="219456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kiểm tra qua 200 lần bốc thăm khác nhau</a:t>
            </a:r>
            <a:endParaRPr lang="en-US" sz="1050" dirty="0"/>
          </a:p>
        </p:txBody>
      </p:sp>
      <p:sp>
        <p:nvSpPr>
          <p:cNvPr id="8" name="Shape 6"/>
          <p:cNvSpPr/>
          <p:nvPr/>
        </p:nvSpPr>
        <p:spPr>
          <a:xfrm>
            <a:off x="3246120" y="1188720"/>
            <a:ext cx="2606040" cy="1783080"/>
          </a:xfrm>
          <a:prstGeom prst="roundRect">
            <a:avLst>
              <a:gd name="adj" fmla="val 4103"/>
            </a:avLst>
          </a:prstGeom>
          <a:solidFill>
            <a:srgbClr val="FFFFFF"/>
          </a:solidFill>
          <a:ln w="9525">
            <a:solidFill>
              <a:srgbClr val="DBDCD5"/>
            </a:solidFill>
            <a:prstDash val="solid"/>
          </a:ln>
        </p:spPr>
      </p:sp>
      <p:sp>
        <p:nvSpPr>
          <p:cNvPr id="9" name="Text 7"/>
          <p:cNvSpPr txBox="1"/>
          <p:nvPr/>
        </p:nvSpPr>
        <p:spPr>
          <a:xfrm>
            <a:off x="3474720" y="1280160"/>
            <a:ext cx="2194560" cy="685800"/>
          </a:xfrm>
          <a:prstGeom prst="rect">
            <a:avLst/>
          </a:prstGeom>
          <a:noFill/>
          <a:ln/>
        </p:spPr>
        <p:txBody>
          <a:bodyPr wrap="square" lIns="0" tIns="0" rIns="0" bIns="0" rtlCol="0" anchor="ctr"/>
          <a:lstStyle/>
          <a:p>
            <a:pPr indent="0" marL="0">
              <a:buNone/>
            </a:pPr>
            <a:r>
              <a:rPr lang="en-US" sz="3600" b="1" dirty="0">
                <a:solidFill>
                  <a:srgbClr val="3F6B52"/>
                </a:solidFill>
                <a:latin typeface="Cambria" pitchFamily="34" charset="0"/>
                <a:ea typeface="Cambria" pitchFamily="34" charset="-122"/>
                <a:cs typeface="Cambria" pitchFamily="34" charset="-120"/>
              </a:rPr>
              <a:t>1,1%</a:t>
            </a:r>
            <a:endParaRPr lang="en-US" sz="3600" dirty="0"/>
          </a:p>
        </p:txBody>
      </p:sp>
      <p:sp>
        <p:nvSpPr>
          <p:cNvPr id="10" name="Text 8"/>
          <p:cNvSpPr txBox="1"/>
          <p:nvPr/>
        </p:nvSpPr>
        <p:spPr>
          <a:xfrm>
            <a:off x="3474720" y="1965960"/>
            <a:ext cx="2194560" cy="45720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học sinh có kết quả phụ thuộc bốc thăm</a:t>
            </a:r>
            <a:endParaRPr lang="en-US" sz="1200" dirty="0"/>
          </a:p>
        </p:txBody>
      </p:sp>
      <p:sp>
        <p:nvSpPr>
          <p:cNvPr id="11" name="Text 9"/>
          <p:cNvSpPr txBox="1"/>
          <p:nvPr/>
        </p:nvSpPr>
        <p:spPr>
          <a:xfrm>
            <a:off x="3474720" y="2423160"/>
            <a:ext cx="219456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chỉ những học sinh ngang hàng nhau, đứng đúng ở ranh giới chỉ tiêu</a:t>
            </a:r>
            <a:endParaRPr lang="en-US" sz="1050" dirty="0"/>
          </a:p>
        </p:txBody>
      </p:sp>
      <p:sp>
        <p:nvSpPr>
          <p:cNvPr id="12" name="Shape 10"/>
          <p:cNvSpPr/>
          <p:nvPr/>
        </p:nvSpPr>
        <p:spPr>
          <a:xfrm>
            <a:off x="6035040" y="1188720"/>
            <a:ext cx="2606040" cy="1783080"/>
          </a:xfrm>
          <a:prstGeom prst="roundRect">
            <a:avLst>
              <a:gd name="adj" fmla="val 4103"/>
            </a:avLst>
          </a:prstGeom>
          <a:solidFill>
            <a:srgbClr val="FFFFFF"/>
          </a:solidFill>
          <a:ln w="9525">
            <a:solidFill>
              <a:srgbClr val="DBDCD5"/>
            </a:solidFill>
            <a:prstDash val="solid"/>
          </a:ln>
        </p:spPr>
      </p:sp>
      <p:sp>
        <p:nvSpPr>
          <p:cNvPr id="13" name="Text 11"/>
          <p:cNvSpPr txBox="1"/>
          <p:nvPr/>
        </p:nvSpPr>
        <p:spPr>
          <a:xfrm>
            <a:off x="6263640" y="1280160"/>
            <a:ext cx="2194560" cy="685800"/>
          </a:xfrm>
          <a:prstGeom prst="rect">
            <a:avLst/>
          </a:prstGeom>
          <a:noFill/>
          <a:ln/>
        </p:spPr>
        <p:txBody>
          <a:bodyPr wrap="square" lIns="0" tIns="0" rIns="0" bIns="0" rtlCol="0" anchor="ctr"/>
          <a:lstStyle/>
          <a:p>
            <a:pPr indent="0" marL="0">
              <a:buNone/>
            </a:pPr>
            <a:r>
              <a:rPr lang="en-US" sz="3600" b="1" dirty="0">
                <a:solidFill>
                  <a:srgbClr val="3F6B52"/>
                </a:solidFill>
                <a:latin typeface="Cambria" pitchFamily="34" charset="0"/>
                <a:ea typeface="Cambria" pitchFamily="34" charset="-122"/>
                <a:cs typeface="Cambria" pitchFamily="34" charset="-120"/>
              </a:rPr>
              <a:t>750+</a:t>
            </a:r>
            <a:endParaRPr lang="en-US" sz="3600" dirty="0"/>
          </a:p>
        </p:txBody>
      </p:sp>
      <p:sp>
        <p:nvSpPr>
          <p:cNvPr id="14" name="Text 12"/>
          <p:cNvSpPr txBox="1"/>
          <p:nvPr/>
        </p:nvSpPr>
        <p:spPr>
          <a:xfrm>
            <a:off x="6263640" y="1965960"/>
            <a:ext cx="2194560" cy="45720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bài kiểm thử tự động</a:t>
            </a:r>
            <a:endParaRPr lang="en-US" sz="1200" dirty="0"/>
          </a:p>
        </p:txBody>
      </p:sp>
      <p:sp>
        <p:nvSpPr>
          <p:cNvPr id="15" name="Text 13"/>
          <p:cNvSpPr txBox="1"/>
          <p:nvPr/>
        </p:nvSpPr>
        <p:spPr>
          <a:xfrm>
            <a:off x="6263640" y="2423160"/>
            <a:ext cx="219456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chạy lại mỗi khi sửa mã nguồn</a:t>
            </a:r>
            <a:endParaRPr lang="en-US" sz="1050" dirty="0"/>
          </a:p>
        </p:txBody>
      </p:sp>
      <p:sp>
        <p:nvSpPr>
          <p:cNvPr id="16" name="Shape 14"/>
          <p:cNvSpPr/>
          <p:nvPr/>
        </p:nvSpPr>
        <p:spPr>
          <a:xfrm>
            <a:off x="457200" y="3291840"/>
            <a:ext cx="502920" cy="502920"/>
          </a:xfrm>
          <a:prstGeom prst="ellipse">
            <a:avLst/>
          </a:prstGeom>
          <a:solidFill>
            <a:srgbClr val="1C2321"/>
          </a:solidFill>
          <a:ln w="12700">
            <a:solidFill>
              <a:srgbClr val="1C2321"/>
            </a:solidFill>
            <a:prstDash val="solid"/>
          </a:ln>
        </p:spPr>
      </p:sp>
      <p:pic>
        <p:nvPicPr>
          <p:cNvPr id="17" name="Image 0" descr="preencoded.png">    </p:cNvPr>
          <p:cNvPicPr>
            <a:picLocks noChangeAspect="1"/>
          </p:cNvPicPr>
          <p:nvPr/>
        </p:nvPicPr>
        <p:blipFill>
          <a:blip r:embed="rId1"/>
          <a:stretch>
            <a:fillRect/>
          </a:stretch>
        </p:blipFill>
        <p:spPr>
          <a:xfrm>
            <a:off x="587959" y="3422599"/>
            <a:ext cx="241402" cy="241402"/>
          </a:xfrm>
          <a:prstGeom prst="rect">
            <a:avLst/>
          </a:prstGeom>
        </p:spPr>
      </p:pic>
      <p:sp>
        <p:nvSpPr>
          <p:cNvPr id="18" name="Text 15"/>
          <p:cNvSpPr txBox="1"/>
          <p:nvPr/>
        </p:nvSpPr>
        <p:spPr>
          <a:xfrm>
            <a:off x="1097280" y="3246120"/>
            <a:ext cx="2011680" cy="50292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Tự sao lưu trước mỗi lần chạy</a:t>
            </a:r>
            <a:endParaRPr lang="en-US" sz="1200" dirty="0"/>
          </a:p>
        </p:txBody>
      </p:sp>
      <p:sp>
        <p:nvSpPr>
          <p:cNvPr id="19" name="Text 16"/>
          <p:cNvSpPr txBox="1"/>
          <p:nvPr/>
        </p:nvSpPr>
        <p:spPr>
          <a:xfrm>
            <a:off x="1097280" y="3767328"/>
            <a:ext cx="201168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luôn giữ 10 bản gần nhất</a:t>
            </a:r>
            <a:endParaRPr lang="en-US" sz="1050" dirty="0"/>
          </a:p>
        </p:txBody>
      </p:sp>
      <p:sp>
        <p:nvSpPr>
          <p:cNvPr id="20" name="Shape 17"/>
          <p:cNvSpPr/>
          <p:nvPr/>
        </p:nvSpPr>
        <p:spPr>
          <a:xfrm>
            <a:off x="3246120" y="3291840"/>
            <a:ext cx="502920" cy="502920"/>
          </a:xfrm>
          <a:prstGeom prst="ellipse">
            <a:avLst/>
          </a:prstGeom>
          <a:solidFill>
            <a:srgbClr val="1C2321"/>
          </a:solidFill>
          <a:ln w="12700">
            <a:solidFill>
              <a:srgbClr val="1C2321"/>
            </a:solidFill>
            <a:prstDash val="solid"/>
          </a:ln>
        </p:spPr>
      </p:sp>
      <p:pic>
        <p:nvPicPr>
          <p:cNvPr id="21" name="Image 1" descr="preencoded.png">    </p:cNvPr>
          <p:cNvPicPr>
            <a:picLocks noChangeAspect="1"/>
          </p:cNvPicPr>
          <p:nvPr/>
        </p:nvPicPr>
        <p:blipFill>
          <a:blip r:embed="rId2"/>
          <a:stretch>
            <a:fillRect/>
          </a:stretch>
        </p:blipFill>
        <p:spPr>
          <a:xfrm>
            <a:off x="3376879" y="3422599"/>
            <a:ext cx="241402" cy="241402"/>
          </a:xfrm>
          <a:prstGeom prst="rect">
            <a:avLst/>
          </a:prstGeom>
        </p:spPr>
      </p:pic>
      <p:sp>
        <p:nvSpPr>
          <p:cNvPr id="22" name="Text 18"/>
          <p:cNvSpPr txBox="1"/>
          <p:nvPr/>
        </p:nvSpPr>
        <p:spPr>
          <a:xfrm>
            <a:off x="3886200" y="3246120"/>
            <a:ext cx="2011680" cy="50292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Khôi phục được khi dữ liệu hỏng</a:t>
            </a:r>
            <a:endParaRPr lang="en-US" sz="1200" dirty="0"/>
          </a:p>
        </p:txBody>
      </p:sp>
      <p:sp>
        <p:nvSpPr>
          <p:cNvPr id="23" name="Text 19"/>
          <p:cNvSpPr txBox="1"/>
          <p:nvPr/>
        </p:nvSpPr>
        <p:spPr>
          <a:xfrm>
            <a:off x="3886200" y="3767328"/>
            <a:ext cx="201168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lấy lại từ bản sao lưu còn dùng được</a:t>
            </a:r>
            <a:endParaRPr lang="en-US" sz="1050" dirty="0"/>
          </a:p>
        </p:txBody>
      </p:sp>
      <p:sp>
        <p:nvSpPr>
          <p:cNvPr id="24" name="Shape 20"/>
          <p:cNvSpPr/>
          <p:nvPr/>
        </p:nvSpPr>
        <p:spPr>
          <a:xfrm>
            <a:off x="6035040" y="3291840"/>
            <a:ext cx="502920" cy="502920"/>
          </a:xfrm>
          <a:prstGeom prst="ellipse">
            <a:avLst/>
          </a:prstGeom>
          <a:solidFill>
            <a:srgbClr val="1C2321"/>
          </a:solidFill>
          <a:ln w="12700">
            <a:solidFill>
              <a:srgbClr val="1C2321"/>
            </a:solidFill>
            <a:prstDash val="solid"/>
          </a:ln>
        </p:spPr>
      </p:sp>
      <p:pic>
        <p:nvPicPr>
          <p:cNvPr id="25" name="Image 2" descr="preencoded.png">    </p:cNvPr>
          <p:cNvPicPr>
            <a:picLocks noChangeAspect="1"/>
          </p:cNvPicPr>
          <p:nvPr/>
        </p:nvPicPr>
        <p:blipFill>
          <a:blip r:embed="rId3"/>
          <a:stretch>
            <a:fillRect/>
          </a:stretch>
        </p:blipFill>
        <p:spPr>
          <a:xfrm>
            <a:off x="6165799" y="3422599"/>
            <a:ext cx="241402" cy="241402"/>
          </a:xfrm>
          <a:prstGeom prst="rect">
            <a:avLst/>
          </a:prstGeom>
        </p:spPr>
      </p:pic>
      <p:sp>
        <p:nvSpPr>
          <p:cNvPr id="26" name="Text 21"/>
          <p:cNvSpPr txBox="1"/>
          <p:nvPr/>
        </p:nvSpPr>
        <p:spPr>
          <a:xfrm>
            <a:off x="6675120" y="3246120"/>
            <a:ext cx="2011680" cy="50292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8 cảnh báo trước khi chạy</a:t>
            </a:r>
            <a:endParaRPr lang="en-US" sz="1200" dirty="0"/>
          </a:p>
        </p:txBody>
      </p:sp>
      <p:sp>
        <p:nvSpPr>
          <p:cNvPr id="27" name="Text 22"/>
          <p:cNvSpPr txBox="1"/>
          <p:nvPr/>
        </p:nvSpPr>
        <p:spPr>
          <a:xfrm>
            <a:off x="6675120" y="3767328"/>
            <a:ext cx="201168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phát hiện lỗi nhập liệu dễ bị bỏ sót</a:t>
            </a:r>
            <a:endParaRPr lang="en-US" sz="1050" dirty="0"/>
          </a:p>
        </p:txBody>
      </p:sp>
      <p:sp>
        <p:nvSpPr>
          <p:cNvPr id="28" name="Text 23"/>
          <p:cNvSpPr txBox="1"/>
          <p:nvPr/>
        </p:nvSpPr>
        <p:spPr>
          <a:xfrm>
            <a:off x="457200" y="4526280"/>
            <a:ext cx="7772400" cy="274320"/>
          </a:xfrm>
          <a:prstGeom prst="rect">
            <a:avLst/>
          </a:prstGeom>
          <a:noFill/>
          <a:ln/>
        </p:spPr>
        <p:txBody>
          <a:bodyPr wrap="square" lIns="0" tIns="0" rIns="0" bIns="0" rtlCol="0" anchor="ctr"/>
          <a:lstStyle/>
          <a:p>
            <a:pPr indent="0" marL="0">
              <a:buNone/>
            </a:pPr>
            <a:r>
              <a:rPr lang="en-US" sz="1000" i="1" dirty="0">
                <a:solidFill>
                  <a:srgbClr val="5B6570"/>
                </a:solidFill>
                <a:latin typeface="Calibri" pitchFamily="34" charset="0"/>
                <a:ea typeface="Calibri" pitchFamily="34" charset="-122"/>
                <a:cs typeface="Calibri" pitchFamily="34" charset="-120"/>
              </a:rPr>
              <a:t>Các số đo dựa trên dữ liệu mô phỏng. Cách đo lại có ghi trong hồ sơ dự án.</a:t>
            </a:r>
            <a:endParaRPr lang="en-US" sz="1000" dirty="0"/>
          </a:p>
        </p:txBody>
      </p:sp>
      <p:sp>
        <p:nvSpPr>
          <p:cNvPr id="29" name="Text 24"/>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TÍNH NĂNG KHÁC</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Phù hợp với nhiều cách tổ chức</a:t>
            </a:r>
            <a:endParaRPr lang="en-US" sz="3000" dirty="0"/>
          </a:p>
        </p:txBody>
      </p:sp>
      <p:sp>
        <p:nvSpPr>
          <p:cNvPr id="4" name="Shape 2"/>
          <p:cNvSpPr/>
          <p:nvPr/>
        </p:nvSpPr>
        <p:spPr>
          <a:xfrm>
            <a:off x="457200" y="1280160"/>
            <a:ext cx="4023360" cy="1371600"/>
          </a:xfrm>
          <a:prstGeom prst="roundRect">
            <a:avLst>
              <a:gd name="adj" fmla="val 5333"/>
            </a:avLst>
          </a:prstGeom>
          <a:solidFill>
            <a:srgbClr val="FFFFFF"/>
          </a:solidFill>
          <a:ln w="9525">
            <a:solidFill>
              <a:srgbClr val="DBDCD5"/>
            </a:solidFill>
            <a:prstDash val="solid"/>
          </a:ln>
        </p:spPr>
      </p:sp>
      <p:sp>
        <p:nvSpPr>
          <p:cNvPr id="5" name="Shape 3"/>
          <p:cNvSpPr/>
          <p:nvPr/>
        </p:nvSpPr>
        <p:spPr>
          <a:xfrm>
            <a:off x="685800" y="1536192"/>
            <a:ext cx="548640" cy="548640"/>
          </a:xfrm>
          <a:prstGeom prst="ellipse">
            <a:avLst/>
          </a:prstGeom>
          <a:solidFill>
            <a:srgbClr val="DCE9E0"/>
          </a:solidFill>
          <a:ln w="12700">
            <a:solidFill>
              <a:srgbClr val="DCE9E0"/>
            </a:solidFill>
            <a:prstDash val="solid"/>
          </a:ln>
        </p:spPr>
      </p:sp>
      <p:pic>
        <p:nvPicPr>
          <p:cNvPr id="6" name="Image 0" descr="preencoded.png">    </p:cNvPr>
          <p:cNvPicPr>
            <a:picLocks noChangeAspect="1"/>
          </p:cNvPicPr>
          <p:nvPr/>
        </p:nvPicPr>
        <p:blipFill>
          <a:blip r:embed="rId1"/>
          <a:stretch>
            <a:fillRect/>
          </a:stretch>
        </p:blipFill>
        <p:spPr>
          <a:xfrm>
            <a:off x="828446" y="1678838"/>
            <a:ext cx="263347" cy="263347"/>
          </a:xfrm>
          <a:prstGeom prst="rect">
            <a:avLst/>
          </a:prstGeom>
        </p:spPr>
      </p:pic>
      <p:sp>
        <p:nvSpPr>
          <p:cNvPr id="7" name="Text 4"/>
          <p:cNvSpPr txBox="1"/>
          <p:nvPr/>
        </p:nvSpPr>
        <p:spPr>
          <a:xfrm>
            <a:off x="1417320" y="1508760"/>
            <a:ext cx="2880360" cy="36576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Nhiều buổi trong tuần</a:t>
            </a:r>
            <a:endParaRPr lang="en-US" sz="1400" dirty="0"/>
          </a:p>
        </p:txBody>
      </p:sp>
      <p:sp>
        <p:nvSpPr>
          <p:cNvPr id="8" name="Text 5"/>
          <p:cNvSpPr txBox="1"/>
          <p:nvPr/>
        </p:nvSpPr>
        <p:spPr>
          <a:xfrm>
            <a:off x="1417320" y="1874520"/>
            <a:ext cx="2880360" cy="82296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Mỗi CLB sinh hoạt một buổi. Học sinh có thể tham gia nhiều CLB nếu không trùng buổi, và phần mềm xếp thời khóa biểu CLB cho từng học sinh.</a:t>
            </a:r>
            <a:endParaRPr lang="en-US" sz="1100" dirty="0"/>
          </a:p>
        </p:txBody>
      </p:sp>
      <p:sp>
        <p:nvSpPr>
          <p:cNvPr id="9" name="Shape 6"/>
          <p:cNvSpPr/>
          <p:nvPr/>
        </p:nvSpPr>
        <p:spPr>
          <a:xfrm>
            <a:off x="4663440" y="1280160"/>
            <a:ext cx="4023360" cy="1371600"/>
          </a:xfrm>
          <a:prstGeom prst="roundRect">
            <a:avLst>
              <a:gd name="adj" fmla="val 5333"/>
            </a:avLst>
          </a:prstGeom>
          <a:solidFill>
            <a:srgbClr val="FFFFFF"/>
          </a:solidFill>
          <a:ln w="9525">
            <a:solidFill>
              <a:srgbClr val="DBDCD5"/>
            </a:solidFill>
            <a:prstDash val="solid"/>
          </a:ln>
        </p:spPr>
      </p:sp>
      <p:sp>
        <p:nvSpPr>
          <p:cNvPr id="10" name="Shape 7"/>
          <p:cNvSpPr/>
          <p:nvPr/>
        </p:nvSpPr>
        <p:spPr>
          <a:xfrm>
            <a:off x="4892040" y="1536192"/>
            <a:ext cx="548640" cy="548640"/>
          </a:xfrm>
          <a:prstGeom prst="ellipse">
            <a:avLst/>
          </a:prstGeom>
          <a:solidFill>
            <a:srgbClr val="DCE9E0"/>
          </a:solidFill>
          <a:ln w="12700">
            <a:solidFill>
              <a:srgbClr val="DCE9E0"/>
            </a:solidFill>
            <a:prstDash val="solid"/>
          </a:ln>
        </p:spPr>
      </p:sp>
      <p:pic>
        <p:nvPicPr>
          <p:cNvPr id="11" name="Image 1" descr="preencoded.png">    </p:cNvPr>
          <p:cNvPicPr>
            <a:picLocks noChangeAspect="1"/>
          </p:cNvPicPr>
          <p:nvPr/>
        </p:nvPicPr>
        <p:blipFill>
          <a:blip r:embed="rId2"/>
          <a:stretch>
            <a:fillRect/>
          </a:stretch>
        </p:blipFill>
        <p:spPr>
          <a:xfrm>
            <a:off x="5034686" y="1678838"/>
            <a:ext cx="263347" cy="263347"/>
          </a:xfrm>
          <a:prstGeom prst="rect">
            <a:avLst/>
          </a:prstGeom>
        </p:spPr>
      </p:pic>
      <p:sp>
        <p:nvSpPr>
          <p:cNvPr id="12" name="Text 8"/>
          <p:cNvSpPr txBox="1"/>
          <p:nvPr/>
        </p:nvSpPr>
        <p:spPr>
          <a:xfrm>
            <a:off x="5623560" y="1508760"/>
            <a:ext cx="2880360" cy="36576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Thêm học sinh tại chỗ</a:t>
            </a:r>
            <a:endParaRPr lang="en-US" sz="1400" dirty="0"/>
          </a:p>
        </p:txBody>
      </p:sp>
      <p:sp>
        <p:nvSpPr>
          <p:cNvPr id="13" name="Text 9"/>
          <p:cNvSpPr txBox="1"/>
          <p:nvPr/>
        </p:nvSpPr>
        <p:spPr>
          <a:xfrm>
            <a:off x="5623560" y="1874520"/>
            <a:ext cx="2880360" cy="82296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Học sinh chưa nộp được qua biểu mẫu vẫn có thể nhập tay. Học sinh thêm vào sau khi đã bốc thăm được xếp một vị trí ngẫu nhiên, không bị đẩy xuống cuối.</a:t>
            </a:r>
            <a:endParaRPr lang="en-US" sz="1100" dirty="0"/>
          </a:p>
        </p:txBody>
      </p:sp>
      <p:sp>
        <p:nvSpPr>
          <p:cNvPr id="14" name="Shape 10"/>
          <p:cNvSpPr/>
          <p:nvPr/>
        </p:nvSpPr>
        <p:spPr>
          <a:xfrm>
            <a:off x="457200" y="2880360"/>
            <a:ext cx="4023360" cy="1371600"/>
          </a:xfrm>
          <a:prstGeom prst="roundRect">
            <a:avLst>
              <a:gd name="adj" fmla="val 5333"/>
            </a:avLst>
          </a:prstGeom>
          <a:solidFill>
            <a:srgbClr val="FFFFFF"/>
          </a:solidFill>
          <a:ln w="9525">
            <a:solidFill>
              <a:srgbClr val="DBDCD5"/>
            </a:solidFill>
            <a:prstDash val="solid"/>
          </a:ln>
        </p:spPr>
      </p:sp>
      <p:sp>
        <p:nvSpPr>
          <p:cNvPr id="15" name="Shape 11"/>
          <p:cNvSpPr/>
          <p:nvPr/>
        </p:nvSpPr>
        <p:spPr>
          <a:xfrm>
            <a:off x="685800" y="3136392"/>
            <a:ext cx="548640" cy="548640"/>
          </a:xfrm>
          <a:prstGeom prst="ellipse">
            <a:avLst/>
          </a:prstGeom>
          <a:solidFill>
            <a:srgbClr val="DCE9E0"/>
          </a:solidFill>
          <a:ln w="12700">
            <a:solidFill>
              <a:srgbClr val="DCE9E0"/>
            </a:solidFill>
            <a:prstDash val="solid"/>
          </a:ln>
        </p:spPr>
      </p:sp>
      <p:pic>
        <p:nvPicPr>
          <p:cNvPr id="16" name="Image 2" descr="preencoded.png">    </p:cNvPr>
          <p:cNvPicPr>
            <a:picLocks noChangeAspect="1"/>
          </p:cNvPicPr>
          <p:nvPr/>
        </p:nvPicPr>
        <p:blipFill>
          <a:blip r:embed="rId3"/>
          <a:stretch>
            <a:fillRect/>
          </a:stretch>
        </p:blipFill>
        <p:spPr>
          <a:xfrm>
            <a:off x="828446" y="3279038"/>
            <a:ext cx="263347" cy="263347"/>
          </a:xfrm>
          <a:prstGeom prst="rect">
            <a:avLst/>
          </a:prstGeom>
        </p:spPr>
      </p:pic>
      <p:sp>
        <p:nvSpPr>
          <p:cNvPr id="17" name="Text 12"/>
          <p:cNvSpPr txBox="1"/>
          <p:nvPr/>
        </p:nvSpPr>
        <p:spPr>
          <a:xfrm>
            <a:off x="1417320" y="3108960"/>
            <a:ext cx="2880360" cy="36576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Hai ngôn ngữ Việt và Anh</a:t>
            </a:r>
            <a:endParaRPr lang="en-US" sz="1400" dirty="0"/>
          </a:p>
        </p:txBody>
      </p:sp>
      <p:sp>
        <p:nvSpPr>
          <p:cNvPr id="18" name="Text 13"/>
          <p:cNvSpPr txBox="1"/>
          <p:nvPr/>
        </p:nvSpPr>
        <p:spPr>
          <a:xfrm>
            <a:off x="1417320" y="3474720"/>
            <a:ext cx="2880360" cy="82296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Đổi ngôn ngữ giao diện chỉ bằng một nút, tiện khi có giáo viên nước ngoài phụ trách CLB.</a:t>
            </a:r>
            <a:endParaRPr lang="en-US" sz="1100" dirty="0"/>
          </a:p>
        </p:txBody>
      </p:sp>
      <p:sp>
        <p:nvSpPr>
          <p:cNvPr id="19" name="Shape 14"/>
          <p:cNvSpPr/>
          <p:nvPr/>
        </p:nvSpPr>
        <p:spPr>
          <a:xfrm>
            <a:off x="4663440" y="2880360"/>
            <a:ext cx="4023360" cy="1371600"/>
          </a:xfrm>
          <a:prstGeom prst="roundRect">
            <a:avLst>
              <a:gd name="adj" fmla="val 5333"/>
            </a:avLst>
          </a:prstGeom>
          <a:solidFill>
            <a:srgbClr val="FFFFFF"/>
          </a:solidFill>
          <a:ln w="9525">
            <a:solidFill>
              <a:srgbClr val="DBDCD5"/>
            </a:solidFill>
            <a:prstDash val="solid"/>
          </a:ln>
        </p:spPr>
      </p:sp>
      <p:sp>
        <p:nvSpPr>
          <p:cNvPr id="20" name="Shape 15"/>
          <p:cNvSpPr/>
          <p:nvPr/>
        </p:nvSpPr>
        <p:spPr>
          <a:xfrm>
            <a:off x="4892040" y="3136392"/>
            <a:ext cx="548640" cy="548640"/>
          </a:xfrm>
          <a:prstGeom prst="ellipse">
            <a:avLst/>
          </a:prstGeom>
          <a:solidFill>
            <a:srgbClr val="DCE9E0"/>
          </a:solidFill>
          <a:ln w="12700">
            <a:solidFill>
              <a:srgbClr val="DCE9E0"/>
            </a:solidFill>
            <a:prstDash val="solid"/>
          </a:ln>
        </p:spPr>
      </p:sp>
      <p:pic>
        <p:nvPicPr>
          <p:cNvPr id="21" name="Image 3" descr="preencoded.png">    </p:cNvPr>
          <p:cNvPicPr>
            <a:picLocks noChangeAspect="1"/>
          </p:cNvPicPr>
          <p:nvPr/>
        </p:nvPicPr>
        <p:blipFill>
          <a:blip r:embed="rId4"/>
          <a:stretch>
            <a:fillRect/>
          </a:stretch>
        </p:blipFill>
        <p:spPr>
          <a:xfrm>
            <a:off x="5034686" y="3279038"/>
            <a:ext cx="263347" cy="263347"/>
          </a:xfrm>
          <a:prstGeom prst="rect">
            <a:avLst/>
          </a:prstGeom>
        </p:spPr>
      </p:pic>
      <p:sp>
        <p:nvSpPr>
          <p:cNvPr id="22" name="Text 16"/>
          <p:cNvSpPr txBox="1"/>
          <p:nvPr/>
        </p:nvSpPr>
        <p:spPr>
          <a:xfrm>
            <a:off x="5623560" y="3108960"/>
            <a:ext cx="2880360" cy="36576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Dùng hoặc không dùng suất dự trữ</a:t>
            </a:r>
            <a:endParaRPr lang="en-US" sz="1400" dirty="0"/>
          </a:p>
        </p:txBody>
      </p:sp>
      <p:sp>
        <p:nvSpPr>
          <p:cNvPr id="23" name="Text 17"/>
          <p:cNvSpPr txBox="1"/>
          <p:nvPr/>
        </p:nvSpPr>
        <p:spPr>
          <a:xfrm>
            <a:off x="5623560" y="3474720"/>
            <a:ext cx="2880360" cy="82296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Trường không cần diện ưu tiên thì đặt số suất dự trữ bằng 0, phần mềm vẫn chạy đúng.</a:t>
            </a:r>
            <a:endParaRPr lang="en-US" sz="1100" dirty="0"/>
          </a:p>
        </p:txBody>
      </p:sp>
      <p:sp>
        <p:nvSpPr>
          <p:cNvPr id="24"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2321"/>
        </a:solidFill>
      </p:bgPr>
    </p:bg>
    <p:spTree>
      <p:nvGrpSpPr>
        <p:cNvPr id="1" name=""/>
        <p:cNvGrpSpPr/>
        <p:nvPr/>
      </p:nvGrpSpPr>
      <p:grpSpPr>
        <a:xfrm>
          <a:off x="0" y="0"/>
          <a:ext cx="0" cy="0"/>
          <a:chOff x="0" y="0"/>
          <a:chExt cx="0" cy="0"/>
        </a:xfrm>
      </p:grpSpPr>
      <p:sp>
        <p:nvSpPr>
          <p:cNvPr id="2" name="Text 0"/>
          <p:cNvSpPr txBox="1"/>
          <p:nvPr/>
        </p:nvSpPr>
        <p:spPr>
          <a:xfrm>
            <a:off x="457200" y="457200"/>
            <a:ext cx="8229600" cy="274320"/>
          </a:xfrm>
          <a:prstGeom prst="rect">
            <a:avLst/>
          </a:prstGeom>
          <a:noFill/>
          <a:ln/>
        </p:spPr>
        <p:txBody>
          <a:bodyPr wrap="square" lIns="0" tIns="0" rIns="0" bIns="0" rtlCol="0" anchor="ctr"/>
          <a:lstStyle/>
          <a:p>
            <a:pPr indent="0" marL="0">
              <a:buNone/>
            </a:pPr>
            <a:r>
              <a:rPr lang="en-US" sz="1200" b="1" spc="300" kern="0" dirty="0">
                <a:solidFill>
                  <a:srgbClr val="C98A1F"/>
                </a:solidFill>
                <a:latin typeface="Calibri" pitchFamily="34" charset="0"/>
                <a:ea typeface="Calibri" pitchFamily="34" charset="-122"/>
                <a:cs typeface="Calibri" pitchFamily="34" charset="-120"/>
              </a:rPr>
              <a:t>ĐỀ NGHỊ BAN GIÁM HIỆU</a:t>
            </a:r>
            <a:endParaRPr lang="en-US" sz="1200" dirty="0"/>
          </a:p>
        </p:txBody>
      </p:sp>
      <p:sp>
        <p:nvSpPr>
          <p:cNvPr id="3" name="Text 1"/>
          <p:cNvSpPr txBox="1"/>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Ba việc cần quyết định để chạy thử</a:t>
            </a:r>
            <a:endParaRPr lang="en-US" sz="3200" dirty="0"/>
          </a:p>
        </p:txBody>
      </p:sp>
      <p:sp>
        <p:nvSpPr>
          <p:cNvPr id="4" name="Shape 2"/>
          <p:cNvSpPr/>
          <p:nvPr/>
        </p:nvSpPr>
        <p:spPr>
          <a:xfrm>
            <a:off x="457200" y="1783080"/>
            <a:ext cx="2606040" cy="2286000"/>
          </a:xfrm>
          <a:prstGeom prst="roundRect">
            <a:avLst>
              <a:gd name="adj" fmla="val 3200"/>
            </a:avLst>
          </a:prstGeom>
          <a:solidFill>
            <a:srgbClr val="2A3330"/>
          </a:solidFill>
          <a:ln w="9525">
            <a:solidFill>
              <a:srgbClr val="3A4541"/>
            </a:solidFill>
            <a:prstDash val="solid"/>
          </a:ln>
        </p:spPr>
      </p:sp>
      <p:sp>
        <p:nvSpPr>
          <p:cNvPr id="5" name="Text 3"/>
          <p:cNvSpPr txBox="1"/>
          <p:nvPr/>
        </p:nvSpPr>
        <p:spPr>
          <a:xfrm>
            <a:off x="685800" y="1920240"/>
            <a:ext cx="914400" cy="640080"/>
          </a:xfrm>
          <a:prstGeom prst="rect">
            <a:avLst/>
          </a:prstGeom>
          <a:noFill/>
          <a:ln/>
        </p:spPr>
        <p:txBody>
          <a:bodyPr wrap="square" lIns="0" tIns="0" rIns="0" bIns="0" rtlCol="0" anchor="ctr"/>
          <a:lstStyle/>
          <a:p>
            <a:pPr indent="0" marL="0">
              <a:buNone/>
            </a:pPr>
            <a:r>
              <a:rPr lang="en-US" sz="3600" b="1" dirty="0">
                <a:solidFill>
                  <a:srgbClr val="C98A1F"/>
                </a:solidFill>
                <a:latin typeface="Cambria" pitchFamily="34" charset="0"/>
                <a:ea typeface="Cambria" pitchFamily="34" charset="-122"/>
                <a:cs typeface="Cambria" pitchFamily="34" charset="-120"/>
              </a:rPr>
              <a:t>1</a:t>
            </a:r>
            <a:endParaRPr lang="en-US" sz="3600" dirty="0"/>
          </a:p>
        </p:txBody>
      </p:sp>
      <p:sp>
        <p:nvSpPr>
          <p:cNvPr id="6" name="Text 4"/>
          <p:cNvSpPr txBox="1"/>
          <p:nvPr/>
        </p:nvSpPr>
        <p:spPr>
          <a:xfrm>
            <a:off x="685800" y="2606040"/>
            <a:ext cx="2194560"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Cho phép chạy thử</a:t>
            </a:r>
            <a:endParaRPr lang="en-US" sz="1500" dirty="0"/>
          </a:p>
        </p:txBody>
      </p:sp>
      <p:sp>
        <p:nvSpPr>
          <p:cNvPr id="7" name="Text 5"/>
          <p:cNvSpPr txBox="1"/>
          <p:nvPr/>
        </p:nvSpPr>
        <p:spPr>
          <a:xfrm>
            <a:off x="685800" y="3017520"/>
            <a:ext cx="2194560" cy="960120"/>
          </a:xfrm>
          <a:prstGeom prst="rect">
            <a:avLst/>
          </a:prstGeom>
          <a:noFill/>
          <a:ln/>
        </p:spPr>
        <p:txBody>
          <a:bodyPr wrap="square" lIns="0" tIns="0" rIns="0" bIns="0" rtlCol="0" anchor="t"/>
          <a:lstStyle/>
          <a:p>
            <a:pPr indent="0" marL="0">
              <a:buNone/>
            </a:pPr>
            <a:r>
              <a:rPr lang="en-US" sz="1200" dirty="0">
                <a:solidFill>
                  <a:srgbClr val="C9CEC9"/>
                </a:solidFill>
                <a:latin typeface="Calibri" pitchFamily="34" charset="0"/>
                <a:ea typeface="Calibri" pitchFamily="34" charset="-122"/>
                <a:cs typeface="Calibri" pitchFamily="34" charset="-120"/>
              </a:rPr>
              <a:t>trong một đợt đăng ký CLB thật, song song với cách làm hiện nay để so sánh.</a:t>
            </a:r>
            <a:endParaRPr lang="en-US" sz="1200" dirty="0"/>
          </a:p>
        </p:txBody>
      </p:sp>
      <p:sp>
        <p:nvSpPr>
          <p:cNvPr id="8" name="Shape 6"/>
          <p:cNvSpPr/>
          <p:nvPr/>
        </p:nvSpPr>
        <p:spPr>
          <a:xfrm>
            <a:off x="3246120" y="1783080"/>
            <a:ext cx="2606040" cy="2286000"/>
          </a:xfrm>
          <a:prstGeom prst="roundRect">
            <a:avLst>
              <a:gd name="adj" fmla="val 3200"/>
            </a:avLst>
          </a:prstGeom>
          <a:solidFill>
            <a:srgbClr val="2A3330"/>
          </a:solidFill>
          <a:ln w="9525">
            <a:solidFill>
              <a:srgbClr val="3A4541"/>
            </a:solidFill>
            <a:prstDash val="solid"/>
          </a:ln>
        </p:spPr>
      </p:sp>
      <p:sp>
        <p:nvSpPr>
          <p:cNvPr id="9" name="Text 7"/>
          <p:cNvSpPr txBox="1"/>
          <p:nvPr/>
        </p:nvSpPr>
        <p:spPr>
          <a:xfrm>
            <a:off x="3474720" y="1920240"/>
            <a:ext cx="914400" cy="640080"/>
          </a:xfrm>
          <a:prstGeom prst="rect">
            <a:avLst/>
          </a:prstGeom>
          <a:noFill/>
          <a:ln/>
        </p:spPr>
        <p:txBody>
          <a:bodyPr wrap="square" lIns="0" tIns="0" rIns="0" bIns="0" rtlCol="0" anchor="ctr"/>
          <a:lstStyle/>
          <a:p>
            <a:pPr indent="0" marL="0">
              <a:buNone/>
            </a:pPr>
            <a:r>
              <a:rPr lang="en-US" sz="3600" b="1" dirty="0">
                <a:solidFill>
                  <a:srgbClr val="C98A1F"/>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3474720" y="2606040"/>
            <a:ext cx="2194560"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Thống nhất về suất dự trữ</a:t>
            </a:r>
            <a:endParaRPr lang="en-US" sz="1500" dirty="0"/>
          </a:p>
        </p:txBody>
      </p:sp>
      <p:sp>
        <p:nvSpPr>
          <p:cNvPr id="11" name="Text 9"/>
          <p:cNvSpPr txBox="1"/>
          <p:nvPr/>
        </p:nvSpPr>
        <p:spPr>
          <a:xfrm>
            <a:off x="3474720" y="3017520"/>
            <a:ext cx="2194560" cy="960120"/>
          </a:xfrm>
          <a:prstGeom prst="rect">
            <a:avLst/>
          </a:prstGeom>
          <a:noFill/>
          <a:ln/>
        </p:spPr>
        <p:txBody>
          <a:bodyPr wrap="square" lIns="0" tIns="0" rIns="0" bIns="0" rtlCol="0" anchor="t"/>
          <a:lstStyle/>
          <a:p>
            <a:pPr indent="0" marL="0">
              <a:buNone/>
            </a:pPr>
            <a:r>
              <a:rPr lang="en-US" sz="1200" dirty="0">
                <a:solidFill>
                  <a:srgbClr val="C9CEC9"/>
                </a:solidFill>
                <a:latin typeface="Calibri" pitchFamily="34" charset="0"/>
                <a:ea typeface="Calibri" pitchFamily="34" charset="-122"/>
                <a:cs typeface="Calibri" pitchFamily="34" charset="-120"/>
              </a:rPr>
              <a:t>có dùng hay không, dành cho diện nào, và mỗi CLB bao nhiêu chỗ.</a:t>
            </a:r>
            <a:endParaRPr lang="en-US" sz="1200" dirty="0"/>
          </a:p>
        </p:txBody>
      </p:sp>
      <p:sp>
        <p:nvSpPr>
          <p:cNvPr id="12" name="Shape 10"/>
          <p:cNvSpPr/>
          <p:nvPr/>
        </p:nvSpPr>
        <p:spPr>
          <a:xfrm>
            <a:off x="6035040" y="1783080"/>
            <a:ext cx="2606040" cy="2286000"/>
          </a:xfrm>
          <a:prstGeom prst="roundRect">
            <a:avLst>
              <a:gd name="adj" fmla="val 3200"/>
            </a:avLst>
          </a:prstGeom>
          <a:solidFill>
            <a:srgbClr val="2A3330"/>
          </a:solidFill>
          <a:ln w="9525">
            <a:solidFill>
              <a:srgbClr val="3A4541"/>
            </a:solidFill>
            <a:prstDash val="solid"/>
          </a:ln>
        </p:spPr>
      </p:sp>
      <p:sp>
        <p:nvSpPr>
          <p:cNvPr id="13" name="Text 11"/>
          <p:cNvSpPr txBox="1"/>
          <p:nvPr/>
        </p:nvSpPr>
        <p:spPr>
          <a:xfrm>
            <a:off x="6263640" y="1920240"/>
            <a:ext cx="914400" cy="640080"/>
          </a:xfrm>
          <a:prstGeom prst="rect">
            <a:avLst/>
          </a:prstGeom>
          <a:noFill/>
          <a:ln/>
        </p:spPr>
        <p:txBody>
          <a:bodyPr wrap="square" lIns="0" tIns="0" rIns="0" bIns="0" rtlCol="0" anchor="ctr"/>
          <a:lstStyle/>
          <a:p>
            <a:pPr indent="0" marL="0">
              <a:buNone/>
            </a:pPr>
            <a:r>
              <a:rPr lang="en-US" sz="3600" b="1" dirty="0">
                <a:solidFill>
                  <a:srgbClr val="C98A1F"/>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6263640" y="2606040"/>
            <a:ext cx="2194560"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Phân công người phụ trách</a:t>
            </a:r>
            <a:endParaRPr lang="en-US" sz="1500" dirty="0"/>
          </a:p>
        </p:txBody>
      </p:sp>
      <p:sp>
        <p:nvSpPr>
          <p:cNvPr id="15" name="Text 13"/>
          <p:cNvSpPr txBox="1"/>
          <p:nvPr/>
        </p:nvSpPr>
        <p:spPr>
          <a:xfrm>
            <a:off x="6263640" y="3017520"/>
            <a:ext cx="2194560" cy="960120"/>
          </a:xfrm>
          <a:prstGeom prst="rect">
            <a:avLst/>
          </a:prstGeom>
          <a:noFill/>
          <a:ln/>
        </p:spPr>
        <p:txBody>
          <a:bodyPr wrap="square" lIns="0" tIns="0" rIns="0" bIns="0" rtlCol="0" anchor="t"/>
          <a:lstStyle/>
          <a:p>
            <a:pPr indent="0" marL="0">
              <a:buNone/>
            </a:pPr>
            <a:r>
              <a:rPr lang="en-US" sz="1200" dirty="0">
                <a:solidFill>
                  <a:srgbClr val="C9CEC9"/>
                </a:solidFill>
                <a:latin typeface="Calibri" pitchFamily="34" charset="0"/>
                <a:ea typeface="Calibri" pitchFamily="34" charset="-122"/>
                <a:cs typeface="Calibri" pitchFamily="34" charset="-120"/>
              </a:rPr>
              <a:t>một người vận hành phần mềm và các giáo viên chấm điểm cho CLB có thi tuyển.</a:t>
            </a:r>
            <a:endParaRPr lang="en-US" sz="1200" dirty="0"/>
          </a:p>
        </p:txBody>
      </p:sp>
      <p:sp>
        <p:nvSpPr>
          <p:cNvPr id="16" name="Text 14"/>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600" i="1" dirty="0">
                <a:solidFill>
                  <a:srgbClr val="C9CEC9"/>
                </a:solidFill>
                <a:latin typeface="Cambria" pitchFamily="34" charset="0"/>
                <a:ea typeface="Cambria" pitchFamily="34" charset="-122"/>
                <a:cs typeface="Cambria" pitchFamily="34" charset="-120"/>
              </a:rPr>
              <a:t>Xin cảm ơn Ban Giám hiệu đã lắng nghe.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Phần mềm sắp xếp Câu lạc bộ RB-DA</dc:title>
  <dc:subject>PptxGenJS Presentation</dc:subject>
  <dc:creator>PptxGenJS</dc:creator>
  <cp:lastModifiedBy>PptxGenJS</cp:lastModifiedBy>
  <cp:revision>1</cp:revision>
  <dcterms:created xsi:type="dcterms:W3CDTF">2026-09-24T15:05:59Z</dcterms:created>
  <dcterms:modified xsi:type="dcterms:W3CDTF">2026-09-24T15:05:59Z</dcterms:modified>
</cp:coreProperties>
</file>