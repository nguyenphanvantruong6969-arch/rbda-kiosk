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6" r:id="rId1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1F1F"/>
                </a:solidFill>
                <a:latin typeface="Arial"/>
              </a:rPr>
              <a:t>Số học sinh theo nguyện vọng được xếp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học sinh</c:v>
                </c:pt>
              </c:strCache>
            </c:strRef>
          </c:tx>
          <c:spPr>
            <a:solidFill>
              <a:srgbClr val="3F6B52"/>
            </a:solidFill>
          </c:spPr>
          <c:cat>
            <c:strRef>
              <c:f>Sheet1!$A$2:$A$7</c:f>
              <c:strCache>
                <c:ptCount val="6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  <c:pt idx="4">
                  <c:v>NV 5</c:v>
                </c:pt>
                <c:pt idx="5">
                  <c:v>NV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46</c:v>
                </c:pt>
                <c:pt idx="2">
                  <c:v>21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Số liệu lấy từ phần mềm, chạy bộ du_lieu_test/bo_sach với hạt giống bốc thăm 42: 140 học sinh, 12 CLB, 150 chỗ, trong đó 16 suất dự trữ. Cả 140 học sinh đều có CLB; 9 trên 12 CLB kín chỗ, còn 10 chỗ trống. 54 học sinh (39%) được nguyện vọng 1. Tỉ lệ nguyện vọng 1 không cao vì bộ này cố ý cho mọi học sinh thi 4 CLB và ghi 6 nguyện vọng, nên nguyện vọng đầu cạnh tranh gắt. Đây là dữ liệu mô phỏng.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trái là 6 bước phần mềm tự làm sau khi bấm Chạy sắp xếp. Bên phải giải thích bước 4. Nhấn mạnh chữ giữ tạm: ở vòng 2, Dũng đến sau nhưng điểm cao hơn nên vẫn vào được, Chi bị đẩy ra và nộp tiếp nguyện vọng 2. Bình không thi nên ở Tầng 2, luôn đứng sau các học sinh đã thi. CLB không biết học sinh xếp mình ở nguyện vọng mấy. Nếu bước 4 phát hiện kết quả không ổn định, phần mềm hủy toàn bộ lần chạy.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AD9C-2787-2D6E-8B3D-7793697BEB7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D0FE4-5966-1982-ABC2-9BB4D1464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vi-VN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F36C7-A708-3694-0003-0D489558ECB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33932-D5B9-4B57-9B2F-FE62C4F2C626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20193-8E25-A4D6-D72B-ABE181CEB56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94BEA-4E58-29E5-EBBD-597B3ABB4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11D3C9-163B-45C8-AB9C-2A3CAB77BB11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519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3F74-EB88-3019-8357-4749237C27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FBB21-DB38-13C5-09C7-6E4DC5C319E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0BAB-1348-E787-58B5-1E98F6244E1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7BCD62-19D0-4E77-943B-FA0DC0EBA3B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5EB2E-1905-3849-F72C-79D58480AA6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2824-422C-C944-C275-0CC94BC294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BE38D4-F8EB-4480-8B24-8A252B1C513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297981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6BD6E-8463-2108-A308-DABFE7FF8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68EF5-2178-2E7B-636E-381B78319B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80FF0-DB69-C9AD-D05E-1A673EAD66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F8731B-6AE6-4397-96E4-4309FE7F3D3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A019-1480-4000-AD3A-BEC2CC1533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A5F8F-44D8-5A2F-FE92-50ECE7216FC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C5464D-FBBE-4D85-BDB1-FE6A8D07E0B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95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9671-14EE-0B88-9DB5-7C9AA57400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037BE-2D38-3798-6491-163783D1661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6ADA2-800B-3967-3C74-2F28493B3DC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45F2D-8B50-D512-DC6C-6F5899F368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937529-2119-4D4A-A075-9F8CB5AADCC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95C15-221D-5F25-9701-6A18AFC4BE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B3256-DC40-4573-D650-311D05E6AA0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5D440D-50D9-459B-A8BA-706E20E9A62A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2426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DCA59-D089-4486-FB02-4D89E1A3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8C157-5BBF-A8AF-65D2-2673ED156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6AB63-8845-B446-F503-699E797DAC7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55D53-AC1F-A4CA-8ADF-09CE09C97B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6CB8F5-19C6-CDA5-12A5-06845A49B29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FA0AE-25C5-5ADE-A5E6-05B15BF77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3B2482-B273-4E34-AC74-7799B9C714F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E3F72A-5F6C-2EE8-5A3B-8C40D85059C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BC94F-3021-B65E-B64C-9B163BF71AF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2B660B-1FAE-466C-9650-736EF6645B7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938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3AA1-6C35-862B-90DB-D4824F584AD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FB3636-4B99-182E-BC02-5B4362B1EB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74D79C0-10C1-4697-AA7B-3901AB52AB50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04D86-BC2B-4113-D68B-C1EA4AA3A3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DBB56-BD8B-B20A-FCAE-9566D577CF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CD8200D-34A1-4CE8-8BCB-C5A6F917DB90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28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B2E18-D73B-DD7B-5068-22ECFF3456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C194AB-0501-47B8-819C-171406D01325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F026D-AFBE-2B6B-DA18-08CF2644F8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3C4C5-54C7-3F98-515D-AECFA030D3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F2D42B-3B99-40DF-8922-3D95E477EE5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574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3E50-798E-7039-C01A-F5746E1415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A8CA6-336F-16E3-A0CF-D6759B0FC4C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00C06-773B-60A8-15B7-A673A8A2220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F7364-754A-69EB-9362-16F3ADE85D2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74B0DAC-5760-4BA2-849E-1CE31FC7183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B582A-14D7-E875-127E-2F7E9FC61B9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C82A0-8A99-30FA-F63A-A273BE497D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7B09102-E7D3-49F5-9AB3-848082E94E0B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5316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6357-95CB-4203-58D7-EA6B894F54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3FF128-D087-5B95-92C3-E231F95387F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C6F52-15E7-91B3-30B0-82CFA5FDF96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C8C7B-5143-C86F-B6A3-4CA72E3042E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D8F105-1F3A-4B1F-A93B-D14C0903D25D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227A6-82CE-9896-90DF-74770AAD96D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EE5DB-F3EC-D5D3-F303-3B9E4E41E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5787F0-B305-4ABC-8A37-5B325F70BB92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37364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A9BC-F1AD-1647-C772-ECCA1D2AAD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D52B0-09B0-0E65-5FEB-B3A983AD95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84CC-1708-9C9D-1EAB-50697C493C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B4C40A-811F-4F22-A37C-05332F897169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F8A3E-E307-F991-99F1-99A2E1BAEF7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D4024-2D46-27B0-D701-92461CFCBB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878A96-088E-4EC1-A8E9-FB170EE5499D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5140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5DE3B-CD8D-3A8C-180F-935FAD5507DA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43DB21-2B8A-73DB-FA63-75CA9E1B558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3663C-4FBD-E9B1-DDA2-2B514D2531F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6D23F0-1C05-473C-AD3E-8D134A4420F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9A5B-1EEB-E4CE-46DA-28E8C455A67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2440-20D3-E80E-9573-51CC2AEA5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CC6D5C-87D5-4D22-AB17-6826A7D9D625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45313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9F534-AD46-89B8-F8DA-5EDB65F2B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87F4F-A75E-D7AE-5F82-9D8728DE8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AFE58-0486-2981-8215-427F4E05102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C8339D3A-A655-4913-B670-67704956652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010C6-47F5-7E09-35C8-6DBA0030462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299A-F750-AB02-2BAB-CE579E89BF5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007C45BE-F907-4235-8F41-6944091C3225}" type="slidenum">
              <a:t>‹#›</a:t>
            </a:fld>
            <a:endParaRPr lang="vi-V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vi-VN" sz="4400" b="0" i="0" u="none" strike="noStrike" kern="1200" cap="none" spc="0" baseline="0">
          <a:solidFill>
            <a:srgbClr val="000000"/>
          </a:solidFill>
          <a:uFillTx/>
          <a:latin typeface="Arial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vi-VN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417B4EEC-DFFB-44C6-6624-23FD25C15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0A25DF-720C-D201-181F-B34BA25D2D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7048" y="1124712"/>
            <a:ext cx="9144000" cy="3063239"/>
          </a:xfrm>
        </p:spPr>
        <p:txBody>
          <a:bodyPr/>
          <a:lstStyle/>
          <a:p>
            <a:pPr lvl="0"/>
            <a:r>
              <a:rPr lang="vi-VN" sz="6600">
                <a:solidFill>
                  <a:srgbClr val="FFFFFF"/>
                </a:solidFill>
              </a:rPr>
              <a:t>Thuyết trình về cuộc thi khoa học kỹ thuật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6FD1A6B-FAC6-7176-9FAA-8A9146C494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17"/>
          </a:xfrm>
        </p:spPr>
        <p:txBody>
          <a:bodyPr/>
          <a:lstStyle/>
          <a:p>
            <a:pPr lvl="0"/>
            <a:r>
              <a:rPr lang="vi-VN" sz="1800" b="1">
                <a:solidFill>
                  <a:srgbClr val="FFFFFF"/>
                </a:solidFill>
              </a:rPr>
              <a:t>Đề tài:</a:t>
            </a:r>
            <a:r>
              <a:rPr lang="vi-VN" sz="1800">
                <a:solidFill>
                  <a:srgbClr val="FFFFFF"/>
                </a:solidFill>
              </a:rPr>
              <a:t> Áp dụng thuật toán chấp nhận trì hoãn vào việc sắp xếp học sinh vào các CLB tương ứng</a:t>
            </a:r>
          </a:p>
          <a:p>
            <a:pPr lvl="0"/>
            <a:r>
              <a:rPr lang="vi-VN" sz="1800" b="1">
                <a:solidFill>
                  <a:srgbClr val="FFFFFF"/>
                </a:solidFill>
              </a:rPr>
              <a:t>Thực hiện bởi:</a:t>
            </a:r>
            <a:r>
              <a:rPr lang="vi-VN" sz="1800">
                <a:solidFill>
                  <a:srgbClr val="FFFFFF"/>
                </a:solidFill>
              </a:rPr>
              <a:t> Nguyễn Phan Văn Trường 11H2 và Lê Hoàng Phương Vi 10H3</a:t>
            </a:r>
          </a:p>
          <a:p>
            <a:pPr lvl="0"/>
            <a:r>
              <a:rPr lang="vi-VN" sz="1800">
                <a:solidFill>
                  <a:srgbClr val="FFFFFF"/>
                </a:solidFill>
              </a:rPr>
              <a:t>Cơ sở HVT</a:t>
            </a:r>
          </a:p>
        </p:txBody>
      </p:sp>
      <p:sp>
        <p:nvSpPr>
          <p:cNvPr id="6" name="sketchy box">
            <a:extLst>
              <a:ext uri="{FF2B5EF4-FFF2-40B4-BE49-F238E27FC236}">
                <a16:creationId xmlns:a16="http://schemas.microsoft.com/office/drawing/2014/main" id="{EB98BDD6-14F8-6D4C-C9DA-6965969B1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V="1">
            <a:off x="838203" y="720949"/>
            <a:ext cx="10515600" cy="5416091"/>
          </a:xfrm>
          <a:prstGeom prst="rect">
            <a:avLst/>
          </a:prstGeom>
          <a:noFill/>
          <a:ln w="47621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sketchy line">
            <a:extLst>
              <a:ext uri="{FF2B5EF4-FFF2-40B4-BE49-F238E27FC236}">
                <a16:creationId xmlns:a16="http://schemas.microsoft.com/office/drawing/2014/main" id="{75B9F413-CB0C-4FC4-867B-5F0F26D54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974201" y="4419423"/>
            <a:ext cx="4243593" cy="18288"/>
          </a:xfrm>
          <a:prstGeom prst="rect">
            <a:avLst/>
          </a:prstGeom>
          <a:solidFill>
            <a:srgbClr val="FFFFFF">
              <a:alpha val="75000"/>
            </a:srgbClr>
          </a:solidFill>
          <a:ln w="41276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31AA-BA1E-C72F-113B-735353A48F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6128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Bài toán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788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75792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92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Giải pháp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452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5456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56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Cách phần mềm hoạt động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6128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Vận hành phần mềm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788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5792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792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 số liệu khác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452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456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456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Tính năng khác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6084C-DCB0-85CC-A2F7-6DDA35CF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Bài toán sắp xếp CLB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61288" y="2148840"/>
            <a:ext cx="777240" cy="777240"/>
          </a:xfrm>
          <a:prstGeom prst="ellipse">
            <a:avLst/>
          </a:prstGeom>
          <a:solidFill>
            <a:srgbClr val="F3D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ck_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70" y="2350922"/>
            <a:ext cx="373075" cy="37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6712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Xét theo thứ tự đăng kí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Xét theo thứ tự đăng ký chỉ đánh giá tốc độ chứ không xét trình độ hay nguyện vọng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556247" y="2148840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ip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330" y="2350922"/>
            <a:ext cx="373075" cy="373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208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Đảm bảo chất lượng đầu vào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Những CLB không thể đánh giá chất lượng đầu vào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61288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ands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370" y="4728362"/>
            <a:ext cx="373075" cy="3730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6712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Cần phải hỗ trợ các HS có hoàn cảnh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Lời giải cần tạo cách để ưu tiên các HS khó khăn vào CLB nếu cần thiết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56247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sers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330" y="4728362"/>
            <a:ext cx="373075" cy="3730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6208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Số chỗ có thể ít hơn số lượng HS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Có thể có ít chỗ hơn số lượng học sinh</a:t>
            </a:r>
          </a:p>
        </p:txBody>
      </p:sp>
    </p:spTree>
    <p:extLst>
      <p:ext uri="{BB962C8B-B14F-4D97-AF65-F5344CB8AC3E}">
        <p14:creationId xmlns:p14="http://schemas.microsoft.com/office/powerpoint/2010/main" val="293268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03F206-DF21-F43A-978F-233DD242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Giải pháp với 3 bước đơn giản</a:t>
            </a:r>
            <a:endParaRPr lang="vi-VN" dirty="0"/>
          </a:p>
        </p:txBody>
      </p:sp>
      <p:sp>
        <p:nvSpPr>
          <p:cNvPr id="8" name="Rounded Rectangle 7"/>
          <p:cNvSpPr/>
          <p:nvPr/>
        </p:nvSpPr>
        <p:spPr>
          <a:xfrm>
            <a:off x="84124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6128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24780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Nạp ba tệp excel chứa danh sách CLB, các CLB học sinh muốn thi và điểm tương ứng, thứ tự sắp xếp của học sinh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59936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4456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864607" y="2240279"/>
            <a:ext cx="914400" cy="914400"/>
          </a:xfrm>
          <a:prstGeom prst="ellipse">
            <a:avLst/>
          </a:prstGeom>
          <a:solidFill>
            <a:srgbClr val="2F5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1" y="247802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64607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DCE9E0"/>
                </a:solidFill>
                <a:latin typeface="Arial"/>
              </a:rPr>
              <a:t>PHẦN MỀM SẼ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7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vi-VN">
                <a:solidFill>
                  <a:srgbClr val="FFFFFF"/>
                </a:solidFill>
                <a:latin typeface="Arial"/>
              </a:rPr>
              <a:t>Xử lí các dữ liệu đó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63255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4788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6792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s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5672" y="247802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6792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Hiển thị thông số như danh sách HS đạt các CLB, danh sách HS chưa có chỗ, thời khóa biểu CLB của học sinh,…</a:t>
            </a:r>
          </a:p>
        </p:txBody>
      </p:sp>
    </p:spTree>
    <p:extLst>
      <p:ext uri="{BB962C8B-B14F-4D97-AF65-F5344CB8AC3E}">
        <p14:creationId xmlns:p14="http://schemas.microsoft.com/office/powerpoint/2010/main" val="61529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3993-FB92-50AB-8C83-A7268C03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Năm bước thao tác</a:t>
            </a:r>
            <a:endParaRPr lang="vi-VN" dirty="0"/>
          </a:p>
        </p:txBody>
      </p:sp>
      <p:cxnSp>
        <p:nvCxnSpPr>
          <p:cNvPr id="3" name="Connector 2"/>
          <p:cNvCxnSpPr/>
          <p:nvPr/>
        </p:nvCxnSpPr>
        <p:spPr>
          <a:xfrm>
            <a:off x="2155698" y="2560320"/>
            <a:ext cx="7886700" cy="0"/>
          </a:xfrm>
          <a:prstGeom prst="line">
            <a:avLst/>
          </a:prstGeom>
          <a:ln w="38100">
            <a:solidFill>
              <a:srgbClr val="D5D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7442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09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7442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187" y="3917289"/>
            <a:ext cx="395020" cy="3950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Nạp ba tệp excel</a:t>
            </a:r>
          </a:p>
        </p:txBody>
      </p:sp>
      <p:sp>
        <p:nvSpPr>
          <p:cNvPr id="9" name="Oval 8"/>
          <p:cNvSpPr/>
          <p:nvPr/>
        </p:nvSpPr>
        <p:spPr>
          <a:xfrm>
            <a:off x="43731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98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731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rn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3917289"/>
            <a:ext cx="395020" cy="3950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27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Xem mục cảnh báo dữ liệu</a:t>
            </a:r>
          </a:p>
        </p:txBody>
      </p:sp>
      <p:sp>
        <p:nvSpPr>
          <p:cNvPr id="14" name="Oval 13"/>
          <p:cNvSpPr/>
          <p:nvPr/>
        </p:nvSpPr>
        <p:spPr>
          <a:xfrm>
            <a:off x="7002018" y="2148840"/>
            <a:ext cx="822960" cy="822960"/>
          </a:xfrm>
          <a:prstGeom prst="ellipse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0020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lay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987" y="3917289"/>
            <a:ext cx="395020" cy="3950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916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Bấm chạy sắp xếp</a:t>
            </a:r>
          </a:p>
        </p:txBody>
      </p:sp>
      <p:sp>
        <p:nvSpPr>
          <p:cNvPr id="19" name="Oval 18"/>
          <p:cNvSpPr/>
          <p:nvPr/>
        </p:nvSpPr>
        <p:spPr>
          <a:xfrm>
            <a:off x="96309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76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6309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port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4887" y="3917289"/>
            <a:ext cx="395020" cy="395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20555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Xuất file kết quả</a:t>
            </a:r>
          </a:p>
        </p:txBody>
      </p:sp>
    </p:spTree>
    <p:extLst>
      <p:ext uri="{BB962C8B-B14F-4D97-AF65-F5344CB8AC3E}">
        <p14:creationId xmlns:p14="http://schemas.microsoft.com/office/powerpoint/2010/main" val="346285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E72CF-6560-DA21-3636-DED87FF2D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Cách CLB xác định học sinh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117F-FA77-AF43-2AC8-D7C43D097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Tầng 1:</a:t>
            </a:r>
            <a:r>
              <a:rPr lang="vi-VN" sz="3200"/>
              <a:t> Ưu tiên học sinh có thi CLB đó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Tầng 2:</a:t>
            </a:r>
            <a:r>
              <a:rPr lang="vi-VN" sz="3200"/>
              <a:t> HS không thi thì xếp theo số bốc thăm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08510918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Phần mềm vận hành qua 6 bước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828800"/>
            <a:ext cx="4846320" cy="4480560"/>
          </a:xfrm>
        </p:spPr>
        <p:txBody>
          <a:bodyPr/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1. Sao lưu:</a:t>
            </a:r>
            <a:r>
              <a:rPr b="0" sz="1800" lang="vi-VN"/>
              <a:t> tự lưu một bản dữ liệu trước khi chạy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2. Kiểm tra dữ liệu:</a:t>
            </a:r>
            <a:r>
              <a:rPr b="0" sz="1800" lang="vi-VN"/>
              <a:t> dữ liệu sai thì dừng lại, chưa bốc thăm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3. Bốc thăm:</a:t>
            </a:r>
            <a:r>
              <a:rPr b="0" sz="1800" lang="vi-VN"/>
              <a:t> tạo số bốc thăm cho học sinh, khóa lại sau lần đầu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4. Chạy thuật toán:</a:t>
            </a:r>
            <a:r>
              <a:rPr b="0" sz="1800" lang="vi-VN"/>
              <a:t> xếp học sinh vào CLB, kiểm tra kết quả ổn định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5. Ghi kết quả:</a:t>
            </a:r>
            <a:r>
              <a:rPr b="0" sz="1800" lang="vi-VN"/>
              <a:t> chỉ lưu khi mọi bước đều đạt, lỗi thì hủy toàn bộ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6. Xuất tệp:</a:t>
            </a:r>
            <a:r>
              <a:rPr b="0" sz="1800" lang="vi-VN"/>
              <a:t> tạo file kết quả cho nhà trường và từng CLB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828800"/>
            <a:ext cx="5184648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2000" lang="vi-VN">
                <a:solidFill>
                  <a:srgbClr val="1F1F1F"/>
                </a:solidFill>
              </a:rPr>
              <a:t>Bước 4 diễn ra thế nào</a:t>
            </a:r>
          </a:p>
          <a:p>
            <a:pPr>
              <a:spcAft>
                <a:spcPts val="800"/>
              </a:spcAft>
            </a:pPr>
            <a:r>
              <a:rPr b="1" sz="1600" lang="vi-VN">
                <a:solidFill>
                  <a:srgbClr val="1F1F1F"/>
                </a:solidFill>
              </a:rPr>
              <a:t>Nộp đơn: </a:t>
            </a:r>
            <a:r>
              <a:rPr b="0" sz="1600" lang="vi-VN">
                <a:solidFill>
                  <a:srgbClr val="1F1F1F"/>
                </a:solidFill>
              </a:rPr>
              <a:t>học sinh nộp đơn vào CLB theo thứ tự nguyện vọng.</a:t>
            </a:r>
          </a:p>
          <a:p>
            <a:pPr>
              <a:spcAft>
                <a:spcPts val="800"/>
              </a:spcAft>
            </a:pPr>
            <a:r>
              <a:rPr b="1" sz="1600" lang="vi-VN">
                <a:solidFill>
                  <a:srgbClr val="1F1F1F"/>
                </a:solidFill>
              </a:rPr>
              <a:t>Xếp hạng hai tầng: </a:t>
            </a:r>
            <a:r>
              <a:rPr b="0" sz="1600" lang="vi-VN">
                <a:solidFill>
                  <a:srgbClr val="1F1F1F"/>
                </a:solidFill>
              </a:rPr>
              <a:t>Tầng 1 là học sinh đã thi, xếp theo điểm; Tầng 2 là học sinh không thi, xếp theo bốc thăm.</a:t>
            </a:r>
          </a:p>
          <a:p>
            <a:pPr>
              <a:spcAft>
                <a:spcPts val="800"/>
              </a:spcAft>
            </a:pPr>
            <a:r>
              <a:rPr b="1" sz="1600" lang="vi-VN">
                <a:solidFill>
                  <a:srgbClr val="1F1F1F"/>
                </a:solidFill>
              </a:rPr>
              <a:t>Giữ tạm: </a:t>
            </a:r>
            <a:r>
              <a:rPr b="0" sz="1600" lang="vi-VN">
                <a:solidFill>
                  <a:srgbClr val="1F1F1F"/>
                </a:solidFill>
              </a:rPr>
              <a:t>CLB giữ tạm đủ số chỗ, từ chối phần còn lại.</a:t>
            </a:r>
          </a:p>
          <a:p>
            <a:pPr>
              <a:spcAft>
                <a:spcPts val="800"/>
              </a:spcAft>
            </a:pPr>
            <a:r>
              <a:rPr b="1" sz="1600" lang="vi-VN">
                <a:solidFill>
                  <a:srgbClr val="1F1F1F"/>
                </a:solidFill>
              </a:rPr>
              <a:t>Lặp lại: </a:t>
            </a:r>
            <a:r>
              <a:rPr b="0" sz="1600" lang="vi-VN">
                <a:solidFill>
                  <a:srgbClr val="1F1F1F"/>
                </a:solidFill>
              </a:rPr>
              <a:t>học sinh bị từ chối nộp tiếp nguyện vọng sau, tới khi không còn ai nộp.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526280"/>
            <a:ext cx="5184648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 marL="0" indent="0"/>
            <a:r>
              <a:rPr b="1" sz="1500" lang="vi-VN">
                <a:solidFill>
                  <a:srgbClr val="1F1F1F"/>
                </a:solidFill>
              </a:rPr>
              <a:t>Ví dụ: CLB Tin học có 2 chỗ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4892040"/>
          <a:ext cx="5184648" cy="128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40080"/>
                <a:gridCol w="2624328"/>
                <a:gridCol w="960120"/>
                <a:gridCol w="960120"/>
              </a:tblGrid>
              <a:tr h="426720">
                <a:tc>
                  <a:txBody>
                    <a:bodyPr wrap="square"/>
                    <a:lstStyle/>
                    <a:p>
                      <a:pPr algn="ctr"/>
                      <a:r>
                        <a:rPr sz="1300" b="1" lang="vi-VN">
                          <a:solidFill>
                            <a:srgbClr val="1F1F1F"/>
                          </a:solidFill>
                        </a:rPr>
                        <a:t>Vòng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1" lang="vi-VN">
                          <a:solidFill>
                            <a:srgbClr val="1F1F1F"/>
                          </a:solidFill>
                        </a:rPr>
                        <a:t>Đơn đang xét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1" lang="vi-VN">
                          <a:solidFill>
                            <a:srgbClr val="1F1F1F"/>
                          </a:solidFill>
                        </a:rPr>
                        <a:t>Giữ tạm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1" lang="vi-VN">
                          <a:solidFill>
                            <a:srgbClr val="1F1F1F"/>
                          </a:solidFill>
                        </a:rPr>
                        <a:t>Bị từ chối</a:t>
                      </a:r>
                    </a:p>
                  </a:txBody>
                  <a:tcPr marL="54864" marR="54864" marT="27432" marB="27432"/>
                </a:tc>
              </a:tr>
              <a:tr h="4267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1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An (thi, 8 điểm), Chi (thi, 7 điểm), Bình (không thi)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An, Chi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Bình</a:t>
                      </a:r>
                    </a:p>
                  </a:txBody>
                  <a:tcPr marL="54864" marR="54864" marT="27432" marB="27432"/>
                </a:tc>
              </a:tr>
              <a:tr h="4267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2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Thêm Dũng (thi, 9 điểm)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Dũng, An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Chi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FEA5-37DE-2025-46C4-C5C7E5C6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Thông số đầu đủ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DC52C-12DF-E812-8654-D1DBCCBDA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Biết rõ mức lấp đầy cụ thể</a:t>
            </a:r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Phân bổ nguyện vọng</a:t>
            </a:r>
            <a:endParaRPr lang="vi-VN" dirty="0"/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Số học sinh cụ thể chưa có chỗ</a:t>
            </a:r>
          </a:p>
        </p:txBody>
      </p:sp>
    </p:spTree>
    <p:extLst>
      <p:ext uri="{BB962C8B-B14F-4D97-AF65-F5344CB8AC3E}">
        <p14:creationId xmlns:p14="http://schemas.microsoft.com/office/powerpoint/2010/main" val="156299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4522-D64D-59BE-2844-B2191806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sz="3800"/>
              <a:t>Thử nghiệm với 140 HS, 12 CLB, 150 suất</a:t>
            </a:r>
            <a:endParaRPr lang="vi-VN" dirty="0"/>
          </a:p>
        </p:txBody>
      </p:sp>
      <p:pic>
        <p:nvPicPr>
          <p:cNvPr id="3" name="Picture 2" descr="c_sac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5120640" cy="3778679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41248" y="563491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595959"/>
                </a:solidFill>
                <a:latin typeface="Arial"/>
              </a:rPr>
              <a:t>Màn hình Kết quả của phần mềm. Xanh: xét chung. Vàng: vào bằng suất dự trữ.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140/140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có CLB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được nguyện vọng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vào bằng suất dự trữ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0,02 giây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thời gian chạy sắp xếp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55080" y="3611880"/>
          <a:ext cx="5001768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B84A3E"/>
                </a:solidFill>
                <a:latin typeface="Arial"/>
              </a:rPr>
              <a:t>Dữ liệu mô phỏng do máy tạo ra (bộ bo_sach), không phải học sinh thật. Mỗi học sinh thi 4 CLB và ghi 6 nguyện vọng.</a:t>
            </a:r>
          </a:p>
        </p:txBody>
      </p:sp>
    </p:spTree>
    <p:extLst>
      <p:ext uri="{BB962C8B-B14F-4D97-AF65-F5344CB8AC3E}">
        <p14:creationId xmlns:p14="http://schemas.microsoft.com/office/powerpoint/2010/main" val="603483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EA77-B499-B89C-F3A5-57074CDEE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Số liệu chứng minh công bằng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3EA8F-8A5D-9DCB-17FE-E89082138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0</a:t>
            </a:r>
            <a:r>
              <a:rPr lang="vi-VN" sz="3200"/>
              <a:t> cặp học sinh và CLB muốn đổi kết quả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/>
              <a:t>Chỉ </a:t>
            </a:r>
            <a:r>
              <a:rPr lang="vi-VN" b="1" sz="3200"/>
              <a:t>1,1%</a:t>
            </a:r>
            <a:r>
              <a:rPr lang="vi-VN" sz="3200"/>
              <a:t> số học sinh có kết quả phụ thuộc bốc thăm</a:t>
            </a:r>
            <a:endParaRPr lang="vi-VN" dirty="0"/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750+</a:t>
            </a:r>
            <a:r>
              <a:rPr lang="vi-VN" sz="3200"/>
              <a:t> chỉ báo trong phần mềm để đảm bảo phần mềm hoạt động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31215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7C06-118C-D344-F61B-8E28B044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Phù hợp với nhiều cách tổ chức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E2C8-7F10-102B-237B-6BF6644D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1. Đa dạng các cách lựa chọn buổi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2. Thêm và chỉnh sửa thông số học sinh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3. Song ngữ Anh Việt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4. Có thể ưu tiên cho các học sinh khó khăn </a:t>
            </a:r>
          </a:p>
        </p:txBody>
      </p:sp>
    </p:spTree>
    <p:extLst>
      <p:ext uri="{BB962C8B-B14F-4D97-AF65-F5344CB8AC3E}">
        <p14:creationId xmlns:p14="http://schemas.microsoft.com/office/powerpoint/2010/main" val="2665684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435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Thuyết trình về cuộc thi khoa học kỹ thuật</vt:lpstr>
      <vt:lpstr>Nội dung </vt:lpstr>
      <vt:lpstr>1. Bài toán sắp xếp CLB</vt:lpstr>
      <vt:lpstr>2. Giải pháp với 3 bước đơn giản</vt:lpstr>
      <vt:lpstr>Năm bước thao tác</vt:lpstr>
      <vt:lpstr>Cách CLB xác định học sinh</vt:lpstr>
      <vt:lpstr>Thông số đầu đủ</vt:lpstr>
      <vt:lpstr>Thử nghiệm với 140 HS, 12 CLB, 120 suất</vt:lpstr>
      <vt:lpstr>Số liệu chứng minh công bằng</vt:lpstr>
      <vt:lpstr>Phù hợp với nhiều cách tổ chức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Truong-Nguyen Phan Van:C161801085</dc:creator>
  <cp:lastModifiedBy>Truong-Nguyen Phan Van:C161801085</cp:lastModifiedBy>
  <cp:revision>5</cp:revision>
  <dcterms:created xsi:type="dcterms:W3CDTF">2026-09-24T15:04:08Z</dcterms:created>
  <dcterms:modified xsi:type="dcterms:W3CDTF">2026-09-24T23:41:09Z</dcterms:modified>
</cp:coreProperties>
</file>