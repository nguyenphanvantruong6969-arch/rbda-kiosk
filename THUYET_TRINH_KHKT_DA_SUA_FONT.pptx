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1" r:id="rId6"/>
    <p:sldId id="260" r:id="rId7"/>
    <p:sldId id="266" r:id="rId8"/>
    <p:sldId id="262" r:id="rId9"/>
    <p:sldId id="263" r:id="rId10"/>
    <p:sldId id="264" r:id="rId11"/>
    <p:sldId id="265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01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vi-VN" sz="1200" b="1">
                <a:solidFill>
                  <a:srgbClr val="1F1F1F"/>
                </a:solidFill>
                <a:latin typeface="Arial"/>
              </a:rPr>
              <a:t>Số học sinh theo nguyện vọng được xếp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Số học sinh</c:v>
                </c:pt>
              </c:strCache>
            </c:strRef>
          </c:tx>
          <c:spPr>
            <a:solidFill>
              <a:srgbClr val="3F6B52"/>
            </a:solidFill>
          </c:spPr>
          <c:invertIfNegative val="1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NV 1</c:v>
                </c:pt>
                <c:pt idx="1">
                  <c:v>NV 2</c:v>
                </c:pt>
                <c:pt idx="2">
                  <c:v>NV 3</c:v>
                </c:pt>
                <c:pt idx="3">
                  <c:v>NV 4</c:v>
                </c:pt>
                <c:pt idx="4">
                  <c:v>NV 5</c:v>
                </c:pt>
                <c:pt idx="5">
                  <c:v>NV 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54</c:v>
                </c:pt>
                <c:pt idx="1">
                  <c:v>46</c:v>
                </c:pt>
                <c:pt idx="2">
                  <c:v>21</c:v>
                </c:pt>
                <c:pt idx="3">
                  <c:v>11</c:v>
                </c:pt>
                <c:pt idx="4">
                  <c:v>7</c:v>
                </c:pt>
                <c:pt idx="5">
                  <c:v>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B6AD-4CAA-8EDC-E7414E52B2A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595959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95959"/>
                </a:solidFill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031DF7-A598-4BE1-8BBD-413E1E50381D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7EF391-9EC8-46DA-9374-EF11EAFE71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3668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Bên trái là 6 bước phần mềm tự làm sau khi bấm Chạy sắp xếp. Bên phải giải thích bước 4. Nhấn mạnh chữ giữ tạm: ở vòng 2, Dũng đến sau nhưng điểm cao hơn nên vẫn vào được, Chi bị đẩy ra và nộp tiếp nguyện vọng 2. Bình không thi nên ở Tầng 2, luôn đứng sau các học sinh đã thi. CLB không biết học sinh xếp mình ở nguyện vọng mấy. Nếu bước 4 phát hiện kết quả không ổn định, phần mềm hủy toàn bộ lần chạy. Suất dự trữ: nhà trường có thể dành một số chỗ ở mỗi CLB cho một nhóm, ví dụ học sinh diện chính sách hoặc khối 10. CLB xét nhóm này trước, lấy tối đa bằng số suất dự trữ; sau đó xét chung toàn bộ phần còn lại. Suất dự trữ là mềm: không đủ học sinh thuộc nhóm thì chỗ thừa tự trả lại cho xét chung, CLB không bị trống chỗ.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Số liệu lấy từ phần mềm, chạy bộ du_lieu_test/bo_sach với hạt giống bốc thăm 42: 140 học sinh, 12 CLB, 150 chỗ, trong đó 16 suất dự trữ. Cả 140 học sinh đều có CLB; 9 trên 12 CLB kín chỗ, còn 10 chỗ trống. 54 học sinh (39%) được nguyện vọng 1. Tỉ lệ nguyện vọng 1 không cao vì bộ này cố ý cho mọi học sinh thi 4 CLB và ghi 6 nguyện vọng, nên nguyện vọng đầu cạnh tranh gắt. Đây là dữ liệu mô phỏng.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3AD9C-2787-2D6E-8B3D-7793697BEB7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7D0FE4-5966-1982-ABC2-9BB4D14643C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vi-VN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EF36C7-A708-3694-0003-0D489558ECB0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AA33932-D5B9-4B57-9B2F-FE62C4F2C626}" type="datetime1">
              <a:rPr lang="vi-VN"/>
              <a:pPr lvl="0"/>
              <a:t>25/09/2026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620193-8E25-A4D6-D72B-ABE181CEB562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94BEA-4E58-29E5-EBBD-597B3ABB4EC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611D3C9-163B-45C8-AB9C-2A3CAB77BB11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59519949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D3F74-EB88-3019-8357-4749237C279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3FBB21-DB38-13C5-09C7-6E4DC5C319E5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670BAB-1348-E787-58B5-1E98F6244E15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C7BCD62-19D0-4E77-943B-FA0DC0EBA3BF}" type="datetime1">
              <a:rPr lang="vi-VN"/>
              <a:pPr lvl="0"/>
              <a:t>25/09/2026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A5EB2E-1905-3849-F72C-79D58480AA6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02824-422C-C944-C275-0CC94BC2947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3BE38D4-F8EB-4480-8B24-8A252B1C513F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4297981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6BD6E-8463-2108-A308-DABFE7FF81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47" y="1709735"/>
            <a:ext cx="10515600" cy="2852735"/>
          </a:xfrm>
        </p:spPr>
        <p:txBody>
          <a:bodyPr anchor="b"/>
          <a:lstStyle>
            <a:lvl1pPr>
              <a:defRPr sz="6000"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A68EF5-2178-2E7B-636E-381B78319B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1847" y="4589465"/>
            <a:ext cx="10515600" cy="1500182"/>
          </a:xfrm>
        </p:spPr>
        <p:txBody>
          <a:bodyPr/>
          <a:lstStyle>
            <a:lvl1pPr marL="0" indent="0">
              <a:buNone/>
              <a:defRPr sz="2400">
                <a:solidFill>
                  <a:srgbClr val="767676"/>
                </a:solidFill>
              </a:defRPr>
            </a:lvl1pPr>
          </a:lstStyle>
          <a:p>
            <a:pPr lvl="0"/>
            <a:r>
              <a:rPr lang="vi-VN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180FF0-DB69-C9AD-D05E-1A673EAD66F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2F8731B-6AE6-4397-96E4-4309FE7F3D37}" type="datetime1">
              <a:rPr lang="vi-VN"/>
              <a:pPr lvl="0"/>
              <a:t>25/09/2026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56A019-1480-4000-AD3A-BEC2CC1533A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3A5F8F-44D8-5A2F-FE92-50ECE7216FC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EC5464D-FBBE-4D85-BDB1-FE6A8D07E0BF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870953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29671-14EE-0B88-9DB5-7C9AA57400C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037BE-2D38-3798-6491-163783D16614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36ADA2-800B-3967-3C74-2F28493B3DC1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72200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D45F2D-8B50-D512-DC6C-6F5899F368DE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F937529-2119-4D4A-A075-9F8CB5AADCC7}" type="datetime1">
              <a:rPr lang="vi-VN"/>
              <a:pPr lvl="0"/>
              <a:t>25/09/2026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C95C15-221D-5F25-9701-6A18AFC4BEC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6B3256-DC40-4573-D650-311D05E6AA04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55D440D-50D9-459B-A8BA-706E20E9A62A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024261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DCA59-D089-4486-FB02-4D89E1A3148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48C157-5BBF-A8AF-65D2-2673ED156F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9784" y="1681160"/>
            <a:ext cx="5157782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vi-VN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F6AB63-8845-B446-F503-699E797DAC7A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839784" y="2505071"/>
            <a:ext cx="5157782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F55D53-AC1F-A4CA-8ADF-09CE09C97BEF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72200" y="1681160"/>
            <a:ext cx="5183184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vi-VN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6CB8F5-19C6-CDA5-12A5-06845A49B29A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72200" y="2505071"/>
            <a:ext cx="5183184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CDFA0AE-25C5-5ADE-A5E6-05B15BF777BD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03B2482-B273-4E34-AC74-7799B9C714FF}" type="datetime1">
              <a:rPr lang="vi-VN"/>
              <a:pPr lvl="0"/>
              <a:t>25/09/2026</a:t>
            </a:fld>
            <a:endParaRPr lang="vi-V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E3F72A-5F6C-2EE8-5A3B-8C40D85059CC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53BC94F-3021-B65E-B64C-9B163BF71AF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52B660B-1FAE-466C-9650-736EF6645B73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793839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B3AA1-6C35-862B-90DB-D4824F584AD4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FB3636-4B99-182E-BC02-5B4362B1EBB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74D79C0-10C1-4697-AA7B-3901AB52AB50}" type="datetime1">
              <a:rPr lang="vi-VN"/>
              <a:pPr lvl="0"/>
              <a:t>25/09/2026</a:t>
            </a:fld>
            <a:endParaRPr lang="vi-V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204D86-BC2B-4113-D68B-C1EA4AA3A38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7DBB56-BD8B-B20A-FCAE-9566D577CF9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CD8200D-34A1-4CE8-8BCB-C5A6F917DB90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5283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4B2E18-D73B-DD7B-5068-22ECFF345608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DC194AB-0501-47B8-819C-171406D01325}" type="datetime1">
              <a:rPr lang="vi-VN"/>
              <a:pPr lvl="0"/>
              <a:t>25/09/2026</a:t>
            </a:fld>
            <a:endParaRPr lang="vi-V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DF026D-AFBE-2B6B-DA18-08CF2644F8FC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F3C4C5-54C7-3F98-515D-AECFA030D31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1F2D42B-3B99-40DF-8922-3D95E477EE53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6574449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23E50-798E-7039-C01A-F5746E1415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CA8CA6-336F-16E3-A0CF-D6759B0FC4C0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500C06-773B-60A8-15B7-A673A8A2220B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vi-V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3F7364-754A-69EB-9362-16F3ADE85D28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74B0DAC-5760-4BA2-849E-1CE31FC71832}" type="datetime1">
              <a:rPr lang="vi-VN"/>
              <a:pPr lvl="0"/>
              <a:t>25/09/2026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7B582A-14D7-E875-127E-2F7E9FC61B9D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9C82A0-8A99-30FA-F63A-A273BE497D9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7B09102-E7D3-49F5-9AB3-848082E94E0B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55316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96357-95CB-4203-58D7-EA6B894F54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13FF128-D087-5B95-92C3-E231F95387FA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pPr lvl="0"/>
            <a:endParaRPr lang="vi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9C6F52-15E7-91B3-30B0-82CFA5FDF961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vi-V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5C8C7B-5143-C86F-B6A3-4CA72E3042E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6D8F105-1F3A-4B1F-A93B-D14C0903D25D}" type="datetime1">
              <a:rPr lang="vi-VN"/>
              <a:pPr lvl="0"/>
              <a:t>25/09/2026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8227A6-82CE-9896-90DF-74770AAD96D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EEE5DB-F3EC-D5D3-F303-3B9E4E41E81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25787F0-B305-4ABC-8A37-5B325F70BB92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7373642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0A9BC-F1AD-1647-C772-ECCA1D2AADEC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FD52B0-09B0-0E65-5FEB-B3A983AD9517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F284CC-1708-9C9D-1EAB-50697C493CD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8B4C40A-811F-4F22-A37C-05332F897169}" type="datetime1">
              <a:rPr lang="vi-VN"/>
              <a:pPr lvl="0"/>
              <a:t>25/09/2026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6F8A3E-E307-F991-99F1-99A2E1BAEF74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7D4024-2D46-27B0-D701-92461CFCBB7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9878A96-088E-4EC1-A8E9-FB170EE5499D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514066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35DE3B-CD8D-3A8C-180F-935FAD5507DA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724903" y="365129"/>
            <a:ext cx="2628899" cy="581183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43DB21-2B8A-73DB-FA63-75CA9E1B5584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838203" y="365129"/>
            <a:ext cx="7734296" cy="581183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83663C-4FBD-E9B1-DDA2-2B514D2531FA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36D23F0-1C05-473C-AD3E-8D134A4420F7}" type="datetime1">
              <a:rPr lang="vi-VN"/>
              <a:pPr lvl="0"/>
              <a:t>25/09/2026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C49A5B-1EEB-E4CE-46DA-28E8C455A67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552440-20D3-E80E-9573-51CC2AEA5EC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5CC6D5C-87D5-4D22-AB17-6826A7D9D625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2453136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8D9F534-AD46-89B8-F8DA-5EDB65F2B7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rmAutofit/>
          </a:bodyPr>
          <a:lstStyle/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987F4F-A75E-D7AE-5F82-9D8728DE84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2AFE58-0486-2981-8215-427F4E051021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vi-VN" sz="1200" b="0" i="0" u="none" strike="noStrike" kern="1200" cap="none" spc="0" baseline="0">
                <a:solidFill>
                  <a:srgbClr val="767676"/>
                </a:solidFill>
                <a:uFillTx/>
                <a:latin typeface="Arial"/>
              </a:defRPr>
            </a:lvl1pPr>
          </a:lstStyle>
          <a:p>
            <a:pPr lvl="0"/>
            <a:fld id="{C8339D3A-A655-4913-B670-677049566522}" type="datetime1">
              <a:rPr lang="vi-VN"/>
              <a:pPr lvl="0"/>
              <a:t>25/09/2026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4010C6-47F5-7E09-35C8-6DBA00304628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vi-VN" sz="1200" b="0" i="0" u="none" strike="noStrike" kern="1200" cap="none" spc="0" baseline="0">
                <a:solidFill>
                  <a:srgbClr val="767676"/>
                </a:solidFill>
                <a:uFillTx/>
                <a:latin typeface="Arial"/>
              </a:defRPr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74299A-F750-AB02-2BAB-CE579E89BF5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vi-VN" sz="1200" b="0" i="0" u="none" strike="noStrike" kern="1200" cap="none" spc="0" baseline="0">
                <a:solidFill>
                  <a:srgbClr val="767676"/>
                </a:solidFill>
                <a:uFillTx/>
                <a:latin typeface="Arial"/>
              </a:defRPr>
            </a:lvl1pPr>
          </a:lstStyle>
          <a:p>
            <a:pPr lvl="0"/>
            <a:fld id="{007C45BE-F907-4235-8F41-6944091C3225}" type="slidenum">
              <a:t>‹#›</a:t>
            </a:fld>
            <a:endParaRPr lang="vi-V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vi-VN" sz="4400" b="0" i="0" u="none" strike="noStrike" kern="1200" cap="none" spc="0" baseline="0">
          <a:solidFill>
            <a:srgbClr val="000000"/>
          </a:solidFill>
          <a:uFillTx/>
          <a:latin typeface="Arial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000"/>
        </a:spcBef>
        <a:spcAft>
          <a:spcPts val="0"/>
        </a:spcAft>
        <a:buSzPct val="100000"/>
        <a:buFont typeface="Arial" pitchFamily="34"/>
        <a:buChar char="•"/>
        <a:tabLst/>
        <a:defRPr lang="vi-VN" sz="2800" b="0" i="0" u="none" strike="noStrike" kern="1200" cap="none" spc="0" baseline="0">
          <a:solidFill>
            <a:srgbClr val="000000"/>
          </a:solidFill>
          <a:uFillTx/>
          <a:latin typeface="Arial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vi-VN" sz="2400" b="0" i="0" u="none" strike="noStrike" kern="1200" cap="none" spc="0" baseline="0">
          <a:solidFill>
            <a:srgbClr val="000000"/>
          </a:solidFill>
          <a:uFillTx/>
          <a:latin typeface="Arial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vi-VN" sz="2000" b="0" i="0" u="none" strike="noStrike" kern="1200" cap="none" spc="0" baseline="0">
          <a:solidFill>
            <a:srgbClr val="000000"/>
          </a:solidFill>
          <a:uFillTx/>
          <a:latin typeface="Arial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vi-VN" sz="1800" b="0" i="0" u="none" strike="noStrike" kern="1200" cap="none" spc="0" baseline="0">
          <a:solidFill>
            <a:srgbClr val="000000"/>
          </a:solidFill>
          <a:uFillTx/>
          <a:latin typeface="Arial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vi-VN" sz="1800" b="0" i="0" u="none" strike="noStrike" kern="1200" cap="none" spc="0" baseline="0">
          <a:solidFill>
            <a:srgbClr val="000000"/>
          </a:solidFill>
          <a:uFillTx/>
          <a:latin typeface="Arial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vi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3.png"/><Relationship Id="rId4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>
            <a:extLst>
              <a:ext uri="{FF2B5EF4-FFF2-40B4-BE49-F238E27FC236}">
                <a16:creationId xmlns:a16="http://schemas.microsoft.com/office/drawing/2014/main" id="{417B4EEC-DFFB-44C6-6624-23FD25C15E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vi-VN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A0A25DF-720C-D201-181F-B34BA25D2D7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7048" y="1124712"/>
            <a:ext cx="9144000" cy="3063239"/>
          </a:xfrm>
        </p:spPr>
        <p:txBody>
          <a:bodyPr/>
          <a:lstStyle/>
          <a:p>
            <a:pPr lvl="0"/>
            <a:r>
              <a:rPr lang="vi-VN" sz="6600">
                <a:solidFill>
                  <a:srgbClr val="FFFFFF"/>
                </a:solidFill>
              </a:rPr>
              <a:t>Thuyết trình về cuộc thi khoa học kỹ thuật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6FD1A6B-FAC6-7176-9FAA-8A9146C494F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7048" y="4599432"/>
            <a:ext cx="9144000" cy="1227517"/>
          </a:xfrm>
        </p:spPr>
        <p:txBody>
          <a:bodyPr>
            <a:normAutofit lnSpcReduction="10000"/>
          </a:bodyPr>
          <a:lstStyle/>
          <a:p>
            <a:pPr lvl="0"/>
            <a:r>
              <a:rPr lang="vi-VN" sz="1800" b="1">
                <a:solidFill>
                  <a:srgbClr val="FFFFFF"/>
                </a:solidFill>
              </a:rPr>
              <a:t>Đề tài:</a:t>
            </a:r>
            <a:r>
              <a:rPr lang="vi-VN" sz="1800">
                <a:solidFill>
                  <a:srgbClr val="FFFFFF"/>
                </a:solidFill>
              </a:rPr>
              <a:t> Áp dụng thuật toán chấp nhận trì hoãn vào việc sắp xếp học sinh vào các CLB tương ứng</a:t>
            </a:r>
          </a:p>
          <a:p>
            <a:pPr lvl="0"/>
            <a:r>
              <a:rPr lang="vi-VN" sz="1800" b="1">
                <a:solidFill>
                  <a:srgbClr val="FFFFFF"/>
                </a:solidFill>
              </a:rPr>
              <a:t>Thực hiện bởi:</a:t>
            </a:r>
            <a:r>
              <a:rPr lang="vi-VN" sz="1800">
                <a:solidFill>
                  <a:srgbClr val="FFFFFF"/>
                </a:solidFill>
              </a:rPr>
              <a:t> Nguyễn Phan Văn Trường 11H2 và Lê Hoàng Phương Vi 10H3</a:t>
            </a:r>
          </a:p>
          <a:p>
            <a:pPr lvl="0"/>
            <a:r>
              <a:rPr lang="vi-VN" sz="1800">
                <a:solidFill>
                  <a:srgbClr val="FFFFFF"/>
                </a:solidFill>
              </a:rPr>
              <a:t>Cơ sở HVT</a:t>
            </a:r>
          </a:p>
        </p:txBody>
      </p:sp>
      <p:sp>
        <p:nvSpPr>
          <p:cNvPr id="6" name="sketchy box">
            <a:extLst>
              <a:ext uri="{FF2B5EF4-FFF2-40B4-BE49-F238E27FC236}">
                <a16:creationId xmlns:a16="http://schemas.microsoft.com/office/drawing/2014/main" id="{EB98BDD6-14F8-6D4C-C9DA-6965969B18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V="1">
            <a:off x="838203" y="720949"/>
            <a:ext cx="10515600" cy="5416091"/>
          </a:xfrm>
          <a:prstGeom prst="rect">
            <a:avLst/>
          </a:prstGeom>
          <a:noFill/>
          <a:ln w="47621" cap="rnd">
            <a:solidFill>
              <a:srgbClr val="FFFFFF">
                <a:alpha val="75000"/>
              </a:srgbClr>
            </a:solidFill>
            <a:prstDash val="solid"/>
            <a:round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vi-VN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7" name="sketchy line">
            <a:extLst>
              <a:ext uri="{FF2B5EF4-FFF2-40B4-BE49-F238E27FC236}">
                <a16:creationId xmlns:a16="http://schemas.microsoft.com/office/drawing/2014/main" id="{75B9F413-CB0C-4FC4-867B-5F0F26D546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3974201" y="4419423"/>
            <a:ext cx="4243593" cy="18288"/>
          </a:xfrm>
          <a:prstGeom prst="rect">
            <a:avLst/>
          </a:prstGeom>
          <a:solidFill>
            <a:srgbClr val="FFFFFF">
              <a:alpha val="75000"/>
            </a:srgbClr>
          </a:solidFill>
          <a:ln w="41276" cap="rnd">
            <a:solidFill>
              <a:srgbClr val="FFFFFF">
                <a:alpha val="75000"/>
              </a:srgbClr>
            </a:solidFill>
            <a:prstDash val="solid"/>
            <a:round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vi-VN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431AA-BA1E-C72F-113B-735353A48F6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Nội dung 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828800"/>
            <a:ext cx="3322320" cy="205740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61288" y="2148840"/>
            <a:ext cx="1371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vi-VN" sz="4000" b="1">
                <a:solidFill>
                  <a:srgbClr val="3F6B52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2971800"/>
            <a:ext cx="2682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vi-VN" sz="2000" b="1">
                <a:solidFill>
                  <a:srgbClr val="1F1F1F"/>
                </a:solidFill>
                <a:latin typeface="Arial"/>
              </a:rPr>
              <a:t>Bài toán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7888" y="1828800"/>
            <a:ext cx="3322320" cy="205740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57928" y="2148840"/>
            <a:ext cx="1371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vi-VN" sz="4000" b="1">
                <a:solidFill>
                  <a:srgbClr val="3F6B52"/>
                </a:solidFill>
                <a:latin typeface="Arial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7928" y="2971800"/>
            <a:ext cx="2682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vi-VN" sz="2000" b="1">
                <a:solidFill>
                  <a:srgbClr val="1F1F1F"/>
                </a:solidFill>
                <a:latin typeface="Arial"/>
              </a:rPr>
              <a:t>Giải pháp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34528" y="1828800"/>
            <a:ext cx="3322320" cy="205740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354568" y="2148840"/>
            <a:ext cx="1371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vi-VN" sz="4000" b="1">
                <a:solidFill>
                  <a:srgbClr val="3F6B52"/>
                </a:solidFill>
                <a:latin typeface="Arial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54568" y="2971800"/>
            <a:ext cx="2682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vi-VN" sz="2000" b="1">
                <a:solidFill>
                  <a:srgbClr val="1F1F1F"/>
                </a:solidFill>
                <a:latin typeface="Arial"/>
              </a:rPr>
              <a:t>Cách phần mềm hoạt động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4160520"/>
            <a:ext cx="3322320" cy="205740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61288" y="4480559"/>
            <a:ext cx="1371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vi-VN" sz="4000" b="1">
                <a:solidFill>
                  <a:srgbClr val="3F6B52"/>
                </a:solidFill>
                <a:latin typeface="Arial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1288" y="5303520"/>
            <a:ext cx="2682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vi-VN" sz="2000" b="1">
                <a:solidFill>
                  <a:srgbClr val="1F1F1F"/>
                </a:solidFill>
                <a:latin typeface="Arial"/>
              </a:rPr>
              <a:t>Vận hành phần mềm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37888" y="4160520"/>
            <a:ext cx="3322320" cy="205740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57928" y="4480559"/>
            <a:ext cx="1371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vi-VN" sz="4000" b="1">
                <a:solidFill>
                  <a:srgbClr val="3F6B52"/>
                </a:solidFill>
                <a:latin typeface="Arial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7928" y="5303520"/>
            <a:ext cx="2682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vi-VN" sz="2000" b="1">
                <a:solidFill>
                  <a:srgbClr val="1F1F1F"/>
                </a:solidFill>
                <a:latin typeface="Arial"/>
              </a:rPr>
              <a:t>Các số liệu khác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34528" y="4160520"/>
            <a:ext cx="3322320" cy="205740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54568" y="4480559"/>
            <a:ext cx="1371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vi-VN" sz="4000" b="1">
                <a:solidFill>
                  <a:srgbClr val="3F6B52"/>
                </a:solidFill>
                <a:latin typeface="Arial"/>
              </a:rP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4568" y="5303520"/>
            <a:ext cx="2682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vi-VN" sz="2000" b="1">
                <a:solidFill>
                  <a:srgbClr val="1F1F1F"/>
                </a:solidFill>
                <a:latin typeface="Arial"/>
              </a:rPr>
              <a:t>Tính năng khác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B6084C-DCB0-85CC-A2F7-6DDA35CFB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1. Bài toán sắp xếp CLB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1828800"/>
            <a:ext cx="5120640" cy="210312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Oval 5"/>
          <p:cNvSpPr/>
          <p:nvPr/>
        </p:nvSpPr>
        <p:spPr>
          <a:xfrm>
            <a:off x="1161288" y="2148840"/>
            <a:ext cx="777240" cy="777240"/>
          </a:xfrm>
          <a:prstGeom prst="ellipse">
            <a:avLst/>
          </a:prstGeom>
          <a:solidFill>
            <a:srgbClr val="F3D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clock_r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3370" y="2350922"/>
            <a:ext cx="373075" cy="3730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67128" y="2176272"/>
            <a:ext cx="3474720" cy="1554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vi-VN" sz="1900" b="1">
                <a:solidFill>
                  <a:srgbClr val="1F1F1F"/>
                </a:solidFill>
                <a:latin typeface="Arial"/>
              </a:rPr>
              <a:t>Xét theo thứ tự đăng kí</a:t>
            </a:r>
          </a:p>
          <a:p>
            <a:pPr>
              <a:spcBef>
                <a:spcPts val="800"/>
              </a:spcBef>
            </a:pPr>
            <a:r>
              <a:rPr lang="vi-VN" sz="1500">
                <a:solidFill>
                  <a:srgbClr val="555B58"/>
                </a:solidFill>
                <a:latin typeface="Arial"/>
              </a:rPr>
              <a:t>Xét theo thứ tự đăng ký chỉ đánh giá tốc độ chứ không xét trình độ hay nguyện vọng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828800"/>
            <a:ext cx="5120640" cy="210312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Oval 9"/>
          <p:cNvSpPr/>
          <p:nvPr/>
        </p:nvSpPr>
        <p:spPr>
          <a:xfrm>
            <a:off x="6556247" y="2148840"/>
            <a:ext cx="777240" cy="77724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clip_mo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8330" y="2350922"/>
            <a:ext cx="373075" cy="37307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62088" y="2176272"/>
            <a:ext cx="3474720" cy="1554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vi-VN" sz="1900" b="1">
                <a:solidFill>
                  <a:srgbClr val="1F1F1F"/>
                </a:solidFill>
                <a:latin typeface="Arial"/>
              </a:rPr>
              <a:t>Đảm bảo chất lượng đầu vào</a:t>
            </a:r>
          </a:p>
          <a:p>
            <a:pPr>
              <a:spcBef>
                <a:spcPts val="800"/>
              </a:spcBef>
            </a:pPr>
            <a:r>
              <a:rPr lang="vi-VN" sz="1500">
                <a:solidFill>
                  <a:srgbClr val="555B58"/>
                </a:solidFill>
                <a:latin typeface="Arial"/>
              </a:rPr>
              <a:t>Những CLB không thể đánh giá chất lượng đầu vào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4206240"/>
            <a:ext cx="5120640" cy="210312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1161288" y="4526279"/>
            <a:ext cx="777240" cy="77724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hands_mo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3370" y="4728362"/>
            <a:ext cx="373075" cy="37307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167128" y="4553712"/>
            <a:ext cx="3474720" cy="1554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vi-VN" sz="1900" b="1">
                <a:solidFill>
                  <a:srgbClr val="1F1F1F"/>
                </a:solidFill>
                <a:latin typeface="Arial"/>
              </a:rPr>
              <a:t>Cần phải hỗ trợ các HS có hoàn cảnh</a:t>
            </a:r>
          </a:p>
          <a:p>
            <a:pPr>
              <a:spcBef>
                <a:spcPts val="800"/>
              </a:spcBef>
            </a:pPr>
            <a:r>
              <a:rPr lang="vi-VN" sz="1500">
                <a:solidFill>
                  <a:srgbClr val="555B58"/>
                </a:solidFill>
                <a:latin typeface="Arial"/>
              </a:rPr>
              <a:t>Lời giải cần tạo cách để ưu tiên các HS khó khăn vào CLB nếu cần thiết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7" y="4206240"/>
            <a:ext cx="5120640" cy="210312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Oval 17"/>
          <p:cNvSpPr/>
          <p:nvPr/>
        </p:nvSpPr>
        <p:spPr>
          <a:xfrm>
            <a:off x="6556247" y="4526279"/>
            <a:ext cx="777240" cy="77724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users_m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8330" y="4728362"/>
            <a:ext cx="373075" cy="37307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562088" y="4553712"/>
            <a:ext cx="3474720" cy="1554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vi-VN" sz="1900" b="1">
                <a:solidFill>
                  <a:srgbClr val="1F1F1F"/>
                </a:solidFill>
                <a:latin typeface="Arial"/>
              </a:rPr>
              <a:t>Số chỗ có thể ít hơn số lượng HS</a:t>
            </a:r>
          </a:p>
          <a:p>
            <a:pPr>
              <a:spcBef>
                <a:spcPts val="800"/>
              </a:spcBef>
            </a:pPr>
            <a:r>
              <a:rPr lang="vi-VN" sz="1500">
                <a:solidFill>
                  <a:srgbClr val="555B58"/>
                </a:solidFill>
                <a:latin typeface="Arial"/>
              </a:rPr>
              <a:t>Có thể có ít chỗ hơn số lượng học sinh</a:t>
            </a:r>
          </a:p>
        </p:txBody>
      </p:sp>
    </p:spTree>
    <p:extLst>
      <p:ext uri="{BB962C8B-B14F-4D97-AF65-F5344CB8AC3E}">
        <p14:creationId xmlns:p14="http://schemas.microsoft.com/office/powerpoint/2010/main" val="29326814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403F206-DF21-F43A-978F-233DD242D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2. Giải pháp với 3 bước đơn giản</a:t>
            </a:r>
            <a:endParaRPr lang="vi-VN" dirty="0"/>
          </a:p>
        </p:txBody>
      </p:sp>
      <p:sp>
        <p:nvSpPr>
          <p:cNvPr id="8" name="Rounded Rectangle 7"/>
          <p:cNvSpPr/>
          <p:nvPr/>
        </p:nvSpPr>
        <p:spPr>
          <a:xfrm>
            <a:off x="841248" y="1874519"/>
            <a:ext cx="3108960" cy="402336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Oval 8"/>
          <p:cNvSpPr/>
          <p:nvPr/>
        </p:nvSpPr>
        <p:spPr>
          <a:xfrm>
            <a:off x="1161288" y="2240279"/>
            <a:ext cx="914400" cy="91440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excel_m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2478024"/>
            <a:ext cx="43891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61288" y="3383279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vi-VN" sz="1300" b="1" spc="150">
                <a:solidFill>
                  <a:srgbClr val="3F6B52"/>
                </a:solidFill>
                <a:latin typeface="Arial"/>
              </a:rPr>
              <a:t>ĐẦU VÀO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3794760"/>
            <a:ext cx="246888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vi-VN" sz="1600" b="0">
                <a:solidFill>
                  <a:srgbClr val="1F1F1F"/>
                </a:solidFill>
                <a:latin typeface="Arial"/>
              </a:rPr>
              <a:t>Nạp ba tệp excel chứa danh sách CLB, các CLB học sinh muốn thi và điểm tương ứng, thứ tự sắp xếp của học sinh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059936" y="3703320"/>
            <a:ext cx="374904" cy="365760"/>
          </a:xfrm>
          <a:prstGeom prst="rightArrow">
            <a:avLst/>
          </a:prstGeom>
          <a:solidFill>
            <a:srgbClr val="D5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544568" y="1874519"/>
            <a:ext cx="3108960" cy="4023360"/>
          </a:xfrm>
          <a:prstGeom prst="roundRect">
            <a:avLst>
              <a:gd name="adj" fmla="val 6000"/>
            </a:avLst>
          </a:prstGeom>
          <a:solidFill>
            <a:srgbClr val="3F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Oval 14"/>
          <p:cNvSpPr/>
          <p:nvPr/>
        </p:nvSpPr>
        <p:spPr>
          <a:xfrm>
            <a:off x="4864607" y="2240279"/>
            <a:ext cx="914400" cy="914400"/>
          </a:xfrm>
          <a:prstGeom prst="ellipse">
            <a:avLst/>
          </a:prstGeom>
          <a:solidFill>
            <a:srgbClr val="2F5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cog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351" y="2478024"/>
            <a:ext cx="438912" cy="4389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864607" y="3383279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vi-VN" sz="1300" b="1" spc="150">
                <a:solidFill>
                  <a:srgbClr val="DCE9E0"/>
                </a:solidFill>
                <a:latin typeface="Arial"/>
              </a:rPr>
              <a:t>PHẦN MỀM SẼ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7" y="3794760"/>
            <a:ext cx="246888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vi-VN" sz="1600" b="1">
                <a:solidFill>
                  <a:srgbClr val="FFFFFF"/>
                </a:solidFill>
                <a:latin typeface="Arial"/>
              </a:rPr>
              <a:t>Xử lí các dữ liệu đó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763255" y="3703320"/>
            <a:ext cx="374904" cy="365760"/>
          </a:xfrm>
          <a:prstGeom prst="rightArrow">
            <a:avLst/>
          </a:prstGeom>
          <a:solidFill>
            <a:srgbClr val="D5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247888" y="1874519"/>
            <a:ext cx="3108960" cy="402336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Oval 20"/>
          <p:cNvSpPr/>
          <p:nvPr/>
        </p:nvSpPr>
        <p:spPr>
          <a:xfrm>
            <a:off x="8567928" y="2240279"/>
            <a:ext cx="914400" cy="91440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list_mo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05672" y="2478024"/>
            <a:ext cx="438912" cy="43891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567928" y="3383279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vi-VN" sz="1300" b="1" spc="150">
                <a:solidFill>
                  <a:srgbClr val="3F6B52"/>
                </a:solidFill>
                <a:latin typeface="Arial"/>
              </a:rPr>
              <a:t>ĐẦU 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67928" y="3794760"/>
            <a:ext cx="246888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vi-VN" sz="1600" b="0">
                <a:solidFill>
                  <a:srgbClr val="1F1F1F"/>
                </a:solidFill>
                <a:latin typeface="Arial"/>
              </a:rPr>
              <a:t>Hiển thị thông số như danh sách HS đạt các CLB, danh sách HS chưa có chỗ, thời khóa biểu CLB của học sinh,…</a:t>
            </a:r>
          </a:p>
        </p:txBody>
      </p:sp>
    </p:spTree>
    <p:extLst>
      <p:ext uri="{BB962C8B-B14F-4D97-AF65-F5344CB8AC3E}">
        <p14:creationId xmlns:p14="http://schemas.microsoft.com/office/powerpoint/2010/main" val="6152996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83993-FB92-50AB-8C83-A7268C03D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Năm bước thao tác</a:t>
            </a:r>
            <a:endParaRPr lang="vi-VN" dirty="0"/>
          </a:p>
        </p:txBody>
      </p:sp>
      <p:cxnSp>
        <p:nvCxnSpPr>
          <p:cNvPr id="3" name="Connector 2"/>
          <p:cNvCxnSpPr/>
          <p:nvPr/>
        </p:nvCxnSpPr>
        <p:spPr>
          <a:xfrm>
            <a:off x="2155698" y="2560320"/>
            <a:ext cx="7886700" cy="0"/>
          </a:xfrm>
          <a:prstGeom prst="line">
            <a:avLst/>
          </a:prstGeom>
          <a:ln w="38100">
            <a:solidFill>
              <a:srgbClr val="D5D8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1744218" y="2148840"/>
            <a:ext cx="822960" cy="822960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0976" y="3429000"/>
            <a:ext cx="2409444" cy="237744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Oval 5"/>
          <p:cNvSpPr/>
          <p:nvPr/>
        </p:nvSpPr>
        <p:spPr>
          <a:xfrm>
            <a:off x="1744218" y="3703320"/>
            <a:ext cx="822960" cy="82296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excel_m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8187" y="3917289"/>
            <a:ext cx="395020" cy="3950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" y="4709160"/>
            <a:ext cx="204368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vi-VN" sz="1800" b="1">
                <a:solidFill>
                  <a:srgbClr val="1F1F1F"/>
                </a:solidFill>
                <a:latin typeface="Arial"/>
              </a:rPr>
              <a:t>Nạp ba tệp excel</a:t>
            </a:r>
          </a:p>
        </p:txBody>
      </p:sp>
      <p:sp>
        <p:nvSpPr>
          <p:cNvPr id="9" name="Oval 8"/>
          <p:cNvSpPr/>
          <p:nvPr/>
        </p:nvSpPr>
        <p:spPr>
          <a:xfrm>
            <a:off x="4373118" y="2148840"/>
            <a:ext cx="822960" cy="822960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79876" y="3429000"/>
            <a:ext cx="2409444" cy="237744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Oval 10"/>
          <p:cNvSpPr/>
          <p:nvPr/>
        </p:nvSpPr>
        <p:spPr>
          <a:xfrm>
            <a:off x="4373118" y="3703320"/>
            <a:ext cx="822960" cy="82296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warn_mo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087" y="3917289"/>
            <a:ext cx="395020" cy="3950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62756" y="4709160"/>
            <a:ext cx="204368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vi-VN" sz="1800" b="1">
                <a:solidFill>
                  <a:srgbClr val="1F1F1F"/>
                </a:solidFill>
                <a:latin typeface="Arial"/>
              </a:rPr>
              <a:t>Xem mục cảnh báo dữ liệu</a:t>
            </a:r>
          </a:p>
        </p:txBody>
      </p:sp>
      <p:sp>
        <p:nvSpPr>
          <p:cNvPr id="14" name="Oval 13"/>
          <p:cNvSpPr/>
          <p:nvPr/>
        </p:nvSpPr>
        <p:spPr>
          <a:xfrm>
            <a:off x="7002018" y="2148840"/>
            <a:ext cx="822960" cy="822960"/>
          </a:xfrm>
          <a:prstGeom prst="ellipse">
            <a:avLst/>
          </a:prstGeom>
          <a:solidFill>
            <a:srgbClr val="3F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3429000"/>
            <a:ext cx="2409444" cy="237744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Oval 15"/>
          <p:cNvSpPr/>
          <p:nvPr/>
        </p:nvSpPr>
        <p:spPr>
          <a:xfrm>
            <a:off x="7002018" y="3703320"/>
            <a:ext cx="822960" cy="82296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play_mo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5987" y="3917289"/>
            <a:ext cx="395020" cy="3950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91656" y="4709160"/>
            <a:ext cx="204368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vi-VN" sz="1800" b="1">
                <a:solidFill>
                  <a:srgbClr val="1F1F1F"/>
                </a:solidFill>
                <a:latin typeface="Arial"/>
              </a:rPr>
              <a:t>Bấm chạy sắp xếp</a:t>
            </a:r>
          </a:p>
        </p:txBody>
      </p:sp>
      <p:sp>
        <p:nvSpPr>
          <p:cNvPr id="19" name="Oval 18"/>
          <p:cNvSpPr/>
          <p:nvPr/>
        </p:nvSpPr>
        <p:spPr>
          <a:xfrm>
            <a:off x="9630918" y="2148840"/>
            <a:ext cx="822960" cy="822960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37676" y="3429000"/>
            <a:ext cx="2409444" cy="237744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Oval 20"/>
          <p:cNvSpPr/>
          <p:nvPr/>
        </p:nvSpPr>
        <p:spPr>
          <a:xfrm>
            <a:off x="9630918" y="3703320"/>
            <a:ext cx="822960" cy="82296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export_m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44887" y="3917289"/>
            <a:ext cx="395020" cy="3950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20555" y="4709160"/>
            <a:ext cx="204368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vi-VN" sz="1800" b="1">
                <a:solidFill>
                  <a:srgbClr val="1F1F1F"/>
                </a:solidFill>
                <a:latin typeface="Arial"/>
              </a:rPr>
              <a:t>Xuất file kết quả</a:t>
            </a:r>
          </a:p>
        </p:txBody>
      </p:sp>
    </p:spTree>
    <p:extLst>
      <p:ext uri="{BB962C8B-B14F-4D97-AF65-F5344CB8AC3E}">
        <p14:creationId xmlns:p14="http://schemas.microsoft.com/office/powerpoint/2010/main" val="34628558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E72CF-6560-DA21-3636-DED87FF2D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Cách CLB xác định học sinh</a:t>
            </a:r>
            <a:endParaRPr lang="vi-V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5C117F-FA77-AF43-2AC8-D7C43D0977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1828800"/>
            <a:ext cx="4846320" cy="4352544"/>
          </a:xfrm>
        </p:spPr>
        <p:txBody>
          <a:bodyPr/>
          <a:lstStyle/>
          <a:p>
            <a:pPr>
              <a:lnSpc>
                <a:spcPct val="110000"/>
              </a:lnSpc>
              <a:spcAft>
                <a:spcPts val="3000"/>
              </a:spcAft>
            </a:pPr>
            <a:r>
              <a:rPr lang="vi-VN" sz="3200" b="1"/>
              <a:t>Tầng 1:</a:t>
            </a:r>
            <a:r>
              <a:rPr lang="vi-VN" sz="3200"/>
              <a:t> Ưu tiên học sinh có thi CLB đó</a:t>
            </a:r>
          </a:p>
          <a:p>
            <a:pPr>
              <a:lnSpc>
                <a:spcPct val="110000"/>
              </a:lnSpc>
              <a:spcAft>
                <a:spcPts val="3000"/>
              </a:spcAft>
            </a:pPr>
            <a:r>
              <a:rPr lang="vi-VN" sz="3200" b="1"/>
              <a:t>Tầng 2:</a:t>
            </a:r>
            <a:r>
              <a:rPr lang="vi-VN" sz="3200"/>
              <a:t> HS không thi thì xếp theo số bốc thăm</a:t>
            </a:r>
            <a:endParaRPr lang="vi-VN"/>
          </a:p>
        </p:txBody>
      </p:sp>
      <p:pic>
        <p:nvPicPr>
          <p:cNvPr id="4" name="Picture 3" descr="el_scoring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88" y="1874519"/>
            <a:ext cx="5394960" cy="3132557"/>
          </a:xfrm>
          <a:prstGeom prst="rect">
            <a:avLst/>
          </a:prstGeom>
          <a:ln w="9525">
            <a:solidFill>
              <a:srgbClr val="D0D0D0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961888" y="5098517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vi-VN" sz="1200" i="1">
                <a:solidFill>
                  <a:srgbClr val="595959"/>
                </a:solidFill>
                <a:latin typeface="Arial"/>
              </a:rPr>
              <a:t>Màn hình Nhập điểm: giáo viên chỉ thấy mã và họ tên học sinh.</a:t>
            </a:r>
          </a:p>
        </p:txBody>
      </p:sp>
    </p:spTree>
    <p:extLst>
      <p:ext uri="{BB962C8B-B14F-4D97-AF65-F5344CB8AC3E}">
        <p14:creationId xmlns:p14="http://schemas.microsoft.com/office/powerpoint/2010/main" val="36085109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Phần mềm vận hành qua 6 bước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828800"/>
            <a:ext cx="4846320" cy="4480560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10000"/>
              </a:lnSpc>
              <a:spcAft>
                <a:spcPts val="1000"/>
              </a:spcAft>
              <a:buNone/>
            </a:pPr>
            <a:r>
              <a:rPr lang="vi-VN" sz="1800" b="1"/>
              <a:t>1. Sao lưu:</a:t>
            </a:r>
            <a:r>
              <a:rPr lang="vi-VN" sz="1800" b="0"/>
              <a:t> tự lưu một bản dữ liệu trước khi chạy</a:t>
            </a:r>
          </a:p>
          <a:p>
            <a:pPr marL="0" indent="0">
              <a:lnSpc>
                <a:spcPct val="110000"/>
              </a:lnSpc>
              <a:spcAft>
                <a:spcPts val="1000"/>
              </a:spcAft>
              <a:buNone/>
            </a:pPr>
            <a:r>
              <a:rPr lang="vi-VN" sz="1800" b="1"/>
              <a:t>2. Kiểm tra dữ liệu:</a:t>
            </a:r>
            <a:r>
              <a:rPr lang="vi-VN" sz="1800" b="0"/>
              <a:t> dữ liệu sai thì dừng lại, chưa bốc thăm</a:t>
            </a:r>
          </a:p>
          <a:p>
            <a:pPr marL="0" indent="0">
              <a:lnSpc>
                <a:spcPct val="110000"/>
              </a:lnSpc>
              <a:spcAft>
                <a:spcPts val="1000"/>
              </a:spcAft>
              <a:buNone/>
            </a:pPr>
            <a:r>
              <a:rPr lang="vi-VN" sz="1800" b="1"/>
              <a:t>3. Bốc thăm:</a:t>
            </a:r>
            <a:r>
              <a:rPr lang="vi-VN" sz="1800" b="0"/>
              <a:t> tạo số bốc thăm cho học sinh, khóa lại sau lần đầu</a:t>
            </a:r>
          </a:p>
          <a:p>
            <a:pPr marL="0" indent="0">
              <a:lnSpc>
                <a:spcPct val="110000"/>
              </a:lnSpc>
              <a:spcAft>
                <a:spcPts val="1000"/>
              </a:spcAft>
              <a:buNone/>
            </a:pPr>
            <a:r>
              <a:rPr lang="vi-VN" sz="1800" b="1"/>
              <a:t>4. Chạy thuật toán:</a:t>
            </a:r>
            <a:r>
              <a:rPr lang="vi-VN" sz="1800" b="0"/>
              <a:t> xếp học sinh vào CLB, kiểm tra kết quả ổn định</a:t>
            </a:r>
          </a:p>
          <a:p>
            <a:pPr marL="0" indent="0">
              <a:lnSpc>
                <a:spcPct val="110000"/>
              </a:lnSpc>
              <a:spcAft>
                <a:spcPts val="1000"/>
              </a:spcAft>
              <a:buNone/>
            </a:pPr>
            <a:r>
              <a:rPr lang="vi-VN" sz="1800" b="1"/>
              <a:t>5. Ghi kết quả:</a:t>
            </a:r>
            <a:r>
              <a:rPr lang="vi-VN" sz="1800" b="0"/>
              <a:t> chỉ lưu khi mọi bước đều đạt, lỗi thì hủy toàn bộ</a:t>
            </a:r>
          </a:p>
          <a:p>
            <a:pPr marL="0" indent="0">
              <a:lnSpc>
                <a:spcPct val="110000"/>
              </a:lnSpc>
              <a:spcAft>
                <a:spcPts val="1000"/>
              </a:spcAft>
              <a:buNone/>
            </a:pPr>
            <a:r>
              <a:rPr lang="vi-VN" sz="1800" b="1"/>
              <a:t>6. Xuất tệp:</a:t>
            </a:r>
            <a:r>
              <a:rPr lang="vi-VN" sz="1800" b="0"/>
              <a:t> tạo file kết quả cho nhà trường và từng CLB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1828800"/>
            <a:ext cx="5184648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lang="vi-VN" sz="2000" b="1" dirty="0">
                <a:solidFill>
                  <a:srgbClr val="1F1F1F"/>
                </a:solidFill>
              </a:rPr>
              <a:t>Bước 4 diễn ra thế nào</a:t>
            </a:r>
          </a:p>
          <a:p>
            <a:pPr>
              <a:spcAft>
                <a:spcPts val="600"/>
              </a:spcAft>
            </a:pPr>
            <a:r>
              <a:rPr lang="vi-VN" sz="1500" b="1" dirty="0">
                <a:solidFill>
                  <a:srgbClr val="1F1F1F"/>
                </a:solidFill>
              </a:rPr>
              <a:t>Nộp đơn: </a:t>
            </a:r>
            <a:r>
              <a:rPr lang="vi-VN" sz="1500" b="0" dirty="0">
                <a:solidFill>
                  <a:srgbClr val="1F1F1F"/>
                </a:solidFill>
              </a:rPr>
              <a:t>học sinh nộp đơn vào CLB theo thứ tự nguyện vọng.</a:t>
            </a:r>
          </a:p>
          <a:p>
            <a:pPr>
              <a:spcAft>
                <a:spcPts val="600"/>
              </a:spcAft>
            </a:pPr>
            <a:r>
              <a:rPr lang="vi-VN" sz="1500" b="1" dirty="0">
                <a:solidFill>
                  <a:srgbClr val="1F1F1F"/>
                </a:solidFill>
              </a:rPr>
              <a:t>Xếp hạng hai tầng: </a:t>
            </a:r>
            <a:r>
              <a:rPr lang="vi-VN" sz="1500" b="0" dirty="0">
                <a:solidFill>
                  <a:srgbClr val="1F1F1F"/>
                </a:solidFill>
              </a:rPr>
              <a:t>Tầng 1 là học sinh đã thi, xếp theo điểm; Tầng 2 là học sinh không thi, xếp theo bốc thăm.</a:t>
            </a:r>
          </a:p>
          <a:p>
            <a:pPr>
              <a:spcAft>
                <a:spcPts val="600"/>
              </a:spcAft>
            </a:pPr>
            <a:r>
              <a:rPr lang="vi-VN" sz="1500" b="1" dirty="0">
                <a:solidFill>
                  <a:srgbClr val="1F1F1F"/>
                </a:solidFill>
              </a:rPr>
              <a:t>Suất dự trữ: </a:t>
            </a:r>
            <a:r>
              <a:rPr lang="vi-VN" sz="1500" b="0" dirty="0">
                <a:solidFill>
                  <a:srgbClr val="1F1F1F"/>
                </a:solidFill>
              </a:rPr>
              <a:t>CLB có thể dành trước một số chỗ cho nhóm ưu tiên; không đủ học sinh thuộc nhóm thì chỗ thừa trả lại cho xét chung.</a:t>
            </a:r>
          </a:p>
          <a:p>
            <a:pPr>
              <a:spcAft>
                <a:spcPts val="600"/>
              </a:spcAft>
            </a:pPr>
            <a:r>
              <a:rPr lang="vi-VN" sz="1500" b="1" dirty="0">
                <a:solidFill>
                  <a:srgbClr val="1F1F1F"/>
                </a:solidFill>
              </a:rPr>
              <a:t>Giữ tạm: </a:t>
            </a:r>
            <a:r>
              <a:rPr lang="vi-VN" sz="1500" b="0" dirty="0">
                <a:solidFill>
                  <a:srgbClr val="1F1F1F"/>
                </a:solidFill>
              </a:rPr>
              <a:t>CLB giữ tạm đủ số chỗ, từ chối phần còn lại.</a:t>
            </a:r>
          </a:p>
          <a:p>
            <a:pPr>
              <a:spcAft>
                <a:spcPts val="600"/>
              </a:spcAft>
            </a:pPr>
            <a:r>
              <a:rPr lang="vi-VN" sz="1500" b="1" dirty="0">
                <a:solidFill>
                  <a:srgbClr val="1F1F1F"/>
                </a:solidFill>
              </a:rPr>
              <a:t>Lặp lại: </a:t>
            </a:r>
            <a:r>
              <a:rPr lang="vi-VN" sz="1500" b="0" dirty="0">
                <a:solidFill>
                  <a:srgbClr val="1F1F1F"/>
                </a:solidFill>
              </a:rPr>
              <a:t>học sinh bị từ chối nộp tiếp nguyện vọng sau, tới khi không còn ai nộp.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5029200"/>
            <a:ext cx="5184648" cy="32004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marL="0" indent="0" algn="l"/>
            <a:r>
              <a:rPr lang="vi-VN" sz="1500" b="1">
                <a:solidFill>
                  <a:srgbClr val="1F1F1F"/>
                </a:solidFill>
              </a:rPr>
              <a:t>Ví dụ: CLB Tin học có 2 chỗ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5349240"/>
          <a:ext cx="5184648" cy="130454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43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algn="ctr"/>
                      <a:r>
                        <a:rPr lang="vi-VN" sz="1300" b="1">
                          <a:solidFill>
                            <a:srgbClr val="1F1F1F"/>
                          </a:solidFill>
                        </a:rPr>
                        <a:t>Vòng</a:t>
                      </a:r>
                    </a:p>
                  </a:txBody>
                  <a:tcPr marL="54864" marR="54864" marT="27432" marB="27432"/>
                </a:tc>
                <a:tc>
                  <a:txBody>
                    <a:bodyPr/>
                    <a:lstStyle/>
                    <a:p>
                      <a:r>
                        <a:rPr lang="vi-VN" sz="1300" b="1">
                          <a:solidFill>
                            <a:srgbClr val="1F1F1F"/>
                          </a:solidFill>
                        </a:rPr>
                        <a:t>Đơn đang xét</a:t>
                      </a:r>
                    </a:p>
                  </a:txBody>
                  <a:tcPr marL="54864" marR="54864" marT="27432" marB="27432"/>
                </a:tc>
                <a:tc>
                  <a:txBody>
                    <a:bodyPr/>
                    <a:lstStyle/>
                    <a:p>
                      <a:r>
                        <a:rPr lang="vi-VN" sz="1300" b="1">
                          <a:solidFill>
                            <a:srgbClr val="1F1F1F"/>
                          </a:solidFill>
                        </a:rPr>
                        <a:t>Giữ tạm</a:t>
                      </a:r>
                    </a:p>
                  </a:txBody>
                  <a:tcPr marL="54864" marR="54864" marT="27432" marB="27432"/>
                </a:tc>
                <a:tc>
                  <a:txBody>
                    <a:bodyPr/>
                    <a:lstStyle/>
                    <a:p>
                      <a:r>
                        <a:rPr lang="vi-VN" sz="1300" b="1">
                          <a:solidFill>
                            <a:srgbClr val="1F1F1F"/>
                          </a:solidFill>
                        </a:rPr>
                        <a:t>Bị từ chối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lang="vi-VN" sz="1300" b="0">
                          <a:solidFill>
                            <a:srgbClr val="1F1F1F"/>
                          </a:solidFill>
                        </a:rPr>
                        <a:t>1</a:t>
                      </a:r>
                    </a:p>
                  </a:txBody>
                  <a:tcPr marL="54864" marR="54864" marT="27432" marB="27432"/>
                </a:tc>
                <a:tc>
                  <a:txBody>
                    <a:bodyPr/>
                    <a:lstStyle/>
                    <a:p>
                      <a:r>
                        <a:rPr lang="vi-VN" sz="1300" b="0">
                          <a:solidFill>
                            <a:srgbClr val="1F1F1F"/>
                          </a:solidFill>
                        </a:rPr>
                        <a:t>An (thi, 8 điểm), Chi (thi, 7 điểm), Bình (không thi)</a:t>
                      </a:r>
                    </a:p>
                  </a:txBody>
                  <a:tcPr marL="54864" marR="54864" marT="27432" marB="27432"/>
                </a:tc>
                <a:tc>
                  <a:txBody>
                    <a:bodyPr/>
                    <a:lstStyle/>
                    <a:p>
                      <a:r>
                        <a:rPr lang="vi-VN" sz="1300" b="0">
                          <a:solidFill>
                            <a:srgbClr val="1F1F1F"/>
                          </a:solidFill>
                        </a:rPr>
                        <a:t>An, Chi</a:t>
                      </a:r>
                    </a:p>
                  </a:txBody>
                  <a:tcPr marL="54864" marR="54864" marT="27432" marB="27432"/>
                </a:tc>
                <a:tc>
                  <a:txBody>
                    <a:bodyPr/>
                    <a:lstStyle/>
                    <a:p>
                      <a:r>
                        <a:rPr lang="vi-VN" sz="1300" b="0">
                          <a:solidFill>
                            <a:srgbClr val="1F1F1F"/>
                          </a:solidFill>
                        </a:rPr>
                        <a:t>Bình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lang="vi-VN" sz="1300" b="0">
                          <a:solidFill>
                            <a:srgbClr val="1F1F1F"/>
                          </a:solidFill>
                        </a:rPr>
                        <a:t>2</a:t>
                      </a:r>
                    </a:p>
                  </a:txBody>
                  <a:tcPr marL="54864" marR="54864" marT="27432" marB="27432"/>
                </a:tc>
                <a:tc>
                  <a:txBody>
                    <a:bodyPr/>
                    <a:lstStyle/>
                    <a:p>
                      <a:r>
                        <a:rPr lang="vi-VN" sz="1300" b="0">
                          <a:solidFill>
                            <a:srgbClr val="1F1F1F"/>
                          </a:solidFill>
                        </a:rPr>
                        <a:t>Thêm Dũng (thi, 9 điểm)</a:t>
                      </a:r>
                    </a:p>
                  </a:txBody>
                  <a:tcPr marL="54864" marR="54864" marT="27432" marB="27432"/>
                </a:tc>
                <a:tc>
                  <a:txBody>
                    <a:bodyPr/>
                    <a:lstStyle/>
                    <a:p>
                      <a:r>
                        <a:rPr lang="vi-VN" sz="1300" b="0">
                          <a:solidFill>
                            <a:srgbClr val="1F1F1F"/>
                          </a:solidFill>
                        </a:rPr>
                        <a:t>Dũng, An</a:t>
                      </a:r>
                    </a:p>
                  </a:txBody>
                  <a:tcPr marL="54864" marR="54864" marT="27432" marB="27432"/>
                </a:tc>
                <a:tc>
                  <a:txBody>
                    <a:bodyPr/>
                    <a:lstStyle/>
                    <a:p>
                      <a:r>
                        <a:rPr lang="vi-VN" sz="1300" b="0">
                          <a:solidFill>
                            <a:srgbClr val="1F1F1F"/>
                          </a:solidFill>
                        </a:rPr>
                        <a:t>Chi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2FEA5-37DE-2025-46C4-C5C7E5C67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Thông số đầu đủ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5DC52C-12DF-E812-8654-D1DBCCBDA6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1828800"/>
            <a:ext cx="10515600" cy="2423160"/>
          </a:xfrm>
        </p:spPr>
        <p:txBody>
          <a:bodyPr>
            <a:normAutofit lnSpcReduction="10000"/>
          </a:bodyPr>
          <a:lstStyle/>
          <a:p>
            <a:pPr>
              <a:lnSpc>
                <a:spcPct val="110000"/>
              </a:lnSpc>
              <a:spcAft>
                <a:spcPts val="2400"/>
              </a:spcAft>
            </a:pPr>
            <a:r>
              <a:rPr lang="vi-VN" sz="3200"/>
              <a:t>Biết rõ mức lấp đầy cụ thể</a:t>
            </a:r>
          </a:p>
          <a:p>
            <a:pPr>
              <a:lnSpc>
                <a:spcPct val="110000"/>
              </a:lnSpc>
              <a:spcAft>
                <a:spcPts val="2400"/>
              </a:spcAft>
            </a:pPr>
            <a:r>
              <a:rPr lang="vi-VN" sz="3200"/>
              <a:t>Phân bổ nguyện vọng</a:t>
            </a:r>
            <a:endParaRPr lang="vi-VN" dirty="0"/>
          </a:p>
          <a:p>
            <a:pPr>
              <a:lnSpc>
                <a:spcPct val="110000"/>
              </a:lnSpc>
              <a:spcAft>
                <a:spcPts val="2400"/>
              </a:spcAft>
            </a:pPr>
            <a:r>
              <a:rPr lang="vi-VN" sz="3200"/>
              <a:t>Số học sinh cụ thể chưa có chỗ</a:t>
            </a:r>
          </a:p>
        </p:txBody>
      </p:sp>
      <p:pic>
        <p:nvPicPr>
          <p:cNvPr id="4" name="Picture 3" descr="el_n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4572000"/>
            <a:ext cx="5486400" cy="1732547"/>
          </a:xfrm>
          <a:prstGeom prst="rect">
            <a:avLst/>
          </a:prstGeom>
          <a:ln w="9525">
            <a:solidFill>
              <a:srgbClr val="D0D0D0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41248" y="6377699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vi-VN" sz="1200" i="1">
                <a:solidFill>
                  <a:srgbClr val="595959"/>
                </a:solidFill>
                <a:latin typeface="Arial"/>
              </a:rPr>
              <a:t>Màn hình Kết quả, bộ 140 học sinh (dữ liệu mô phỏng).</a:t>
            </a:r>
          </a:p>
        </p:txBody>
      </p:sp>
    </p:spTree>
    <p:extLst>
      <p:ext uri="{BB962C8B-B14F-4D97-AF65-F5344CB8AC3E}">
        <p14:creationId xmlns:p14="http://schemas.microsoft.com/office/powerpoint/2010/main" val="1562999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64522-D64D-59BE-2844-B2191806B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sz="3800"/>
              <a:t>Thử nghiệm với 140 HS, 12 CLB, 150 suất</a:t>
            </a:r>
            <a:endParaRPr lang="vi-VN" dirty="0"/>
          </a:p>
        </p:txBody>
      </p:sp>
      <p:pic>
        <p:nvPicPr>
          <p:cNvPr id="3" name="Picture 2" descr="c_sach_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783080"/>
            <a:ext cx="5120640" cy="3778679"/>
          </a:xfrm>
          <a:prstGeom prst="rect">
            <a:avLst/>
          </a:prstGeom>
          <a:ln w="9525">
            <a:solidFill>
              <a:srgbClr val="D0D0D0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841248" y="5634911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vi-VN" sz="1100" b="0" i="1">
                <a:solidFill>
                  <a:srgbClr val="595959"/>
                </a:solidFill>
                <a:latin typeface="Arial"/>
              </a:rPr>
              <a:t>Màn hình Kết quả của phần mềm. Xanh: xét chung. Vàng: vào bằng suất dự trữ.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080" y="178308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vi-VN" sz="2600" b="1" i="0">
                <a:solidFill>
                  <a:srgbClr val="3F6B52"/>
                </a:solidFill>
                <a:latin typeface="Arial"/>
              </a:rPr>
              <a:t>140/140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224028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vi-VN" sz="1200" b="0" i="0">
                <a:solidFill>
                  <a:srgbClr val="595959"/>
                </a:solidFill>
                <a:latin typeface="Arial"/>
              </a:rPr>
              <a:t>học sinh có CLB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0" y="178308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vi-VN" sz="2600" b="1" i="0">
                <a:solidFill>
                  <a:srgbClr val="3F6B52"/>
                </a:solidFill>
                <a:latin typeface="Arial"/>
              </a:rPr>
              <a:t>39%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224028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vi-VN" sz="1200" b="0" i="0">
                <a:solidFill>
                  <a:srgbClr val="595959"/>
                </a:solidFill>
                <a:latin typeface="Arial"/>
              </a:rPr>
              <a:t>được nguyện vọng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65176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vi-VN" sz="2600" b="1" i="0">
                <a:solidFill>
                  <a:srgbClr val="3F6B52"/>
                </a:solidFill>
                <a:latin typeface="Arial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310896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vi-VN" sz="1200" b="0" i="0">
                <a:solidFill>
                  <a:srgbClr val="595959"/>
                </a:solidFill>
                <a:latin typeface="Arial"/>
              </a:rPr>
              <a:t>học sinh vào bằng suất dự trữ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65176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vi-VN" sz="2600" b="1" i="0">
                <a:solidFill>
                  <a:srgbClr val="3F6B52"/>
                </a:solidFill>
                <a:latin typeface="Arial"/>
              </a:rPr>
              <a:t>0,02 giây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310896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vi-VN" sz="1200" b="0" i="0">
                <a:solidFill>
                  <a:srgbClr val="595959"/>
                </a:solidFill>
                <a:latin typeface="Arial"/>
              </a:rPr>
              <a:t>thời gian chạy sắp xếp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355080" y="3611880"/>
          <a:ext cx="5001768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841248" y="614476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vi-VN" sz="1100" b="0" i="1">
                <a:solidFill>
                  <a:srgbClr val="B84A3E"/>
                </a:solidFill>
                <a:latin typeface="Arial"/>
              </a:rPr>
              <a:t>Dữ liệu mô phỏng do máy tạo ra (bộ bo_sach), không phải học sinh thật. Mỗi học sinh thi 4 CLB và ghi 6 nguyện vọng.</a:t>
            </a:r>
          </a:p>
        </p:txBody>
      </p:sp>
    </p:spTree>
    <p:extLst>
      <p:ext uri="{BB962C8B-B14F-4D97-AF65-F5344CB8AC3E}">
        <p14:creationId xmlns:p14="http://schemas.microsoft.com/office/powerpoint/2010/main" val="6034835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7EA77-B499-B89C-F3A5-57074CDEE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Số liệu chứng minh công bằng</a:t>
            </a:r>
            <a:endParaRPr lang="vi-V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3EA8F-8A5D-9DCB-17FE-E890821384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10000"/>
              </a:lnSpc>
              <a:spcAft>
                <a:spcPts val="3000"/>
              </a:spcAft>
            </a:pPr>
            <a:r>
              <a:rPr lang="vi-VN" sz="3200" b="1"/>
              <a:t>0</a:t>
            </a:r>
            <a:r>
              <a:rPr lang="vi-VN" sz="3200"/>
              <a:t> cặp học sinh và CLB muốn đổi kết quả</a:t>
            </a:r>
          </a:p>
          <a:p>
            <a:pPr>
              <a:lnSpc>
                <a:spcPct val="110000"/>
              </a:lnSpc>
              <a:spcAft>
                <a:spcPts val="3000"/>
              </a:spcAft>
            </a:pPr>
            <a:r>
              <a:rPr lang="vi-VN" sz="3200"/>
              <a:t>Chỉ </a:t>
            </a:r>
            <a:r>
              <a:rPr lang="vi-VN" sz="3200" b="1"/>
              <a:t>1,1%</a:t>
            </a:r>
            <a:r>
              <a:rPr lang="vi-VN" sz="3200"/>
              <a:t> số học sinh có kết quả phụ thuộc bốc thăm</a:t>
            </a:r>
            <a:endParaRPr lang="vi-VN" dirty="0"/>
          </a:p>
          <a:p>
            <a:pPr>
              <a:lnSpc>
                <a:spcPct val="110000"/>
              </a:lnSpc>
              <a:spcAft>
                <a:spcPts val="3000"/>
              </a:spcAft>
            </a:pPr>
            <a:r>
              <a:rPr lang="vi-VN" sz="3200" b="1"/>
              <a:t>750+</a:t>
            </a:r>
            <a:r>
              <a:rPr lang="vi-VN" sz="3200"/>
              <a:t> chỉ báo trong phần mềm để đảm bảo phần mềm hoạt động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9312155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C7C06-118C-D344-F61B-8E28B0441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Phù hợp với nhiều cách tổ chức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3CE2C8-7F10-102B-237B-6BF6644D3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1828800"/>
            <a:ext cx="10515600" cy="2834640"/>
          </a:xfrm>
        </p:spPr>
        <p:txBody>
          <a:bodyPr/>
          <a:lstStyle/>
          <a:p>
            <a:pPr marL="0" indent="0">
              <a:lnSpc>
                <a:spcPct val="110000"/>
              </a:lnSpc>
              <a:spcAft>
                <a:spcPts val="1200"/>
              </a:spcAft>
              <a:buNone/>
            </a:pPr>
            <a:r>
              <a:rPr lang="vi-VN" sz="2800"/>
              <a:t>1. Đa dạng các cách lựa chọn buổi</a:t>
            </a:r>
            <a:endParaRPr lang="vi-VN" dirty="0"/>
          </a:p>
          <a:p>
            <a:pPr marL="0" indent="0">
              <a:lnSpc>
                <a:spcPct val="110000"/>
              </a:lnSpc>
              <a:spcAft>
                <a:spcPts val="1200"/>
              </a:spcAft>
              <a:buNone/>
            </a:pPr>
            <a:r>
              <a:rPr lang="vi-VN" sz="2800"/>
              <a:t>2. Thêm và chỉnh sửa thông số học sinh</a:t>
            </a:r>
            <a:endParaRPr lang="vi-VN" dirty="0"/>
          </a:p>
          <a:p>
            <a:pPr marL="0" indent="0">
              <a:lnSpc>
                <a:spcPct val="110000"/>
              </a:lnSpc>
              <a:spcAft>
                <a:spcPts val="1200"/>
              </a:spcAft>
              <a:buNone/>
            </a:pPr>
            <a:r>
              <a:rPr lang="vi-VN" sz="2800"/>
              <a:t>3. Song ngữ Anh Việt</a:t>
            </a:r>
            <a:endParaRPr lang="vi-VN" dirty="0"/>
          </a:p>
          <a:p>
            <a:pPr marL="0" indent="0">
              <a:lnSpc>
                <a:spcPct val="110000"/>
              </a:lnSpc>
              <a:spcAft>
                <a:spcPts val="1200"/>
              </a:spcAft>
              <a:buNone/>
            </a:pPr>
            <a:r>
              <a:rPr lang="vi-VN" sz="2800"/>
              <a:t>4. Có thể ưu tiên cho các học sinh khó khăn </a:t>
            </a:r>
          </a:p>
        </p:txBody>
      </p:sp>
      <p:pic>
        <p:nvPicPr>
          <p:cNvPr id="4" name="Picture 3" descr="el_buo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4800600"/>
            <a:ext cx="8046720" cy="1076998"/>
          </a:xfrm>
          <a:prstGeom prst="rect">
            <a:avLst/>
          </a:prstGeom>
          <a:ln w="9525">
            <a:solidFill>
              <a:srgbClr val="D0D0D0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41248" y="5969038"/>
            <a:ext cx="8046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vi-VN" sz="1200" i="1">
                <a:solidFill>
                  <a:srgbClr val="595959"/>
                </a:solidFill>
                <a:latin typeface="Arial"/>
              </a:rPr>
              <a:t>Màn hình Vận hành: chọn các buổi cần xếp trong tuần.</a:t>
            </a:r>
          </a:p>
        </p:txBody>
      </p:sp>
    </p:spTree>
    <p:extLst>
      <p:ext uri="{BB962C8B-B14F-4D97-AF65-F5344CB8AC3E}">
        <p14:creationId xmlns:p14="http://schemas.microsoft.com/office/powerpoint/2010/main" val="26656846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EC58A-6E53-D3CB-81E2-EA9D298FF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Định</a:t>
            </a:r>
            <a:r>
              <a:rPr lang="en-US" dirty="0"/>
              <a:t> </a:t>
            </a:r>
            <a:r>
              <a:rPr lang="en-US" dirty="0" err="1"/>
              <a:t>hướng</a:t>
            </a:r>
            <a:r>
              <a:rPr lang="en-US" dirty="0"/>
              <a:t> </a:t>
            </a:r>
            <a:r>
              <a:rPr lang="en-US" dirty="0" err="1"/>
              <a:t>tương</a:t>
            </a:r>
            <a:r>
              <a:rPr lang="en-US" dirty="0"/>
              <a:t> lai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ACB314-224B-9617-34CA-CA0897CAC4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Cải</a:t>
            </a:r>
            <a:r>
              <a:rPr lang="en-US" dirty="0"/>
              <a:t> </a:t>
            </a:r>
            <a:r>
              <a:rPr lang="en-US" dirty="0" err="1"/>
              <a:t>thiện</a:t>
            </a:r>
            <a:r>
              <a:rPr lang="en-US" dirty="0"/>
              <a:t> </a:t>
            </a:r>
            <a:r>
              <a:rPr lang="en-US" dirty="0" err="1"/>
              <a:t>tương</a:t>
            </a:r>
            <a:r>
              <a:rPr lang="en-US" dirty="0"/>
              <a:t> </a:t>
            </a:r>
            <a:r>
              <a:rPr lang="en-US" dirty="0" err="1"/>
              <a:t>tác</a:t>
            </a:r>
            <a:r>
              <a:rPr lang="en-US" dirty="0"/>
              <a:t> </a:t>
            </a:r>
            <a:r>
              <a:rPr lang="en-US" dirty="0" err="1"/>
              <a:t>với</a:t>
            </a:r>
            <a:r>
              <a:rPr lang="en-US" dirty="0"/>
              <a:t> </a:t>
            </a:r>
            <a:r>
              <a:rPr lang="en-US" dirty="0" err="1"/>
              <a:t>người</a:t>
            </a:r>
            <a:r>
              <a:rPr lang="en-US" dirty="0"/>
              <a:t> </a:t>
            </a:r>
            <a:r>
              <a:rPr lang="en-US" dirty="0" err="1"/>
              <a:t>dùng</a:t>
            </a:r>
            <a:endParaRPr lang="en-US" dirty="0"/>
          </a:p>
          <a:p>
            <a:r>
              <a:rPr lang="en-US" dirty="0" err="1"/>
              <a:t>Nghiên</a:t>
            </a:r>
            <a:r>
              <a:rPr lang="en-US" dirty="0"/>
              <a:t> </a:t>
            </a:r>
            <a:r>
              <a:rPr lang="en-US" dirty="0" err="1"/>
              <a:t>cứu</a:t>
            </a:r>
            <a:r>
              <a:rPr lang="en-US" dirty="0"/>
              <a:t> </a:t>
            </a:r>
            <a:r>
              <a:rPr lang="en-US" dirty="0" err="1"/>
              <a:t>thay</a:t>
            </a:r>
            <a:r>
              <a:rPr lang="en-US" dirty="0"/>
              <a:t> </a:t>
            </a:r>
            <a:r>
              <a:rPr lang="en-US" dirty="0" err="1"/>
              <a:t>đổi</a:t>
            </a:r>
            <a:r>
              <a:rPr lang="en-US" dirty="0"/>
              <a:t> </a:t>
            </a:r>
            <a:r>
              <a:rPr lang="en-US" dirty="0" err="1"/>
              <a:t>xét</a:t>
            </a:r>
            <a:r>
              <a:rPr lang="en-US" dirty="0"/>
              <a:t> </a:t>
            </a:r>
            <a:r>
              <a:rPr lang="en-US" dirty="0" err="1"/>
              <a:t>bằng</a:t>
            </a:r>
            <a:r>
              <a:rPr lang="en-US" dirty="0"/>
              <a:t> </a:t>
            </a:r>
            <a:r>
              <a:rPr lang="en-US" dirty="0" err="1"/>
              <a:t>sô</a:t>
            </a:r>
            <a:r>
              <a:rPr lang="en-US" dirty="0"/>
              <a:t>́ </a:t>
            </a:r>
            <a:r>
              <a:rPr lang="en-US" dirty="0" err="1"/>
              <a:t>bốc</a:t>
            </a:r>
            <a:r>
              <a:rPr lang="en-US" dirty="0"/>
              <a:t> </a:t>
            </a:r>
            <a:r>
              <a:rPr lang="en-US" dirty="0" err="1"/>
              <a:t>thăm</a:t>
            </a:r>
            <a:r>
              <a:rPr lang="en-US" dirty="0"/>
              <a:t> </a:t>
            </a:r>
            <a:r>
              <a:rPr lang="en-US" dirty="0" err="1"/>
              <a:t>bằng</a:t>
            </a:r>
            <a:r>
              <a:rPr lang="en-US" dirty="0"/>
              <a:t> </a:t>
            </a:r>
            <a:r>
              <a:rPr lang="en-US" dirty="0" err="1"/>
              <a:t>cách</a:t>
            </a:r>
            <a:r>
              <a:rPr lang="en-US" dirty="0"/>
              <a:t> </a:t>
            </a:r>
            <a:r>
              <a:rPr lang="en-US" dirty="0" err="1"/>
              <a:t>khác</a:t>
            </a:r>
            <a:r>
              <a:rPr lang="en-US" dirty="0"/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41965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603B36-5E03-9395-91DE-0CF6E483C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en-US" sz="4200"/>
              <a:t>Cảm ơn mọi người đã lắng nghe </a:t>
            </a:r>
          </a:p>
        </p:txBody>
      </p:sp>
      <p:sp>
        <p:nvSpPr>
          <p:cNvPr id="12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F9CFC5-6AAB-5EC3-3C4C-D733C24502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r>
              <a:rPr lang="en-US" sz="2200"/>
              <a:t>Cảm ơn mọi người đã dành thời gian </a:t>
            </a:r>
          </a:p>
        </p:txBody>
      </p:sp>
      <p:pic>
        <p:nvPicPr>
          <p:cNvPr id="5" name="Picture 4" descr="Hơn 97.000 Thank You ảnh, hình chụp &amp; hình ảnh trả phí bản quyền một lần sẵn có - iStock">
            <a:extLst>
              <a:ext uri="{FF2B5EF4-FFF2-40B4-BE49-F238E27FC236}">
                <a16:creationId xmlns:a16="http://schemas.microsoft.com/office/drawing/2014/main" id="{049FC74D-749F-A52B-80D1-3EA68BD331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03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6739005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1059</Words>
  <Application>Microsoft Office PowerPoint</Application>
  <PresentationFormat>Widescreen</PresentationFormat>
  <Paragraphs>105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Aptos</vt:lpstr>
      <vt:lpstr>Arial</vt:lpstr>
      <vt:lpstr>Office Theme</vt:lpstr>
      <vt:lpstr>Thuyết trình về cuộc thi khoa học kỹ thuật</vt:lpstr>
      <vt:lpstr>Nội dung </vt:lpstr>
      <vt:lpstr>1. Bài toán sắp xếp CLB</vt:lpstr>
      <vt:lpstr>2. Giải pháp với 3 bước đơn giản</vt:lpstr>
      <vt:lpstr>Năm bước thao tác</vt:lpstr>
      <vt:lpstr>Cách CLB xác định học sinh</vt:lpstr>
      <vt:lpstr>Phần mềm vận hành qua 6 bước</vt:lpstr>
      <vt:lpstr>Thông số đầu đủ</vt:lpstr>
      <vt:lpstr>Thử nghiệm với 140 HS, 12 CLB, 150 suất</vt:lpstr>
      <vt:lpstr>Số liệu chứng minh công bằng</vt:lpstr>
      <vt:lpstr>Phù hợp với nhiều cách tổ chức </vt:lpstr>
      <vt:lpstr>Định hướng tương lai </vt:lpstr>
      <vt:lpstr>Cảm ơn mọi người đã lắng nghe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Truong-Nguyen Phan Van:C161801085</dc:creator>
  <cp:lastModifiedBy>Truong-Nguyen Phan Van:C161801085</cp:lastModifiedBy>
  <cp:revision>6</cp:revision>
  <dcterms:created xsi:type="dcterms:W3CDTF">2026-09-24T15:04:08Z</dcterms:created>
  <dcterms:modified xsi:type="dcterms:W3CDTF">2026-09-25T01:26:10Z</dcterms:modified>
</cp:coreProperties>
</file>