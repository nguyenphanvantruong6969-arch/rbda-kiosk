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9" r:id="rId20"/>
    <p:sldId id="258" r:id="rId4"/>
    <p:sldId id="259" r:id="rId5"/>
    <p:sldId id="261" r:id="rId6"/>
    <p:sldId id="260" r:id="rId7"/>
    <p:sldId id="266" r:id="rId8"/>
    <p:sldId id="262" r:id="rId9"/>
    <p:sldId id="263" r:id="rId10"/>
    <p:sldId id="264" r:id="rId11"/>
    <p:sldId id="265" r:id="rId12"/>
    <p:sldId id="270" r:id="rId21"/>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3.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bên phải là bằng chứng cho hai con số bên trái. Mỗi bộ dữ liệu được chạy lại với 200 hạt giống bốc thăm khác nhau. Không lần nào có cặp phá vỡ. Trên tổng 270 học sinh, chỉ 3 học sinh có lúc có chỗ, có lúc không, tùy lần bốc thăm, tức 1,1%. Lưu ý: số học sinh có thể đổi sang CLB khác khi đổi bốc thăm thì nhiều hơn, nhưng các học sinh đó vẫn luôn có chỗ. Nguồn: du_lieu_test/SO_LIEU_DA_KIEM_CHUNG.md mục 3c, thử tải trong du_lieu_test/thu_tai, và bộ kiểm thử chạy ngày 25/09: 757 bài đều đạt.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người nghe tra lại khi gặp từ lạ ở các slide sau. Không cần đọc hết; chỉ nhấn vào cặp phá vỡ, kết quả ổn định và số bốc thăm.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CLB xếp các học sinh đăng ký thành hai tầng. Tầng 1 là học sinh đã thi, xếp theo điểm; nếu bằng điểm thì ai có số bốc thăm nhỏ hơn đứng trước, như An và Hòa cùng 8 điểm. Tầng 2 là học sinh không thi, xếp theo số bốc thăm, và luôn đứng sau cả Tầng 1: Bình có số bốc thăm 3, nhỏ nhất, nhưng vẫn xếp cuối vì không thi. CLB không được biết học sinh xếp mình là nguyện vọng thứ mấy, nên học sinh không cần khai chiến thuật. Ví dụ này minh họa quy tắc, không phải dữ liệu thật.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lý do do nhóm nêu. Dòng nhỏ dưới mỗi ý là bằng chứng lấy từ chính dự án: bộ kiểm thử chạy ngày 25/09 đạt 757/757; báo cáo mục 2.2.1 mô tả cách xếp theo thứ tự đăng ký tại trường; hướng dẫn sử dụng ghi phần mềm chạy ngoại tuyến trên Windows 10 và 11, không cần cài đặt.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vi-VN"/>
              <a:t>Giải nghĩa thuật ngữ</a:t>
            </a:r>
          </a:p>
        </p:txBody>
      </p:sp>
      <p:graphicFrame>
        <p:nvGraphicFramePr>
          <p:cNvPr id="3" name="Table 2"/>
          <p:cNvGraphicFramePr>
            <a:graphicFrameLocks noGrp="1"/>
          </p:cNvGraphicFramePr>
          <p:nvPr/>
        </p:nvGraphicFramePr>
        <p:xfrm>
          <a:off x="841248" y="1783080"/>
          <a:ext cx="5166360" cy="219456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Thuật toán chấp nhận trì hoãn</a:t>
                      </a:r>
                    </a:p>
                  </a:txBody>
                  <a:tcPr marL="73152" marR="73152" marT="36576" marB="36576"/>
                </a:tc>
                <a:tc>
                  <a:txBody>
                    <a:bodyPr/>
                    <a:lstStyle/>
                    <a:p>
                      <a:r>
                        <a:rPr sz="1500" b="0" lang="vi-VN">
                          <a:solidFill>
                            <a:srgbClr val="1F1F1F"/>
                          </a:solidFill>
                        </a:rPr>
                        <a:t>Học sinh lần lượt nộp đơn theo nguyện vọng; CLB chỉ giữ tạm, tới cuối mới chốt. Còn gọi là thuật toán Gale-Shapley.</a:t>
                      </a:r>
                    </a:p>
                  </a:txBody>
                  <a:tcPr marL="73152" marR="73152" marT="36576" marB="36576"/>
                </a:tc>
              </a:tr>
              <a:tr h="365760">
                <a:tc>
                  <a:txBody>
                    <a:bodyPr/>
                    <a:lstStyle/>
                    <a:p>
                      <a:r>
                        <a:rPr sz="1500" b="1" lang="vi-VN">
                          <a:solidFill>
                            <a:srgbClr val="1F1F1F"/>
                          </a:solidFill>
                        </a:rPr>
                        <a:t>Nguyện vọng (NV)</a:t>
                      </a:r>
                    </a:p>
                  </a:txBody>
                  <a:tcPr marL="73152" marR="73152" marT="36576" marB="36576"/>
                </a:tc>
                <a:tc>
                  <a:txBody>
                    <a:bodyPr/>
                    <a:lstStyle/>
                    <a:p>
                      <a:r>
                        <a:rPr sz="1500" b="0" lang="vi-VN">
                          <a:solidFill>
                            <a:srgbClr val="1F1F1F"/>
                          </a:solidFill>
                        </a:rPr>
                        <a:t>Thứ tự các CLB học sinh muốn vào. NV1 là CLB học sinh thích nhất.</a:t>
                      </a:r>
                    </a:p>
                  </a:txBody>
                  <a:tcPr marL="73152" marR="73152" marT="36576" marB="36576"/>
                </a:tc>
              </a:tr>
              <a:tr h="365760">
                <a:tc>
                  <a:txBody>
                    <a:bodyPr/>
                    <a:lstStyle/>
                    <a:p>
                      <a:r>
                        <a:rPr sz="1500" b="1" lang="vi-VN">
                          <a:solidFill>
                            <a:srgbClr val="1F1F1F"/>
                          </a:solidFill>
                        </a:rPr>
                        <a:t>Giữ tạm</a:t>
                      </a:r>
                    </a:p>
                  </a:txBody>
                  <a:tcPr marL="73152" marR="73152" marT="36576" marB="36576"/>
                </a:tc>
                <a:tc>
                  <a:txBody>
                    <a:bodyPr/>
                    <a:lstStyle/>
                    <a:p>
                      <a:r>
                        <a:rPr sz="1500" b="0" lang="vi-VN">
                          <a:solidFill>
                            <a:srgbClr val="1F1F1F"/>
                          </a:solidFill>
                        </a:rPr>
                        <a:t>CLB tạm nhận những học sinh phù hợp nhất đang có, và có thể đổi sang người phù hợp hơn đến sau.</a:t>
                      </a:r>
                    </a:p>
                  </a:txBody>
                  <a:tcPr marL="73152" marR="73152" marT="36576" marB="36576"/>
                </a:tc>
              </a:tr>
              <a:tr h="365760">
                <a:tc>
                  <a:txBody>
                    <a:bodyPr/>
                    <a:lstStyle/>
                    <a:p>
                      <a:r>
                        <a:rPr sz="1500" b="1" lang="vi-VN">
                          <a:solidFill>
                            <a:srgbClr val="1F1F1F"/>
                          </a:solidFill>
                        </a:rPr>
                        <a:t>Tầng 1, Tầng 2</a:t>
                      </a:r>
                    </a:p>
                  </a:txBody>
                  <a:tcPr marL="73152" marR="73152" marT="36576" marB="36576"/>
                </a:tc>
                <a:tc>
                  <a:txBody>
                    <a:bodyPr/>
                    <a:lstStyle/>
                    <a:p>
                      <a:r>
                        <a:rPr sz="1500" b="0" lang="vi-VN">
                          <a:solidFill>
                            <a:srgbClr val="1F1F1F"/>
                          </a:solidFill>
                        </a:rPr>
                        <a:t>Tầng 1: học sinh đã thi CLB đó, xếp theo điểm. Tầng 2: học sinh không thi, xếp theo số bốc thăm, luôn đứng sau Tầng 1.</a:t>
                      </a:r>
                    </a:p>
                  </a:txBody>
                  <a:tcPr marL="73152" marR="73152" marT="36576" marB="36576"/>
                </a:tc>
              </a:tr>
              <a:tr h="365760">
                <a:tc>
                  <a:txBody>
                    <a:bodyPr/>
                    <a:lstStyle/>
                    <a:p>
                      <a:r>
                        <a:rPr sz="1500" b="1" lang="vi-VN">
                          <a:solidFill>
                            <a:srgbClr val="1F1F1F"/>
                          </a:solidFill>
                        </a:rPr>
                        <a:t>Số bốc thăm</a:t>
                      </a:r>
                    </a:p>
                  </a:txBody>
                  <a:tcPr marL="73152" marR="73152" marT="36576" marB="36576"/>
                </a:tc>
                <a:tc>
                  <a:txBody>
                    <a:bodyPr/>
                    <a:lstStyle/>
                    <a:p>
                      <a:r>
                        <a:rPr sz="1500" b="0" lang="vi-VN">
                          <a:solidFill>
                            <a:srgbClr val="1F1F1F"/>
                          </a:solidFill>
                        </a:rPr>
                        <a:t>Số ngẫu nhiên mỗi học sinh nhận, chỉ dùng khi hai học sinh ngang nhau. Bốc xong là khóa lại.</a:t>
                      </a:r>
                    </a:p>
                  </a:txBody>
                  <a:tcPr marL="73152" marR="73152" marT="36576" marB="36576"/>
                </a:tc>
              </a:tr>
            </a:tbl>
          </a:graphicData>
        </a:graphic>
      </p:graphicFrame>
      <p:graphicFrame>
        <p:nvGraphicFramePr>
          <p:cNvPr id="4" name="Table 3"/>
          <p:cNvGraphicFramePr>
            <a:graphicFrameLocks noGrp="1"/>
          </p:cNvGraphicFramePr>
          <p:nvPr/>
        </p:nvGraphicFramePr>
        <p:xfrm>
          <a:off x="6190488" y="1783080"/>
          <a:ext cx="5166360" cy="292608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Suất dự trữ</a:t>
                      </a:r>
                    </a:p>
                  </a:txBody>
                  <a:tcPr marL="73152" marR="73152" marT="36576" marB="36576"/>
                </a:tc>
                <a:tc>
                  <a:txBody>
                    <a:bodyPr/>
                    <a:lstStyle/>
                    <a:p>
                      <a:r>
                        <a:rPr sz="1500" b="0" lang="vi-VN">
                          <a:solidFill>
                            <a:srgbClr val="1F1F1F"/>
                          </a:solidFill>
                        </a:rPr>
                        <a:t>Chỗ CLB dành trước cho một nhóm ưu tiên. Không dùng hết thì trả lại cho xét chung.</a:t>
                      </a:r>
                    </a:p>
                  </a:txBody>
                  <a:tcPr marL="73152" marR="73152" marT="36576" marB="36576"/>
                </a:tc>
              </a:tr>
              <a:tr h="365760">
                <a:tc>
                  <a:txBody>
                    <a:bodyPr/>
                    <a:lstStyle/>
                    <a:p>
                      <a:r>
                        <a:rPr sz="1500" b="1" lang="vi-VN">
                          <a:solidFill>
                            <a:srgbClr val="1F1F1F"/>
                          </a:solidFill>
                        </a:rPr>
                        <a:t>Cặp phá vỡ</a:t>
                      </a:r>
                    </a:p>
                  </a:txBody>
                  <a:tcPr marL="73152" marR="73152" marT="36576" marB="36576"/>
                </a:tc>
                <a:tc>
                  <a:txBody>
                    <a:bodyPr/>
                    <a:lstStyle/>
                    <a:p>
                      <a:r>
                        <a:rPr sz="1500" b="0" lang="vi-VN">
                          <a:solidFill>
                            <a:srgbClr val="1F1F1F"/>
                          </a:solidFill>
                        </a:rPr>
                        <a:t>Một học sinh và một CLB cùng muốn bỏ kết quả hiện tại để chọn nhau.</a:t>
                      </a:r>
                    </a:p>
                  </a:txBody>
                  <a:tcPr marL="73152" marR="73152" marT="36576" marB="36576"/>
                </a:tc>
              </a:tr>
              <a:tr h="365760">
                <a:tc>
                  <a:txBody>
                    <a:bodyPr/>
                    <a:lstStyle/>
                    <a:p>
                      <a:r>
                        <a:rPr sz="1500" b="1" lang="vi-VN">
                          <a:solidFill>
                            <a:srgbClr val="1F1F1F"/>
                          </a:solidFill>
                        </a:rPr>
                        <a:t>Kết quả ổn định</a:t>
                      </a:r>
                    </a:p>
                  </a:txBody>
                  <a:tcPr marL="73152" marR="73152" marT="36576" marB="36576"/>
                </a:tc>
                <a:tc>
                  <a:txBody>
                    <a:bodyPr/>
                    <a:lstStyle/>
                    <a:p>
                      <a:r>
                        <a:rPr sz="1500" b="0" lang="vi-VN">
                          <a:solidFill>
                            <a:srgbClr val="1F1F1F"/>
                          </a:solidFill>
                        </a:rPr>
                        <a:t>Kết quả không có cặp phá vỡ nào.</a:t>
                      </a:r>
                    </a:p>
                  </a:txBody>
                  <a:tcPr marL="73152" marR="73152" marT="36576" marB="36576"/>
                </a:tc>
              </a:tr>
              <a:tr h="365760">
                <a:tc>
                  <a:txBody>
                    <a:bodyPr/>
                    <a:lstStyle/>
                    <a:p>
                      <a:r>
                        <a:rPr sz="1500" b="1" lang="vi-VN">
                          <a:solidFill>
                            <a:srgbClr val="1F1F1F"/>
                          </a:solidFill>
                        </a:rPr>
                        <a:t>Tỉ lệ chọi</a:t>
                      </a:r>
                    </a:p>
                  </a:txBody>
                  <a:tcPr marL="73152" marR="73152" marT="36576" marB="36576"/>
                </a:tc>
                <a:tc>
                  <a:txBody>
                    <a:bodyPr/>
                    <a:lstStyle/>
                    <a:p>
                      <a:r>
                        <a:rPr sz="1500" b="0" lang="vi-VN">
                          <a:solidFill>
                            <a:srgbClr val="1F1F1F"/>
                          </a:solidFill>
                        </a:rPr>
                        <a:t>Số học sinh đăng ký một CLB chia cho số chỗ của CLB đó.</a:t>
                      </a:r>
                    </a:p>
                  </a:txBody>
                  <a:tcPr marL="73152" marR="73152" marT="36576" marB="36576"/>
                </a:tc>
              </a:tr>
              <a:tr h="365760">
                <a:tc>
                  <a:txBody>
                    <a:bodyPr/>
                    <a:lstStyle/>
                    <a:p>
                      <a:r>
                        <a:rPr sz="1500" b="1" lang="vi-VN">
                          <a:solidFill>
                            <a:srgbClr val="1F1F1F"/>
                          </a:solidFill>
                        </a:rPr>
                        <a:t>Mức lấp đầy</a:t>
                      </a:r>
                    </a:p>
                  </a:txBody>
                  <a:tcPr marL="73152" marR="73152" marT="36576" marB="36576"/>
                </a:tc>
                <a:tc>
                  <a:txBody>
                    <a:bodyPr/>
                    <a:lstStyle/>
                    <a:p>
                      <a:r>
                        <a:rPr sz="1500" b="0" lang="vi-VN">
                          <a:solidFill>
                            <a:srgbClr val="1F1F1F"/>
                          </a:solidFill>
                        </a:rPr>
                        <a:t>Số chỗ đã xếp so với tổng số chỗ của CLB.</a:t>
                      </a:r>
                    </a:p>
                  </a:txBody>
                  <a:tcPr marL="73152" marR="73152" marT="36576" marB="36576"/>
                </a:tc>
              </a:tr>
              <a:tr h="365760">
                <a:tc>
                  <a:txBody>
                    <a:bodyPr/>
                    <a:lstStyle/>
                    <a:p>
                      <a:r>
                        <a:rPr sz="1500" b="1" lang="vi-VN">
                          <a:solidFill>
                            <a:srgbClr val="1F1F1F"/>
                          </a:solidFill>
                        </a:rPr>
                        <a:t>Dữ liệu mô phỏng</a:t>
                      </a:r>
                    </a:p>
                  </a:txBody>
                  <a:tcPr marL="73152" marR="73152" marT="36576" marB="36576"/>
                </a:tc>
                <a:tc>
                  <a:txBody>
                    <a:bodyPr/>
                    <a:lstStyle/>
                    <a:p>
                      <a:r>
                        <a:rPr sz="1500" b="0" lang="vi-VN">
                          <a:solidFill>
                            <a:srgbClr val="1F1F1F"/>
                          </a:solidFill>
                        </a:rPr>
                        <a:t>Dữ liệu do máy tạo ra để thử phần mềm, không phải học sinh thật.</a:t>
                      </a:r>
                    </a:p>
                  </a:txBody>
                  <a:tcPr marL="73152" marR="73152" marT="36576" marB="36576"/>
                </a:tc>
              </a:tr>
              <a:tr h="365760">
                <a:tc>
                  <a:txBody>
                    <a:bodyPr/>
                    <a:lstStyle/>
                    <a:p>
                      <a:r>
                        <a:rPr sz="1500" b="1" lang="vi-VN">
                          <a:solidFill>
                            <a:srgbClr val="1F1F1F"/>
                          </a:solidFill>
                        </a:rPr>
                        <a:t>Bài kiểm thử tự động</a:t>
                      </a:r>
                    </a:p>
                  </a:txBody>
                  <a:tcPr marL="73152" marR="73152" marT="36576" marB="36576"/>
                </a:tc>
                <a:tc>
                  <a:txBody>
                    <a:bodyPr/>
                    <a:lstStyle/>
                    <a:p>
                      <a:r>
                        <a:rPr sz="1500" b="0" lang="vi-VN">
                          <a:solidFill>
                            <a:srgbClr val="1F1F1F"/>
                          </a:solidFill>
                        </a:rPr>
                        <a:t>Chương trình nhỏ tự kiểm tra xem phần mềm có cho ra đúng kết quả mong đợi không.</a:t>
                      </a:r>
                    </a:p>
                  </a:txBody>
                  <a:tcPr marL="73152" marR="73152" marT="36576" marB="36576"/>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737360"/>
            <a:ext cx="5394960" cy="2377440"/>
          </a:xfrm>
        </p:spPr>
        <p:txBody>
          <a:bodyPr/>
          <a:lstStyle/>
          <a:p>
            <a:pPr>
              <a:lnSpc>
                <a:spcPct val="100000"/>
              </a:lnSpc>
              <a:spcBef>
                <a:spcPts val="0"/>
              </a:spcBef>
              <a:spcAft>
                <a:spcPts val="200"/>
              </a:spcAft>
            </a:pPr>
            <a:r>
              <a:rPr lang="vi-VN" sz="2000" b="1"/>
              <a:t>Tầng 1:</a:t>
            </a:r>
            <a:r>
              <a:rPr lang="vi-VN" sz="2000"/>
              <a:t> Ưu tiên học sinh có thi CLB đó</a:t>
            </a:r>
          </a:p>
          <a:p>
            <a:pPr marL="274320" indent="0">
              <a:lnSpc>
                <a:spcPct val="100000"/>
              </a:lnSpc>
              <a:spcBef>
                <a:spcPts val="0"/>
              </a:spcBef>
              <a:spcAft>
                <a:spcPts val="1200"/>
              </a:spcAft>
              <a:buNone/>
            </a:pPr>
            <a:r>
              <a:rPr sz="1500" lang="vi-VN">
                <a:solidFill>
                  <a:srgbClr val="555555"/>
                </a:solidFill>
              </a:rPr>
              <a:t>Xếp theo điểm từ cao xuống thấp; bằng điểm thì xét số bốc thăm</a:t>
            </a:r>
          </a:p>
          <a:p>
            <a:pPr>
              <a:lnSpc>
                <a:spcPct val="100000"/>
              </a:lnSpc>
              <a:spcBef>
                <a:spcPts val="0"/>
              </a:spcBef>
              <a:spcAft>
                <a:spcPts val="200"/>
              </a:spcAft>
            </a:pPr>
            <a:r>
              <a:rPr lang="vi-VN" sz="2000" b="1"/>
              <a:t>Tầng 2:</a:t>
            </a:r>
            <a:r>
              <a:rPr lang="vi-VN" sz="2000"/>
              <a:t> HS không thi thì xếp theo số bốc thăm</a:t>
            </a:r>
            <a:endParaRPr lang="vi-VN"/>
          </a:p>
          <a:p>
            <a:pPr marL="274320" indent="0">
              <a:lnSpc>
                <a:spcPct val="100000"/>
              </a:lnSpc>
              <a:spcBef>
                <a:spcPts val="0"/>
              </a:spcBef>
              <a:spcAft>
                <a:spcPts val="1200"/>
              </a:spcAft>
              <a:buNone/>
            </a:pPr>
            <a:r>
              <a:rPr sz="1500" lang="vi-VN">
                <a:solidFill>
                  <a:srgbClr val="555555"/>
                </a:solidFill>
              </a:rPr>
              <a:t>Luôn đứng sau toàn bộ Tầng 1, dù số bốc thăm nhỏ đến đâu</a:t>
            </a:r>
          </a:p>
        </p:txBody>
      </p:sp>
      <p:pic>
        <p:nvPicPr>
          <p:cNvPr id="4" name="Picture 3" descr="el_scoring_c.png"/>
          <p:cNvPicPr>
            <a:picLocks noChangeAspect="1"/>
          </p:cNvPicPr>
          <p:nvPr/>
        </p:nvPicPr>
        <p:blipFill>
          <a:blip r:embed="rId2"/>
          <a:stretch>
            <a:fillRect/>
          </a:stretch>
        </p:blipFill>
        <p:spPr>
          <a:xfrm>
            <a:off x="6492240" y="1828800"/>
            <a:ext cx="4864608" cy="2824611"/>
          </a:xfrm>
          <a:prstGeom prst="rect">
            <a:avLst/>
          </a:prstGeom>
          <a:ln w="9525">
            <a:solidFill>
              <a:srgbClr val="D0D0D0"/>
            </a:solidFill>
          </a:ln>
        </p:spPr>
      </p:pic>
      <p:sp>
        <p:nvSpPr>
          <p:cNvPr id="5" name="TextBox 4"/>
          <p:cNvSpPr txBox="1"/>
          <p:nvPr/>
        </p:nvSpPr>
        <p:spPr>
          <a:xfrm>
            <a:off x="6492240" y="4744851"/>
            <a:ext cx="4864608"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 không thấy số bốc thăm hay nguyện vọng.</a:t>
            </a:r>
          </a:p>
        </p:txBody>
      </p:sp>
      <p:sp>
        <p:nvSpPr>
          <p:cNvPr id="6" name="TextBox 5"/>
          <p:cNvSpPr txBox="1"/>
          <p:nvPr/>
        </p:nvSpPr>
        <p:spPr>
          <a:xfrm>
            <a:off x="841248" y="4315968"/>
            <a:ext cx="5394960" cy="320040"/>
          </a:xfrm>
          <a:prstGeom prst="rect">
            <a:avLst/>
          </a:prstGeom>
          <a:noFill/>
        </p:spPr>
        <p:txBody>
          <a:bodyPr wrap="square" lIns="0" rIns="0" tIns="0" bIns="0">
            <a:spAutoFit/>
          </a:bodyPr>
          <a:lstStyle/>
          <a:p>
            <a:r>
              <a:rPr sz="1500" b="1" i="0" lang="vi-VN">
                <a:solidFill>
                  <a:srgbClr val="1F1F1F"/>
                </a:solidFill>
                <a:latin typeface="Arial"/>
              </a:rPr>
              <a:t>Ví dụ: thứ tự xếp hạng tại CLB Tin học</a:t>
            </a:r>
          </a:p>
        </p:txBody>
      </p:sp>
      <p:graphicFrame>
        <p:nvGraphicFramePr>
          <p:cNvPr id="7" name="Table 6"/>
          <p:cNvGraphicFramePr>
            <a:graphicFrameLocks noGrp="1"/>
          </p:cNvGraphicFramePr>
          <p:nvPr/>
        </p:nvGraphicFramePr>
        <p:xfrm>
          <a:off x="841248" y="4663440"/>
          <a:ext cx="5394960" cy="1645920"/>
        </p:xfrm>
        <a:graphic>
          <a:graphicData uri="http://schemas.openxmlformats.org/drawingml/2006/table">
            <a:tbl>
              <a:tblPr firstRow="0" bandRow="0">
                <a:tableStyleId>{5940675A-B579-460E-94D1-54222C63F5DA}</a:tableStyleId>
              </a:tblPr>
              <a:tblGrid>
                <a:gridCol w="685800"/>
                <a:gridCol w="1097280"/>
                <a:gridCol w="685800"/>
                <a:gridCol w="2926080"/>
              </a:tblGrid>
              <a:tr h="274320">
                <a:tc>
                  <a:txBody>
                    <a:bodyPr/>
                    <a:lstStyle/>
                    <a:p>
                      <a:pPr algn="ctr"/>
                      <a:r>
                        <a:rPr sz="1300" b="1" lang="vi-VN">
                          <a:solidFill>
                            <a:srgbClr val="1F1F1F"/>
                          </a:solidFill>
                        </a:rPr>
                        <a:t>Hạng</a:t>
                      </a:r>
                    </a:p>
                  </a:txBody>
                  <a:tcPr marL="64008" marR="64008" marT="18288" marB="18288"/>
                </a:tc>
                <a:tc>
                  <a:txBody>
                    <a:bodyPr/>
                    <a:lstStyle/>
                    <a:p>
                      <a:pPr algn="l"/>
                      <a:r>
                        <a:rPr sz="1300" b="1" lang="vi-VN">
                          <a:solidFill>
                            <a:srgbClr val="1F1F1F"/>
                          </a:solidFill>
                        </a:rPr>
                        <a:t>Học sinh</a:t>
                      </a:r>
                    </a:p>
                  </a:txBody>
                  <a:tcPr marL="64008" marR="64008" marT="18288" marB="18288"/>
                </a:tc>
                <a:tc>
                  <a:txBody>
                    <a:bodyPr/>
                    <a:lstStyle/>
                    <a:p>
                      <a:pPr algn="ctr"/>
                      <a:r>
                        <a:rPr sz="1300" b="1" lang="vi-VN">
                          <a:solidFill>
                            <a:srgbClr val="1F1F1F"/>
                          </a:solidFill>
                        </a:rPr>
                        <a:t>Tầng</a:t>
                      </a:r>
                    </a:p>
                  </a:txBody>
                  <a:tcPr marL="64008" marR="64008" marT="18288" marB="18288"/>
                </a:tc>
                <a:tc>
                  <a:txBody>
                    <a:bodyPr/>
                    <a:lstStyle/>
                    <a:p>
                      <a:pPr algn="l"/>
                      <a:r>
                        <a:rPr sz="1300" b="1" lang="vi-VN">
                          <a:solidFill>
                            <a:srgbClr val="1F1F1F"/>
                          </a:solidFill>
                        </a:rPr>
                        <a:t>Căn cứ</a:t>
                      </a:r>
                    </a:p>
                  </a:txBody>
                  <a:tcPr marL="64008" marR="64008" marT="18288" marB="18288"/>
                </a:tc>
              </a:tr>
              <a:tr h="274320">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Dũng</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9 điểm</a:t>
                      </a:r>
                    </a:p>
                  </a:txBody>
                  <a:tcPr marL="64008" marR="64008" marT="18288" marB="18288"/>
                </a:tc>
              </a:tr>
              <a:tr h="274320">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An</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12</a:t>
                      </a:r>
                    </a:p>
                  </a:txBody>
                  <a:tcPr marL="64008" marR="64008" marT="18288" marB="18288"/>
                </a:tc>
              </a:tr>
              <a:tr h="274320">
                <a:tc>
                  <a:txBody>
                    <a:bodyPr/>
                    <a:lstStyle/>
                    <a:p>
                      <a:pPr algn="ctr"/>
                      <a:r>
                        <a:rPr sz="1300" b="0" lang="vi-VN">
                          <a:solidFill>
                            <a:srgbClr val="1F1F1F"/>
                          </a:solidFill>
                        </a:rPr>
                        <a:t>3</a:t>
                      </a:r>
                    </a:p>
                  </a:txBody>
                  <a:tcPr marL="64008" marR="64008" marT="18288" marB="18288"/>
                </a:tc>
                <a:tc>
                  <a:txBody>
                    <a:bodyPr/>
                    <a:lstStyle/>
                    <a:p>
                      <a:pPr algn="l"/>
                      <a:r>
                        <a:rPr sz="1300" b="0" lang="vi-VN">
                          <a:solidFill>
                            <a:srgbClr val="1F1F1F"/>
                          </a:solidFill>
                        </a:rPr>
                        <a:t>Hòa</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45</a:t>
                      </a:r>
                    </a:p>
                  </a:txBody>
                  <a:tcPr marL="64008" marR="64008" marT="18288" marB="18288"/>
                </a:tc>
              </a:tr>
              <a:tr h="274320">
                <a:tc>
                  <a:txBody>
                    <a:bodyPr/>
                    <a:lstStyle/>
                    <a:p>
                      <a:pPr algn="ctr"/>
                      <a:r>
                        <a:rPr sz="1300" b="0" lang="vi-VN">
                          <a:solidFill>
                            <a:srgbClr val="1F1F1F"/>
                          </a:solidFill>
                        </a:rPr>
                        <a:t>4</a:t>
                      </a:r>
                    </a:p>
                  </a:txBody>
                  <a:tcPr marL="64008" marR="64008" marT="18288" marB="18288"/>
                </a:tc>
                <a:tc>
                  <a:txBody>
                    <a:bodyPr/>
                    <a:lstStyle/>
                    <a:p>
                      <a:pPr algn="l"/>
                      <a:r>
                        <a:rPr sz="1300" b="0" lang="vi-VN">
                          <a:solidFill>
                            <a:srgbClr val="1F1F1F"/>
                          </a:solidFill>
                        </a:rPr>
                        <a:t>Chi</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7 điểm</a:t>
                      </a:r>
                    </a:p>
                  </a:txBody>
                  <a:tcPr marL="64008" marR="64008" marT="18288" marB="18288"/>
                </a:tc>
              </a:tr>
              <a:tr h="274320">
                <a:tc>
                  <a:txBody>
                    <a:bodyPr/>
                    <a:lstStyle/>
                    <a:p>
                      <a:pPr algn="ctr"/>
                      <a:r>
                        <a:rPr sz="1300" b="0" lang="vi-VN">
                          <a:solidFill>
                            <a:srgbClr val="1F1F1F"/>
                          </a:solidFill>
                        </a:rPr>
                        <a:t>5</a:t>
                      </a:r>
                    </a:p>
                  </a:txBody>
                  <a:tcPr marL="64008" marR="64008" marT="18288" marB="18288"/>
                </a:tc>
                <a:tc>
                  <a:txBody>
                    <a:bodyPr/>
                    <a:lstStyle/>
                    <a:p>
                      <a:pPr algn="l"/>
                      <a:r>
                        <a:rPr sz="1300" b="0" lang="vi-VN">
                          <a:solidFill>
                            <a:srgbClr val="1F1F1F"/>
                          </a:solidFill>
                        </a:rPr>
                        <a:t>Bình</a:t>
                      </a:r>
                    </a:p>
                  </a:txBody>
                  <a:tcPr marL="64008" marR="64008" marT="18288" marB="18288"/>
                </a:tc>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không thi, số bốc thăm 3</a:t>
                      </a:r>
                    </a:p>
                  </a:txBody>
                  <a:tcPr marL="64008" marR="64008" marT="18288" marB="18288"/>
                </a:tc>
              </a:tr>
            </a:tbl>
          </a:graphicData>
        </a:graphic>
      </p:graphicFrame>
      <p:sp>
        <p:nvSpPr>
          <p:cNvPr id="8" name="TextBox 7"/>
          <p:cNvSpPr txBox="1"/>
          <p:nvPr/>
        </p:nvSpPr>
        <p:spPr>
          <a:xfrm>
            <a:off x="6492240" y="5394960"/>
            <a:ext cx="4864608" cy="731520"/>
          </a:xfrm>
          <a:prstGeom prst="rect">
            <a:avLst/>
          </a:prstGeom>
          <a:noFill/>
        </p:spPr>
        <p:txBody>
          <a:bodyPr wrap="square" lIns="0" rIns="0" tIns="0" bIns="0">
            <a:spAutoFit/>
          </a:bodyPr>
          <a:lstStyle/>
          <a:p>
            <a:r>
              <a:rPr sz="1800" b="1" i="0" lang="vi-VN">
                <a:solidFill>
                  <a:srgbClr val="1F1F1F"/>
                </a:solidFill>
                <a:latin typeface="Arial"/>
              </a:rPr>
              <a:t>CLB không biết học sinh xếp mình ở nguyện vọng thứ mấy.</a:t>
            </a:r>
          </a:p>
        </p:txBody>
      </p:sp>
    </p:spTree>
    <p:extLst>
      <p:ext uri="{BB962C8B-B14F-4D97-AF65-F5344CB8AC3E}">
        <p14:creationId xmlns:p14="http://schemas.microsoft.com/office/powerpoint/2010/main" val="3608510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a:solidFill>
                  <a:srgbClr val="1F1F1F"/>
                </a:solidFill>
              </a:rPr>
              <a:t>Bước 4 diễn ra thế nào</a:t>
            </a:r>
          </a:p>
          <a:p>
            <a:pPr>
              <a:spcAft>
                <a:spcPts val="600"/>
              </a:spcAft>
            </a:pPr>
            <a:r>
              <a:rPr lang="vi-VN" sz="1500" b="1">
                <a:solidFill>
                  <a:srgbClr val="1F1F1F"/>
                </a:solidFill>
              </a:rPr>
              <a:t>Nộp đơn: </a:t>
            </a:r>
            <a:r>
              <a:rPr lang="vi-VN" sz="1500" b="0">
                <a:solidFill>
                  <a:srgbClr val="1F1F1F"/>
                </a:solidFill>
              </a:rPr>
              <a:t>học sinh nộp đơn vào CLB theo thứ tự nguyện vọng.</a:t>
            </a:r>
          </a:p>
          <a:p>
            <a:pPr>
              <a:spcAft>
                <a:spcPts val="600"/>
              </a:spcAft>
            </a:pPr>
            <a:r>
              <a:rPr lang="vi-VN" sz="1500" b="1">
                <a:solidFill>
                  <a:srgbClr val="1F1F1F"/>
                </a:solidFill>
              </a:rPr>
              <a:t>Xếp hạng hai tầng: </a:t>
            </a:r>
            <a:r>
              <a:rPr lang="vi-VN" sz="1500" b="0">
                <a:solidFill>
                  <a:srgbClr val="1F1F1F"/>
                </a:solidFill>
              </a:rPr>
              <a:t>Tầng 1 là học sinh đã thi, xếp theo điểm; Tầng 2 là học sinh không thi, xếp theo bốc thăm.</a:t>
            </a:r>
          </a:p>
          <a:p>
            <a:pPr>
              <a:spcAft>
                <a:spcPts val="600"/>
              </a:spcAft>
            </a:pPr>
            <a:r>
              <a:rPr lang="vi-VN" sz="1500" b="1">
                <a:solidFill>
                  <a:srgbClr val="1F1F1F"/>
                </a:solidFill>
              </a:rPr>
              <a:t>Suất dự trữ: </a:t>
            </a:r>
            <a:r>
              <a:rPr lang="vi-VN" sz="1500" b="0">
                <a:solidFill>
                  <a:srgbClr val="1F1F1F"/>
                </a:solidFill>
              </a:rPr>
              <a:t>CLB có thể dành trước một số chỗ cho nhóm ưu tiên; không đủ học sinh thuộc nhóm thì chỗ thừa trả lại cho xét chung.</a:t>
            </a:r>
          </a:p>
          <a:p>
            <a:pPr>
              <a:spcAft>
                <a:spcPts val="600"/>
              </a:spcAft>
            </a:pPr>
            <a:r>
              <a:rPr lang="vi-VN" sz="1500" b="1">
                <a:solidFill>
                  <a:srgbClr val="1F1F1F"/>
                </a:solidFill>
              </a:rPr>
              <a:t>Giữ tạm: </a:t>
            </a:r>
            <a:r>
              <a:rPr lang="vi-VN" sz="1500" b="0">
                <a:solidFill>
                  <a:srgbClr val="1F1F1F"/>
                </a:solidFill>
              </a:rPr>
              <a:t>CLB giữ tạm đủ số chỗ, từ chối phần còn lại.</a:t>
            </a:r>
          </a:p>
          <a:p>
            <a:pPr>
              <a:spcAft>
                <a:spcPts val="600"/>
              </a:spcAft>
            </a:pPr>
            <a:r>
              <a:rPr lang="vi-VN" sz="1500" b="1">
                <a:solidFill>
                  <a:srgbClr val="1F1F1F"/>
                </a:solidFill>
              </a:rPr>
              <a:t>Lặp lại: </a:t>
            </a:r>
            <a:r>
              <a:rPr lang="vi-VN" sz="1500" b="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a:xfrm>
            <a:off x="841248" y="1828800"/>
            <a:ext cx="4846320" cy="4389120"/>
          </a:xfrm>
        </p:spPr>
        <p:txBody>
          <a:bodyPr/>
          <a:lstStyle/>
          <a:p>
            <a:pPr>
              <a:lnSpc>
                <a:spcPct val="110000"/>
              </a:lnSpc>
              <a:spcAft>
                <a:spcPts val="1800"/>
              </a:spcAft>
            </a:pPr>
            <a:r>
              <a:rPr lang="vi-VN" sz="2600" b="1"/>
              <a:t>0</a:t>
            </a:r>
            <a:r>
              <a:rPr lang="vi-VN" sz="2600"/>
              <a:t> cặp học sinh và CLB muốn đổi kết quả</a:t>
            </a:r>
          </a:p>
          <a:p>
            <a:pPr>
              <a:lnSpc>
                <a:spcPct val="110000"/>
              </a:lnSpc>
              <a:spcAft>
                <a:spcPts val="1800"/>
              </a:spcAft>
            </a:pPr>
            <a:r>
              <a:rPr lang="vi-VN" sz="2600"/>
              <a:t>Chỉ </a:t>
            </a:r>
            <a:r>
              <a:rPr lang="vi-VN" sz="2600" b="1"/>
              <a:t>1,1%</a:t>
            </a:r>
            <a:r>
              <a:rPr lang="vi-VN" sz="2600"/>
              <a:t> số học sinh có chỗ hay không phụ thuộc bốc thăm</a:t>
            </a:r>
            <a:endParaRPr lang="vi-VN" dirty="0"/>
          </a:p>
          <a:p>
            <a:pPr>
              <a:lnSpc>
                <a:spcPct val="110000"/>
              </a:lnSpc>
              <a:spcAft>
                <a:spcPts val="1800"/>
              </a:spcAft>
            </a:pPr>
            <a:r>
              <a:rPr lang="vi-VN" sz="2600" b="1"/>
              <a:t>757</a:t>
            </a:r>
            <a:r>
              <a:rPr lang="vi-VN" sz="2600"/>
              <a:t> bài kiểm thử tự động đều đạt, đảm bảo phần mềm hoạt động đúng</a:t>
            </a:r>
            <a:endParaRPr lang="vi-VN" dirty="0"/>
          </a:p>
        </p:txBody>
      </p:sp>
      <p:sp>
        <p:nvSpPr>
          <p:cNvPr id="4" name="TextBox 3"/>
          <p:cNvSpPr txBox="1"/>
          <p:nvPr/>
        </p:nvSpPr>
        <p:spPr>
          <a:xfrm>
            <a:off x="5989320" y="1828800"/>
            <a:ext cx="5367528" cy="365760"/>
          </a:xfrm>
          <a:prstGeom prst="rect">
            <a:avLst/>
          </a:prstGeom>
          <a:noFill/>
        </p:spPr>
        <p:txBody>
          <a:bodyPr wrap="square" lIns="0" rIns="0" tIns="0" bIns="0">
            <a:spAutoFit/>
          </a:bodyPr>
          <a:lstStyle/>
          <a:p>
            <a:r>
              <a:rPr sz="1600" b="1" i="0" lang="vi-VN">
                <a:solidFill>
                  <a:srgbClr val="1F1F1F"/>
                </a:solidFill>
                <a:latin typeface="Arial"/>
              </a:rPr>
              <a:t>Đổi số bốc thăm 200 lần trên mỗi bộ dữ liệu</a:t>
            </a:r>
          </a:p>
        </p:txBody>
      </p:sp>
      <p:graphicFrame>
        <p:nvGraphicFramePr>
          <p:cNvPr id="5" name="Table 4"/>
          <p:cNvGraphicFramePr>
            <a:graphicFrameLocks noGrp="1"/>
          </p:cNvGraphicFramePr>
          <p:nvPr/>
        </p:nvGraphicFramePr>
        <p:xfrm>
          <a:off x="5989320" y="2286000"/>
          <a:ext cx="5367528" cy="2011680"/>
        </p:xfrm>
        <a:graphic>
          <a:graphicData uri="http://schemas.openxmlformats.org/drawingml/2006/table">
            <a:tbl>
              <a:tblPr firstRow="0" bandRow="0">
                <a:tableStyleId>{5940675A-B579-460E-94D1-54222C63F5DA}</a:tableStyleId>
              </a:tblPr>
              <a:tblGrid>
                <a:gridCol w="1481328"/>
                <a:gridCol w="868680"/>
                <a:gridCol w="1234440"/>
                <a:gridCol w="1783080"/>
              </a:tblGrid>
              <a:tr h="402336">
                <a:tc>
                  <a:txBody>
                    <a:bodyPr/>
                    <a:lstStyle/>
                    <a:p>
                      <a:pPr algn="l"/>
                      <a:r>
                        <a:rPr sz="1400" b="1" lang="vi-VN">
                          <a:solidFill>
                            <a:srgbClr val="1F1F1F"/>
                          </a:solidFill>
                        </a:rPr>
                        <a:t>Bộ dữ liệu</a:t>
                      </a:r>
                    </a:p>
                  </a:txBody>
                  <a:tcPr marL="73152" marR="73152"/>
                </a:tc>
                <a:tc>
                  <a:txBody>
                    <a:bodyPr/>
                    <a:lstStyle/>
                    <a:p>
                      <a:pPr algn="r"/>
                      <a:r>
                        <a:rPr sz="1400" b="1" lang="vi-VN">
                          <a:solidFill>
                            <a:srgbClr val="1F1F1F"/>
                          </a:solidFill>
                        </a:rPr>
                        <a:t>Học sinh</a:t>
                      </a:r>
                    </a:p>
                  </a:txBody>
                  <a:tcPr marL="73152" marR="73152"/>
                </a:tc>
                <a:tc>
                  <a:txBody>
                    <a:bodyPr/>
                    <a:lstStyle/>
                    <a:p>
                      <a:pPr algn="r"/>
                      <a:r>
                        <a:rPr sz="1400" b="1" lang="vi-VN">
                          <a:solidFill>
                            <a:srgbClr val="1F1F1F"/>
                          </a:solidFill>
                        </a:rPr>
                        <a:t>Cặp phá vỡ</a:t>
                      </a:r>
                    </a:p>
                  </a:txBody>
                  <a:tcPr marL="73152" marR="73152"/>
                </a:tc>
                <a:tc>
                  <a:txBody>
                    <a:bodyPr/>
                    <a:lstStyle/>
                    <a:p>
                      <a:pPr algn="r"/>
                      <a:r>
                        <a:rPr sz="1400" b="1" lang="vi-VN">
                          <a:solidFill>
                            <a:srgbClr val="1F1F1F"/>
                          </a:solidFill>
                        </a:rPr>
                        <a:t>Phụ thuộc bốc thăm</a:t>
                      </a:r>
                    </a:p>
                  </a:txBody>
                  <a:tcPr marL="73152" marR="73152"/>
                </a:tc>
              </a:tr>
              <a:tr h="402336">
                <a:tc>
                  <a:txBody>
                    <a:bodyPr/>
                    <a:lstStyle/>
                    <a:p>
                      <a:pPr algn="l"/>
                      <a:r>
                        <a:rPr sz="1400" b="0" lang="vi-VN">
                          <a:solidFill>
                            <a:srgbClr val="1F1F1F"/>
                          </a:solidFill>
                        </a:rPr>
                        <a:t>Bộ ví dụ</a:t>
                      </a:r>
                    </a:p>
                  </a:txBody>
                  <a:tcPr marL="73152" marR="73152"/>
                </a:tc>
                <a:tc>
                  <a:txBody>
                    <a:bodyPr/>
                    <a:lstStyle/>
                    <a:p>
                      <a:pPr algn="r"/>
                      <a:r>
                        <a:rPr sz="1400" b="0" lang="vi-VN">
                          <a:solidFill>
                            <a:srgbClr val="1F1F1F"/>
                          </a:solidFill>
                        </a:rPr>
                        <a:t>10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0</a:t>
                      </a:r>
                    </a:p>
                  </a:txBody>
                  <a:tcPr marL="73152" marR="73152"/>
                </a:tc>
              </a:tr>
              <a:tr h="402336">
                <a:tc>
                  <a:txBody>
                    <a:bodyPr/>
                    <a:lstStyle/>
                    <a:p>
                      <a:pPr algn="l"/>
                      <a:r>
                        <a:rPr sz="1400" b="0" lang="vi-VN">
                          <a:solidFill>
                            <a:srgbClr val="1F1F1F"/>
                          </a:solidFill>
                        </a:rPr>
                        <a:t>Bộ 140 học sinh</a:t>
                      </a:r>
                    </a:p>
                  </a:txBody>
                  <a:tcPr marL="73152" marR="73152"/>
                </a:tc>
                <a:tc>
                  <a:txBody>
                    <a:bodyPr/>
                    <a:lstStyle/>
                    <a:p>
                      <a:pPr algn="r"/>
                      <a:r>
                        <a:rPr sz="1400" b="0" lang="vi-VN">
                          <a:solidFill>
                            <a:srgbClr val="1F1F1F"/>
                          </a:solidFill>
                        </a:rPr>
                        <a:t>140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1</a:t>
                      </a:r>
                    </a:p>
                  </a:txBody>
                  <a:tcPr marL="73152" marR="73152"/>
                </a:tc>
              </a:tr>
              <a:tr h="402336">
                <a:tc>
                  <a:txBody>
                    <a:bodyPr/>
                    <a:lstStyle/>
                    <a:p>
                      <a:pPr algn="l"/>
                      <a:r>
                        <a:rPr sz="1400" b="0" lang="vi-VN">
                          <a:solidFill>
                            <a:srgbClr val="1F1F1F"/>
                          </a:solidFill>
                        </a:rPr>
                        <a:t>Bộ 120 học sinh</a:t>
                      </a:r>
                    </a:p>
                  </a:txBody>
                  <a:tcPr marL="73152" marR="73152"/>
                </a:tc>
                <a:tc>
                  <a:txBody>
                    <a:bodyPr/>
                    <a:lstStyle/>
                    <a:p>
                      <a:pPr algn="r"/>
                      <a:r>
                        <a:rPr sz="1400" b="0" lang="vi-VN">
                          <a:solidFill>
                            <a:srgbClr val="1F1F1F"/>
                          </a:solidFill>
                        </a:rPr>
                        <a:t>120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2</a:t>
                      </a:r>
                    </a:p>
                  </a:txBody>
                  <a:tcPr marL="73152" marR="73152"/>
                </a:tc>
              </a:tr>
              <a:tr h="402336">
                <a:tc>
                  <a:txBody>
                    <a:bodyPr/>
                    <a:lstStyle/>
                    <a:p>
                      <a:pPr algn="l"/>
                      <a:r>
                        <a:rPr sz="1400" b="1" lang="vi-VN">
                          <a:solidFill>
                            <a:srgbClr val="1F1F1F"/>
                          </a:solidFill>
                        </a:rPr>
                        <a:t>Tổng</a:t>
                      </a:r>
                    </a:p>
                  </a:txBody>
                  <a:tcPr marL="73152" marR="73152"/>
                </a:tc>
                <a:tc>
                  <a:txBody>
                    <a:bodyPr/>
                    <a:lstStyle/>
                    <a:p>
                      <a:pPr algn="r"/>
                      <a:r>
                        <a:rPr sz="1400" b="1" lang="vi-VN">
                          <a:solidFill>
                            <a:srgbClr val="1F1F1F"/>
                          </a:solidFill>
                        </a:rPr>
                        <a:t>270</a:t>
                      </a:r>
                    </a:p>
                  </a:txBody>
                  <a:tcPr marL="73152" marR="73152"/>
                </a:tc>
                <a:tc>
                  <a:txBody>
                    <a:bodyPr/>
                    <a:lstStyle/>
                    <a:p>
                      <a:pPr algn="r"/>
                      <a:r>
                        <a:rPr sz="1400" b="1" lang="vi-VN">
                          <a:solidFill>
                            <a:srgbClr val="1F1F1F"/>
                          </a:solidFill>
                        </a:rPr>
                        <a:t>0</a:t>
                      </a:r>
                    </a:p>
                  </a:txBody>
                  <a:tcPr marL="73152" marR="73152"/>
                </a:tc>
                <a:tc>
                  <a:txBody>
                    <a:bodyPr/>
                    <a:lstStyle/>
                    <a:p>
                      <a:pPr algn="r"/>
                      <a:r>
                        <a:rPr sz="1400" b="1" lang="vi-VN">
                          <a:solidFill>
                            <a:srgbClr val="1F1F1F"/>
                          </a:solidFill>
                        </a:rPr>
                        <a:t>3 (1,1%)</a:t>
                      </a:r>
                    </a:p>
                  </a:txBody>
                  <a:tcPr marL="73152" marR="73152"/>
                </a:tc>
              </a:tr>
            </a:tbl>
          </a:graphicData>
        </a:graphic>
      </p:graphicFrame>
      <p:sp>
        <p:nvSpPr>
          <p:cNvPr id="6" name="TextBox 5"/>
          <p:cNvSpPr txBox="1"/>
          <p:nvPr/>
        </p:nvSpPr>
        <p:spPr>
          <a:xfrm>
            <a:off x="5989320" y="4526280"/>
            <a:ext cx="5367528" cy="365760"/>
          </a:xfrm>
          <a:prstGeom prst="rect">
            <a:avLst/>
          </a:prstGeom>
          <a:noFill/>
        </p:spPr>
        <p:txBody>
          <a:bodyPr wrap="square" lIns="0" rIns="0" tIns="0" bIns="0">
            <a:spAutoFit/>
          </a:bodyPr>
          <a:lstStyle/>
          <a:p>
            <a:r>
              <a:rPr sz="1500" b="0" i="0" lang="vi-VN">
                <a:solidFill>
                  <a:srgbClr val="1F1F1F"/>
                </a:solidFill>
                <a:latin typeface="Arial"/>
              </a:rPr>
              <a:t>Thử tải 5 000 học sinh, 100 CLB: 0 cặp phá vỡ.</a:t>
            </a:r>
          </a:p>
        </p:txBody>
      </p:sp>
      <p:sp>
        <p:nvSpPr>
          <p:cNvPr id="7" name="TextBox 6"/>
          <p:cNvSpPr txBox="1"/>
          <p:nvPr/>
        </p:nvSpPr>
        <p:spPr>
          <a:xfrm>
            <a:off x="5989320" y="4937760"/>
            <a:ext cx="5367528" cy="365760"/>
          </a:xfrm>
          <a:prstGeom prst="rect">
            <a:avLst/>
          </a:prstGeom>
          <a:noFill/>
        </p:spPr>
        <p:txBody>
          <a:bodyPr wrap="square" lIns="0" rIns="0" tIns="0" bIns="0">
            <a:spAutoFit/>
          </a:bodyPr>
          <a:lstStyle/>
          <a:p>
            <a:r>
              <a:rPr sz="1500" b="0" i="0" lang="vi-VN">
                <a:solidFill>
                  <a:srgbClr val="1F1F1F"/>
                </a:solidFill>
                <a:latin typeface="Arial"/>
              </a:rPr>
              <a:t>Bộ kiểm thử: 757/757 bài đạt.</a:t>
            </a:r>
          </a:p>
        </p:txBody>
      </p:sp>
      <p:sp>
        <p:nvSpPr>
          <p:cNvPr id="8" name="TextBox 7"/>
          <p:cNvSpPr txBox="1"/>
          <p:nvPr/>
        </p:nvSpPr>
        <p:spPr>
          <a:xfrm>
            <a:off x="5989320" y="5669280"/>
            <a:ext cx="5367528" cy="548640"/>
          </a:xfrm>
          <a:prstGeom prst="rect">
            <a:avLst/>
          </a:prstGeom>
          <a:noFill/>
        </p:spPr>
        <p:txBody>
          <a:bodyPr wrap="square" lIns="0" rIns="0" tIns="0" bIns="0">
            <a:spAutoFit/>
          </a:bodyPr>
          <a:lstStyle/>
          <a:p>
            <a:r>
              <a:rPr sz="1200" b="0" i="1" lang="vi-VN">
                <a:solidFill>
                  <a:srgbClr val="595959"/>
                </a:solidFill>
                <a:latin typeface="Arial"/>
              </a:rPr>
              <a:t>Cặp phá vỡ: một học sinh và một CLB cùng muốn bỏ kết quả để chọn nhau. Số đo trên dữ liệu mô phỏng.</a:t>
            </a:r>
          </a:p>
        </p:txBody>
      </p:sp>
    </p:spTree>
    <p:extLst>
      <p:ext uri="{BB962C8B-B14F-4D97-AF65-F5344CB8AC3E}">
        <p14:creationId xmlns:p14="http://schemas.microsoft.com/office/powerpoint/2010/main" val="39312155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vi-VN"/>
              <a:t>Định hướng tương lai </a:t>
            </a:r>
          </a:p>
        </p:txBody>
      </p:sp>
      <p:sp>
        <p:nvSpPr>
          <p:cNvPr id="3" name="TextBox 2"/>
          <p:cNvSpPr txBox="1"/>
          <p:nvPr/>
        </p:nvSpPr>
        <p:spPr>
          <a:xfrm>
            <a:off x="841248" y="2148840"/>
            <a:ext cx="4937760" cy="914400"/>
          </a:xfrm>
          <a:prstGeom prst="rect">
            <a:avLst/>
          </a:prstGeom>
          <a:noFill/>
        </p:spPr>
        <p:txBody>
          <a:bodyPr wrap="square" anchor="t" lIns="0" rIns="0" tIns="0" bIns="0">
            <a:spAutoFit/>
          </a:bodyPr>
          <a:lstStyle/>
          <a:p>
            <a:r>
              <a:rPr sz="6000" b="1" lang="vi-VN">
                <a:solidFill>
                  <a:srgbClr val="1F1F1F"/>
                </a:solidFill>
                <a:latin typeface="Arial"/>
              </a:rPr>
              <a:t>01</a:t>
            </a:r>
          </a:p>
        </p:txBody>
      </p:sp>
      <p:cxnSp>
        <p:nvCxnSpPr>
          <p:cNvPr id="4" name="Connector 3"/>
          <p:cNvCxnSpPr/>
          <p:nvPr/>
        </p:nvCxnSpPr>
        <p:spPr>
          <a:xfrm>
            <a:off x="841248" y="315468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41248" y="3429000"/>
            <a:ext cx="4937760" cy="2011680"/>
          </a:xfrm>
          <a:prstGeom prst="rect">
            <a:avLst/>
          </a:prstGeom>
          <a:noFill/>
        </p:spPr>
        <p:txBody>
          <a:bodyPr wrap="square" anchor="t" lIns="0" rIns="0" tIns="0" bIns="0">
            <a:spAutoFit/>
          </a:bodyPr>
          <a:lstStyle/>
          <a:p>
            <a:r>
              <a:rPr sz="3000" b="0" lang="vi-VN">
                <a:solidFill>
                  <a:srgbClr val="1F1F1F"/>
                </a:solidFill>
                <a:latin typeface="Arial"/>
              </a:rPr>
              <a:t>Cải thiện tương tác với người dùng</a:t>
            </a:r>
          </a:p>
        </p:txBody>
      </p:sp>
      <p:sp>
        <p:nvSpPr>
          <p:cNvPr id="6" name="TextBox 5"/>
          <p:cNvSpPr txBox="1"/>
          <p:nvPr/>
        </p:nvSpPr>
        <p:spPr>
          <a:xfrm>
            <a:off x="6419088" y="2148840"/>
            <a:ext cx="4937760" cy="914400"/>
          </a:xfrm>
          <a:prstGeom prst="rect">
            <a:avLst/>
          </a:prstGeom>
          <a:noFill/>
        </p:spPr>
        <p:txBody>
          <a:bodyPr wrap="square" anchor="t" lIns="0" rIns="0" tIns="0" bIns="0">
            <a:spAutoFit/>
          </a:bodyPr>
          <a:lstStyle/>
          <a:p>
            <a:r>
              <a:rPr sz="6000" b="1" lang="vi-VN">
                <a:solidFill>
                  <a:srgbClr val="1F1F1F"/>
                </a:solidFill>
                <a:latin typeface="Arial"/>
              </a:rPr>
              <a:t>02</a:t>
            </a:r>
          </a:p>
        </p:txBody>
      </p:sp>
      <p:cxnSp>
        <p:nvCxnSpPr>
          <p:cNvPr id="7" name="Connector 6"/>
          <p:cNvCxnSpPr/>
          <p:nvPr/>
        </p:nvCxnSpPr>
        <p:spPr>
          <a:xfrm>
            <a:off x="6419088" y="3154680"/>
            <a:ext cx="1097279"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19088" y="3429000"/>
            <a:ext cx="4937760" cy="2011680"/>
          </a:xfrm>
          <a:prstGeom prst="rect">
            <a:avLst/>
          </a:prstGeom>
          <a:noFill/>
        </p:spPr>
        <p:txBody>
          <a:bodyPr wrap="square" anchor="t" lIns="0" rIns="0" tIns="0" bIns="0">
            <a:spAutoFit/>
          </a:bodyPr>
          <a:lstStyle/>
          <a:p>
            <a:r>
              <a:rPr sz="3000" b="0" lang="vi-VN">
                <a:solidFill>
                  <a:srgbClr val="1F1F1F"/>
                </a:solidFill>
                <a:latin typeface="Arial"/>
              </a:rPr>
              <a:t>Nghiên cứu thay đổi xét bằng số bốc thăm bằng cách khác</a:t>
            </a:r>
          </a:p>
        </p:txBody>
      </p:sp>
      <p:cxnSp>
        <p:nvCxnSpPr>
          <p:cNvPr id="9" name="Connector 8"/>
          <p:cNvCxnSpPr/>
          <p:nvPr/>
        </p:nvCxnSpPr>
        <p:spPr>
          <a:xfrm>
            <a:off x="6099048" y="2194560"/>
            <a:ext cx="0" cy="320040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4196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vi-VN" sz="4200"/>
              <a:t>Cảm ơn mọi người đã lắng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vi-VN" sz="2200"/>
              <a:t>Cảm ơn mọi người đã dành thời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vi-VN"/>
              <a:t>Vì sao chọn dự án của chúng tôi</a:t>
            </a:r>
          </a:p>
        </p:txBody>
      </p:sp>
      <p:sp>
        <p:nvSpPr>
          <p:cNvPr id="3" name="TextBox 2"/>
          <p:cNvSpPr txBox="1"/>
          <p:nvPr/>
        </p:nvSpPr>
        <p:spPr>
          <a:xfrm>
            <a:off x="841248" y="2103120"/>
            <a:ext cx="3200400" cy="914400"/>
          </a:xfrm>
          <a:prstGeom prst="rect">
            <a:avLst/>
          </a:prstGeom>
          <a:noFill/>
        </p:spPr>
        <p:txBody>
          <a:bodyPr wrap="square" lIns="0" rIns="0" tIns="0" bIns="0">
            <a:spAutoFit/>
          </a:bodyPr>
          <a:lstStyle/>
          <a:p>
            <a:r>
              <a:rPr sz="6000" b="1" lang="vi-VN">
                <a:solidFill>
                  <a:srgbClr val="1F1F1F"/>
                </a:solidFill>
                <a:latin typeface="Arial"/>
              </a:rPr>
              <a:t>01</a:t>
            </a:r>
          </a:p>
        </p:txBody>
      </p:sp>
      <p:cxnSp>
        <p:nvCxnSpPr>
          <p:cNvPr id="4" name="Connector 3"/>
          <p:cNvCxnSpPr/>
          <p:nvPr/>
        </p:nvCxnSpPr>
        <p:spPr>
          <a:xfrm>
            <a:off x="8412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41248" y="3383280"/>
            <a:ext cx="3200400" cy="1005840"/>
          </a:xfrm>
          <a:prstGeom prst="rect">
            <a:avLst/>
          </a:prstGeom>
          <a:noFill/>
        </p:spPr>
        <p:txBody>
          <a:bodyPr wrap="square" lIns="0" rIns="0" tIns="0" bIns="0">
            <a:spAutoFit/>
          </a:bodyPr>
          <a:lstStyle/>
          <a:p>
            <a:r>
              <a:rPr sz="2600" b="1" lang="vi-VN">
                <a:solidFill>
                  <a:srgbClr val="1F1F1F"/>
                </a:solidFill>
                <a:latin typeface="Arial"/>
              </a:rPr>
              <a:t>Có sản phẩm</a:t>
            </a:r>
          </a:p>
        </p:txBody>
      </p:sp>
      <p:sp>
        <p:nvSpPr>
          <p:cNvPr id="6" name="TextBox 5"/>
          <p:cNvSpPr txBox="1"/>
          <p:nvPr/>
        </p:nvSpPr>
        <p:spPr>
          <a:xfrm>
            <a:off x="841248" y="4434840"/>
            <a:ext cx="3200400" cy="1371600"/>
          </a:xfrm>
          <a:prstGeom prst="rect">
            <a:avLst/>
          </a:prstGeom>
          <a:noFill/>
        </p:spPr>
        <p:txBody>
          <a:bodyPr wrap="square" lIns="0" rIns="0" tIns="0" bIns="0">
            <a:spAutoFit/>
          </a:bodyPr>
          <a:lstStyle/>
          <a:p>
            <a:r>
              <a:rPr sz="1600" b="0" lang="vi-VN">
                <a:solidFill>
                  <a:srgbClr val="555555"/>
                </a:solidFill>
                <a:latin typeface="Arial"/>
              </a:rPr>
              <a:t>Phần mềm chạy được trên máy Windows; 757 bài kiểm thử tự động đều đạt.</a:t>
            </a:r>
          </a:p>
        </p:txBody>
      </p:sp>
      <p:cxnSp>
        <p:nvCxnSpPr>
          <p:cNvPr id="7" name="Connector 6"/>
          <p:cNvCxnSpPr/>
          <p:nvPr/>
        </p:nvCxnSpPr>
        <p:spPr>
          <a:xfrm>
            <a:off x="4270248" y="2194560"/>
            <a:ext cx="0" cy="347472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498848" y="2103120"/>
            <a:ext cx="3200400" cy="914400"/>
          </a:xfrm>
          <a:prstGeom prst="rect">
            <a:avLst/>
          </a:prstGeom>
          <a:noFill/>
        </p:spPr>
        <p:txBody>
          <a:bodyPr wrap="square" lIns="0" rIns="0" tIns="0" bIns="0">
            <a:spAutoFit/>
          </a:bodyPr>
          <a:lstStyle/>
          <a:p>
            <a:r>
              <a:rPr sz="6000" b="1" lang="vi-VN">
                <a:solidFill>
                  <a:srgbClr val="1F1F1F"/>
                </a:solidFill>
                <a:latin typeface="Arial"/>
              </a:rPr>
              <a:t>02</a:t>
            </a:r>
          </a:p>
        </p:txBody>
      </p:sp>
      <p:cxnSp>
        <p:nvCxnSpPr>
          <p:cNvPr id="9" name="Connector 8"/>
          <p:cNvCxnSpPr/>
          <p:nvPr/>
        </p:nvCxnSpPr>
        <p:spPr>
          <a:xfrm>
            <a:off x="44988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98848" y="3383280"/>
            <a:ext cx="3200400" cy="1005840"/>
          </a:xfrm>
          <a:prstGeom prst="rect">
            <a:avLst/>
          </a:prstGeom>
          <a:noFill/>
        </p:spPr>
        <p:txBody>
          <a:bodyPr wrap="square" lIns="0" rIns="0" tIns="0" bIns="0">
            <a:spAutoFit/>
          </a:bodyPr>
          <a:lstStyle/>
          <a:p>
            <a:r>
              <a:rPr sz="2600" b="1" lang="vi-VN">
                <a:solidFill>
                  <a:srgbClr val="1F1F1F"/>
                </a:solidFill>
                <a:latin typeface="Arial"/>
              </a:rPr>
              <a:t>Giải quyết vấn đề thực tiễn</a:t>
            </a:r>
          </a:p>
        </p:txBody>
      </p:sp>
      <p:sp>
        <p:nvSpPr>
          <p:cNvPr id="11" name="TextBox 10"/>
          <p:cNvSpPr txBox="1"/>
          <p:nvPr/>
        </p:nvSpPr>
        <p:spPr>
          <a:xfrm>
            <a:off x="4498848" y="4434840"/>
            <a:ext cx="3200400" cy="1371600"/>
          </a:xfrm>
          <a:prstGeom prst="rect">
            <a:avLst/>
          </a:prstGeom>
          <a:noFill/>
        </p:spPr>
        <p:txBody>
          <a:bodyPr wrap="square" lIns="0" rIns="0" tIns="0" bIns="0">
            <a:spAutoFit/>
          </a:bodyPr>
          <a:lstStyle/>
          <a:p>
            <a:r>
              <a:rPr sz="1600" b="0" lang="vi-VN">
                <a:solidFill>
                  <a:srgbClr val="555555"/>
                </a:solidFill>
                <a:latin typeface="Arial"/>
              </a:rPr>
              <a:t>Thay cách xếp CLB theo thứ tự đăng ký đang dùng tại trường.</a:t>
            </a:r>
          </a:p>
        </p:txBody>
      </p:sp>
      <p:cxnSp>
        <p:nvCxnSpPr>
          <p:cNvPr id="12" name="Connector 11"/>
          <p:cNvCxnSpPr/>
          <p:nvPr/>
        </p:nvCxnSpPr>
        <p:spPr>
          <a:xfrm>
            <a:off x="7927848" y="2194560"/>
            <a:ext cx="0" cy="347472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56448" y="2103120"/>
            <a:ext cx="3200400" cy="914400"/>
          </a:xfrm>
          <a:prstGeom prst="rect">
            <a:avLst/>
          </a:prstGeom>
          <a:noFill/>
        </p:spPr>
        <p:txBody>
          <a:bodyPr wrap="square" lIns="0" rIns="0" tIns="0" bIns="0">
            <a:spAutoFit/>
          </a:bodyPr>
          <a:lstStyle/>
          <a:p>
            <a:r>
              <a:rPr sz="6000" b="1" lang="vi-VN">
                <a:solidFill>
                  <a:srgbClr val="1F1F1F"/>
                </a:solidFill>
                <a:latin typeface="Arial"/>
              </a:rPr>
              <a:t>03</a:t>
            </a:r>
          </a:p>
        </p:txBody>
      </p:sp>
      <p:cxnSp>
        <p:nvCxnSpPr>
          <p:cNvPr id="14" name="Connector 13"/>
          <p:cNvCxnSpPr/>
          <p:nvPr/>
        </p:nvCxnSpPr>
        <p:spPr>
          <a:xfrm>
            <a:off x="8156448" y="310896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56448" y="3383280"/>
            <a:ext cx="3200400" cy="1005840"/>
          </a:xfrm>
          <a:prstGeom prst="rect">
            <a:avLst/>
          </a:prstGeom>
          <a:noFill/>
        </p:spPr>
        <p:txBody>
          <a:bodyPr wrap="square" lIns="0" rIns="0" tIns="0" bIns="0">
            <a:spAutoFit/>
          </a:bodyPr>
          <a:lstStyle/>
          <a:p>
            <a:r>
              <a:rPr sz="2600" b="1" lang="vi-VN">
                <a:solidFill>
                  <a:srgbClr val="1F1F1F"/>
                </a:solidFill>
                <a:latin typeface="Arial"/>
              </a:rPr>
              <a:t>Có thể triển khai ngay lập tức</a:t>
            </a:r>
          </a:p>
        </p:txBody>
      </p:sp>
      <p:sp>
        <p:nvSpPr>
          <p:cNvPr id="16" name="TextBox 15"/>
          <p:cNvSpPr txBox="1"/>
          <p:nvPr/>
        </p:nvSpPr>
        <p:spPr>
          <a:xfrm>
            <a:off x="8156448" y="4434840"/>
            <a:ext cx="3200400" cy="1371600"/>
          </a:xfrm>
          <a:prstGeom prst="rect">
            <a:avLst/>
          </a:prstGeom>
          <a:noFill/>
        </p:spPr>
        <p:txBody>
          <a:bodyPr wrap="square" lIns="0" rIns="0" tIns="0" bIns="0">
            <a:spAutoFit/>
          </a:bodyPr>
          <a:lstStyle/>
          <a:p>
            <a:r>
              <a:rPr sz="1600" b="0" lang="vi-VN">
                <a:solidFill>
                  <a:srgbClr val="555555"/>
                </a:solidFill>
                <a:latin typeface="Arial"/>
              </a:rPr>
              <a:t>Chạy ngoại tuyến, không cần cài đặt, nhập thẳng tệp Excel từ Microsoft Forms.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