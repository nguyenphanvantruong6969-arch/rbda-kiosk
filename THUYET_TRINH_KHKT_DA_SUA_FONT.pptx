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6" r:id="rId1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những gì phần mềm tự làm sau khi bấm Chạy sắp xếp. Bước 2 dừng ngay nếu dữ liệu sai, để không tốn một lần bốc thăm. Bước 4 kiểm tra không có cặp phá vỡ trước khi lưu. Nếu bất kỳ bước nào lỗi, phần mềm hủy toàn bộ lần chạy, dữ liệu cũ vẫn còn nguyên.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800" b="1">
                <a:solidFill>
                  <a:srgbClr val="FFFFFF"/>
                </a:solidFill>
              </a:rPr>
              <a:t>Đề tài:</a:t>
            </a:r>
            <a:r>
              <a:rPr lang="vi-VN" sz="1800">
                <a:solidFill>
                  <a:srgbClr val="FFFFFF"/>
                </a:solidFill>
              </a:rPr>
              <a:t> Áp dụng thuật toán chấp nhận trì hoãn vào việc sắp xếp học sinh vào các CLB tương ứng</a:t>
            </a:r>
          </a:p>
          <a:p>
            <a:pPr lvl="0"/>
            <a:r>
              <a:rPr lang="vi-VN" sz="1800" b="1">
                <a:solidFill>
                  <a:srgbClr val="FFFFFF"/>
                </a:solidFill>
              </a:rPr>
              <a:t>Thực hiện bởi:</a:t>
            </a:r>
            <a:r>
              <a:rPr lang="vi-VN" sz="1800">
                <a:solidFill>
                  <a:srgbClr val="FFFFFF"/>
                </a:solidFill>
              </a:rPr>
              <a:t> Nguyễn Phan Văn Trường 11H2 và Lê Hoàng Phương Vi 10H3</a:t>
            </a:r>
          </a:p>
          <a:p>
            <a:pPr lvl="0"/>
            <a:r>
              <a:rPr lang="vi-VN" sz="18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6128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Bài toán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788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792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92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Giải pháp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82880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54568" y="21488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568" y="297180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Cách phần mềm hoạt động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128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Vận hành phần mềm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788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792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92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Các số liệu khác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4528" y="4160520"/>
            <a:ext cx="3322320" cy="20574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4568" y="4480559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lang="vi-VN">
                <a:solidFill>
                  <a:srgbClr val="3F6B52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4568" y="5303520"/>
            <a:ext cx="2682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lang="vi-VN">
                <a:solidFill>
                  <a:srgbClr val="1F1F1F"/>
                </a:solidFill>
                <a:latin typeface="Arial"/>
              </a:rPr>
              <a:t>Tính năng khác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61288" y="2148840"/>
            <a:ext cx="777240" cy="777240"/>
          </a:xfrm>
          <a:prstGeom prst="ellipse">
            <a:avLst/>
          </a:prstGeom>
          <a:solidFill>
            <a:srgbClr val="F3D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ck_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70" y="2350922"/>
            <a:ext cx="373075" cy="37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6712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Xét theo thứ tự đăng kí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Xét theo thứ tự đăng ký chỉ đánh giá tốc độ chứ không xét trình độ hay nguyện vọng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56247" y="2148840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330" y="2350922"/>
            <a:ext cx="373075" cy="37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2088" y="217627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Đảm bảo chất lượng đầu vào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Những CLB không thể đánh giá chất lượng đầu vào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61288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ands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370" y="4728362"/>
            <a:ext cx="373075" cy="373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6712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Cần phải hỗ trợ các HS có hoàn cảnh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Lời giải cần tạo cách để ưu tiên các HS khó khăn vào CLB nếu cần thiết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420624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56247" y="4526279"/>
            <a:ext cx="777240" cy="77724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sers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330" y="4728362"/>
            <a:ext cx="373075" cy="3730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62088" y="4553712"/>
            <a:ext cx="3474720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lang="vi-VN">
                <a:solidFill>
                  <a:srgbClr val="1F1F1F"/>
                </a:solidFill>
                <a:latin typeface="Arial"/>
              </a:rPr>
              <a:t>Số chỗ có thể ít hơn số lượng HS</a:t>
            </a:r>
          </a:p>
          <a:p>
            <a:pPr>
              <a:spcBef>
                <a:spcPts val="800"/>
              </a:spcBef>
            </a:pPr>
            <a:r>
              <a:rPr sz="1500" lang="vi-VN">
                <a:solidFill>
                  <a:srgbClr val="555B58"/>
                </a:solidFill>
                <a:latin typeface="Arial"/>
              </a:rPr>
              <a:t>Có thể có ít chỗ hơn số lượng học sinh</a:t>
            </a:r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Rounded Rectangle 7"/>
          <p:cNvSpPr/>
          <p:nvPr/>
        </p:nvSpPr>
        <p:spPr>
          <a:xfrm>
            <a:off x="84124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6128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24780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Nạp ba tệp excel chứa danh sách CLB, các CLB học sinh muốn thi và điểm tương ứng, thứ tự sắp xếp của học sinh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4456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864607" y="2240279"/>
            <a:ext cx="914400" cy="914400"/>
          </a:xfrm>
          <a:prstGeom prst="ellipse">
            <a:avLst/>
          </a:prstGeom>
          <a:solidFill>
            <a:srgbClr val="2F5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1" y="247802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DCE9E0"/>
                </a:solidFill>
                <a:latin typeface="Arial"/>
              </a:rPr>
              <a:t>PHẦN MỀM SẼ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7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vi-VN">
                <a:solidFill>
                  <a:srgbClr val="FFFFFF"/>
                </a:solidFill>
                <a:latin typeface="Arial"/>
              </a:rPr>
              <a:t>Xử lí các dữ liệu đó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63255" y="3703320"/>
            <a:ext cx="374904" cy="365760"/>
          </a:xfrm>
          <a:prstGeom prst="rightArrow">
            <a:avLst/>
          </a:prstGeom>
          <a:solidFill>
            <a:srgbClr val="D5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1874519"/>
            <a:ext cx="3108960" cy="402336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67928" y="2240279"/>
            <a:ext cx="914400" cy="91440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47802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67928" y="33832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vi-VN" spc="150">
                <a:solidFill>
                  <a:srgbClr val="3F6B52"/>
                </a:solidFill>
                <a:latin typeface="Arial"/>
              </a:rPr>
              <a:t>ĐẦU 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3794760"/>
            <a:ext cx="2468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lang="vi-VN">
                <a:solidFill>
                  <a:srgbClr val="1F1F1F"/>
                </a:solidFill>
                <a:latin typeface="Arial"/>
              </a:rPr>
              <a:t>Hiển thị thông số như danh sách HS đạt các CLB, danh sách HS chưa có chỗ, thời khóa biểu CLB của học sinh,…</a:t>
            </a:r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cxnSp>
        <p:nvCxnSpPr>
          <p:cNvPr id="3" name="Connector 2"/>
          <p:cNvCxnSpPr/>
          <p:nvPr/>
        </p:nvCxnSpPr>
        <p:spPr>
          <a:xfrm>
            <a:off x="2155698" y="2560320"/>
            <a:ext cx="7886700" cy="0"/>
          </a:xfrm>
          <a:prstGeom prst="line">
            <a:avLst/>
          </a:prstGeom>
          <a:ln w="38100">
            <a:solidFill>
              <a:srgbClr val="D5D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7442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09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7442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cel_m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87" y="3917289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Nạp ba tệp excel</a:t>
            </a:r>
          </a:p>
        </p:txBody>
      </p:sp>
      <p:sp>
        <p:nvSpPr>
          <p:cNvPr id="9" name="Oval 8"/>
          <p:cNvSpPr/>
          <p:nvPr/>
        </p:nvSpPr>
        <p:spPr>
          <a:xfrm>
            <a:off x="43731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98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731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rn_m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3917289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27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Xem mục cảnh báo dữ liệu</a:t>
            </a:r>
          </a:p>
        </p:txBody>
      </p:sp>
      <p:sp>
        <p:nvSpPr>
          <p:cNvPr id="14" name="Oval 13"/>
          <p:cNvSpPr/>
          <p:nvPr/>
        </p:nvSpPr>
        <p:spPr>
          <a:xfrm>
            <a:off x="7002018" y="2148840"/>
            <a:ext cx="822960" cy="822960"/>
          </a:xfrm>
          <a:prstGeom prst="ellipse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0020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y_m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987" y="3917289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Bấm chạy sắp xếp</a:t>
            </a:r>
          </a:p>
        </p:txBody>
      </p:sp>
      <p:sp>
        <p:nvSpPr>
          <p:cNvPr id="19" name="Oval 18"/>
          <p:cNvSpPr/>
          <p:nvPr/>
        </p:nvSpPr>
        <p:spPr>
          <a:xfrm>
            <a:off x="9630918" y="2148840"/>
            <a:ext cx="822960" cy="82296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7676" y="3429000"/>
            <a:ext cx="2409444" cy="237744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630918" y="3703320"/>
            <a:ext cx="822960" cy="822960"/>
          </a:xfrm>
          <a:prstGeom prst="ellipse">
            <a:avLst/>
          </a:prstGeom>
          <a:solidFill>
            <a:srgbClr val="DC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port_m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887" y="3917289"/>
            <a:ext cx="395020" cy="395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20555" y="4709160"/>
            <a:ext cx="20436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lang="vi-VN">
                <a:solidFill>
                  <a:srgbClr val="1F1F1F"/>
                </a:solidFill>
                <a:latin typeface="Arial"/>
              </a:rPr>
              <a:t>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1:</a:t>
            </a:r>
            <a:r>
              <a:rPr lang="vi-VN" sz="3200"/>
              <a:t> Ưu tiên học sinh có thi CLB đó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Tầng 2:</a:t>
            </a:r>
            <a:r>
              <a:rPr lang="vi-VN" sz="3200"/>
              <a:t> HS không thi thì xếp theo số bốc thăm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Biết rõ mức lấp đầy cụ thể</a:t>
            </a:r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Phân bổ nguyện vọng</a:t>
            </a:r>
            <a:endParaRPr lang="vi-VN" dirty="0"/>
          </a:p>
          <a:p>
            <a:pPr>
              <a:lnSpc>
                <a:spcPct val="110000"/>
              </a:lnSpc>
              <a:spcAft>
                <a:spcPts val="2400"/>
              </a:spcAft>
            </a:pPr>
            <a:r>
              <a:rPr lang="vi-VN" sz="3200"/>
              <a:t>Số học sinh cụ thể chưa có chỗ</a:t>
            </a:r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0</a:t>
            </a:r>
            <a:r>
              <a:rPr lang="vi-VN" sz="3200"/>
              <a:t> cặp học sinh và CLB muốn đổi kết quả</a:t>
            </a:r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sz="3200"/>
              <a:t>Chỉ </a:t>
            </a:r>
            <a:r>
              <a:rPr lang="vi-VN" b="1" sz="3200"/>
              <a:t>1,1%</a:t>
            </a:r>
            <a:r>
              <a:rPr lang="vi-VN" sz="3200"/>
              <a:t> số học sinh có kết quả phụ thuộc bốc thăm</a:t>
            </a:r>
            <a:endParaRPr lang="vi-VN" dirty="0"/>
          </a:p>
          <a:p>
            <a:pPr>
              <a:lnSpc>
                <a:spcPct val="110000"/>
              </a:lnSpc>
              <a:spcAft>
                <a:spcPts val="3000"/>
              </a:spcAft>
            </a:pPr>
            <a:r>
              <a:rPr lang="vi-VN" b="1" sz="3200"/>
              <a:t>750+</a:t>
            </a:r>
            <a:r>
              <a:rPr lang="vi-VN" sz="3200"/>
              <a:t> chỉ báo trong phần mềm để đảm bảo phần mềm hoạt động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1. Đa dạng các cách lựa chọn buổi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2. Thêm và chỉnh sửa thông số học sinh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3. Song ngữ Anh Việt</a:t>
            </a:r>
            <a:endParaRPr lang="vi-VN" dirty="0"/>
          </a:p>
          <a:p>
            <a:pPr marL="0" indent="0">
              <a:lnSpc>
                <a:spcPct val="110000"/>
              </a:lnSpc>
              <a:spcAft>
                <a:spcPts val="2400"/>
              </a:spcAft>
              <a:buNone/>
            </a:pPr>
            <a:r>
              <a:rPr lang="vi-VN" sz="3200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Phần mềm vận hành qua 6 bước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1. Sao lưu:</a:t>
            </a:r>
            <a:r>
              <a:rPr b="0" sz="2600" lang="vi-VN"/>
              <a:t> tự lưu một bản dữ liệu trước khi chạy</a:t>
            </a:r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2. Kiểm tra dữ liệu:</a:t>
            </a:r>
            <a:r>
              <a:rPr b="0" sz="2600" lang="vi-VN"/>
              <a:t> dữ liệu sai thì dừng lại, chưa bốc thăm</a:t>
            </a:r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3. Bốc thăm:</a:t>
            </a:r>
            <a:r>
              <a:rPr b="0" sz="2600" lang="vi-VN"/>
              <a:t> tạo số bốc thăm cho học sinh, khóa lại sau lần đầu</a:t>
            </a:r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4. Chạy thuật toán:</a:t>
            </a:r>
            <a:r>
              <a:rPr b="0" sz="2600" lang="vi-VN"/>
              <a:t> xếp học sinh vào CLB, kiểm tra kết quả ổn định</a:t>
            </a:r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5. Ghi kết quả:</a:t>
            </a:r>
            <a:r>
              <a:rPr b="0" sz="2600" lang="vi-VN"/>
              <a:t> chỉ lưu khi mọi bước đều đạt, lỗi thì hủy toàn bộ</a:t>
            </a:r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b="1" sz="2600" lang="vi-VN"/>
              <a:t>6. Xuất tệp:</a:t>
            </a:r>
            <a:r>
              <a:rPr b="0" sz="2600" lang="vi-VN"/>
              <a:t> tạo file kết quả cho nhà trường và từng CLB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