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1F1F"/>
                </a:solidFill>
                <a:latin typeface="Arial"/>
              </a:rPr>
              <a:t>Số học sinh theo nguyện vọng được xếp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Số học sinh</c:v>
                </c:pt>
              </c:strCache>
            </c:strRef>
          </c:tx>
          <c:spPr>
            <a:solidFill>
              <a:srgbClr val="3F6B52"/>
            </a:solidFill>
          </c:spPr>
          <c:cat>
            <c:strRef>
              <c:f>Sheet1!$A$2:$A$7</c:f>
              <c:strCache>
                <c:ptCount val="6"/>
                <c:pt idx="0">
                  <c:v>NV 1</c:v>
                </c:pt>
                <c:pt idx="1">
                  <c:v>NV 2</c:v>
                </c:pt>
                <c:pt idx="2">
                  <c:v>NV 3</c:v>
                </c:pt>
                <c:pt idx="3">
                  <c:v>NV 4</c:v>
                </c:pt>
                <c:pt idx="4">
                  <c:v>NV 5</c:v>
                </c:pt>
                <c:pt idx="5">
                  <c:v>NV 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54</c:v>
                </c:pt>
                <c:pt idx="1">
                  <c:v>46</c:v>
                </c:pt>
                <c:pt idx="2">
                  <c:v>21</c:v>
                </c:pt>
                <c:pt idx="3">
                  <c:v>11</c:v>
                </c:pt>
                <c:pt idx="4">
                  <c:v>7</c:v>
                </c:pt>
                <c:pt idx="5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Số liệu lấy từ phần mềm, chạy bộ du_lieu_test/bo_sach với hạt giống bốc thăm 42: 140 học sinh, 12 CLB, 150 chỗ, trong đó 16 suất dự trữ. Cả 140 học sinh đều có CLB; 9 trên 12 CLB kín chỗ, còn 10 chỗ trống. 54 học sinh (39%) được nguyện vọng 1. Tỉ lệ nguyện vọng 1 không cao vì bộ này cố ý cho mọi học sinh thi 4 CLB và ghi 6 nguyện vọng, nên nguyện vọng đầu cạnh tranh gắt. Đây là dữ liệu mô phỏng.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3AD9C-2787-2D6E-8B3D-7793697BEB7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7D0FE4-5966-1982-ABC2-9BB4D14643C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vi-VN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F36C7-A708-3694-0003-0D489558ECB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AA33932-D5B9-4B57-9B2F-FE62C4F2C626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20193-8E25-A4D6-D72B-ABE181CEB56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94BEA-4E58-29E5-EBBD-597B3ABB4EC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611D3C9-163B-45C8-AB9C-2A3CAB77BB11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951994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D3F74-EB88-3019-8357-4749237C279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FBB21-DB38-13C5-09C7-6E4DC5C319E5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70BAB-1348-E787-58B5-1E98F6244E1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C7BCD62-19D0-4E77-943B-FA0DC0EBA3BF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A5EB2E-1905-3849-F72C-79D58480AA6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02824-422C-C944-C275-0CC94BC2947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3BE38D4-F8EB-4480-8B24-8A252B1C513F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4297981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6BD6E-8463-2108-A308-DABFE7FF81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68EF5-2178-2E7B-636E-381B78319B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180FF0-DB69-C9AD-D05E-1A673EAD66F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2F8731B-6AE6-4397-96E4-4309FE7F3D37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6A019-1480-4000-AD3A-BEC2CC1533A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3A5F8F-44D8-5A2F-FE92-50ECE7216FC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EC5464D-FBBE-4D85-BDB1-FE6A8D07E0BF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70953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29671-14EE-0B88-9DB5-7C9AA57400C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037BE-2D38-3798-6491-163783D1661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36ADA2-800B-3967-3C74-2F28493B3DC1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D45F2D-8B50-D512-DC6C-6F5899F368D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F937529-2119-4D4A-A075-9F8CB5AADCC7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C95C15-221D-5F25-9701-6A18AFC4BEC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6B3256-DC40-4573-D650-311D05E6AA0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55D440D-50D9-459B-A8BA-706E20E9A62A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024261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DCA59-D089-4486-FB02-4D89E1A314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48C157-5BBF-A8AF-65D2-2673ED156F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F6AB63-8845-B446-F503-699E797DAC7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F55D53-AC1F-A4CA-8ADF-09CE09C97BEF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6CB8F5-19C6-CDA5-12A5-06845A49B29A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DFA0AE-25C5-5ADE-A5E6-05B15BF777B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03B2482-B273-4E34-AC74-7799B9C714FF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E3F72A-5F6C-2EE8-5A3B-8C40D85059C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3BC94F-3021-B65E-B64C-9B163BF71AF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52B660B-1FAE-466C-9650-736EF6645B73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793839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B3AA1-6C35-862B-90DB-D4824F584AD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FB3636-4B99-182E-BC02-5B4362B1EBB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74D79C0-10C1-4697-AA7B-3901AB52AB50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204D86-BC2B-4113-D68B-C1EA4AA3A38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7DBB56-BD8B-B20A-FCAE-9566D577CF9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CD8200D-34A1-4CE8-8BCB-C5A6F917DB90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283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4B2E18-D73B-DD7B-5068-22ECFF34560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DC194AB-0501-47B8-819C-171406D01325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DF026D-AFBE-2B6B-DA18-08CF2644F8F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F3C4C5-54C7-3F98-515D-AECFA030D31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1F2D42B-3B99-40DF-8922-3D95E477EE53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57444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23E50-798E-7039-C01A-F5746E1415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A8CA6-336F-16E3-A0CF-D6759B0FC4C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500C06-773B-60A8-15B7-A673A8A2220B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3F7364-754A-69EB-9362-16F3ADE85D2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74B0DAC-5760-4BA2-849E-1CE31FC71832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7B582A-14D7-E875-127E-2F7E9FC61B9D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9C82A0-8A99-30FA-F63A-A273BE497D9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7B09102-E7D3-49F5-9AB3-848082E94E0B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5316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6357-95CB-4203-58D7-EA6B894F54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3FF128-D087-5B95-92C3-E231F95387FA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pPr lvl="0"/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9C6F52-15E7-91B3-30B0-82CFA5FDF961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5C8C7B-5143-C86F-B6A3-4CA72E3042E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6D8F105-1F3A-4B1F-A93B-D14C0903D25D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8227A6-82CE-9896-90DF-74770AAD96D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EEE5DB-F3EC-D5D3-F303-3B9E4E41E81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25787F0-B305-4ABC-8A37-5B325F70BB92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37364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0A9BC-F1AD-1647-C772-ECCA1D2AADE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FD52B0-09B0-0E65-5FEB-B3A983AD9517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F284CC-1708-9C9D-1EAB-50697C493CD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8B4C40A-811F-4F22-A37C-05332F897169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6F8A3E-E307-F991-99F1-99A2E1BAEF7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D4024-2D46-27B0-D701-92461CFCBB7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9878A96-088E-4EC1-A8E9-FB170EE5499D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51406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35DE3B-CD8D-3A8C-180F-935FAD5507DA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43DB21-2B8A-73DB-FA63-75CA9E1B5584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83663C-4FBD-E9B1-DDA2-2B514D2531F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36D23F0-1C05-473C-AD3E-8D134A4420F7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C49A5B-1EEB-E4CE-46DA-28E8C455A67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52440-20D3-E80E-9573-51CC2AEA5EC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5CC6D5C-87D5-4D22-AB17-6826A7D9D625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245313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D9F534-AD46-89B8-F8DA-5EDB65F2B7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987F4F-A75E-D7AE-5F82-9D8728DE84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2AFE58-0486-2981-8215-427F4E051021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fld id="{C8339D3A-A655-4913-B670-677049566522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4010C6-47F5-7E09-35C8-6DBA00304628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4299A-F750-AB02-2BAB-CE579E89BF5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fld id="{007C45BE-F907-4235-8F41-6944091C3225}" type="slidenum">
              <a:t>‹#›</a:t>
            </a:fld>
            <a:endParaRPr lang="vi-V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vi-VN" sz="4400" b="0" i="0" u="none" strike="noStrike" kern="1200" cap="none" spc="0" baseline="0">
          <a:solidFill>
            <a:srgbClr val="000000"/>
          </a:solidFill>
          <a:uFillTx/>
          <a:latin typeface="Arial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vi-VN" sz="2800" b="0" i="0" u="none" strike="noStrike" kern="1200" cap="none" spc="0" baseline="0">
          <a:solidFill>
            <a:srgbClr val="000000"/>
          </a:solidFill>
          <a:uFillTx/>
          <a:latin typeface="Arial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2400" b="0" i="0" u="none" strike="noStrike" kern="1200" cap="none" spc="0" baseline="0">
          <a:solidFill>
            <a:srgbClr val="000000"/>
          </a:solidFill>
          <a:uFillTx/>
          <a:latin typeface="Arial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2000" b="0" i="0" u="none" strike="noStrike" kern="1200" cap="none" spc="0" baseline="0">
          <a:solidFill>
            <a:srgbClr val="000000"/>
          </a:solidFill>
          <a:uFillTx/>
          <a:latin typeface="Arial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1800" b="0" i="0" u="none" strike="noStrike" kern="1200" cap="none" spc="0" baseline="0">
          <a:solidFill>
            <a:srgbClr val="000000"/>
          </a:solidFill>
          <a:uFillTx/>
          <a:latin typeface="Arial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1800" b="0" i="0" u="none" strike="noStrike" kern="1200" cap="none" spc="0" baseline="0">
          <a:solidFill>
            <a:srgbClr val="000000"/>
          </a:solidFill>
          <a:uFillTx/>
          <a:latin typeface="Arial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>
            <a:extLst>
              <a:ext uri="{FF2B5EF4-FFF2-40B4-BE49-F238E27FC236}">
                <a16:creationId xmlns:a16="http://schemas.microsoft.com/office/drawing/2014/main" id="{417B4EEC-DFFB-44C6-6624-23FD25C15E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0A25DF-720C-D201-181F-B34BA25D2D7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7048" y="1124712"/>
            <a:ext cx="9144000" cy="3063239"/>
          </a:xfrm>
        </p:spPr>
        <p:txBody>
          <a:bodyPr/>
          <a:lstStyle/>
          <a:p>
            <a:pPr lvl="0"/>
            <a:r>
              <a:rPr lang="vi-VN" sz="6600">
                <a:solidFill>
                  <a:srgbClr val="FFFFFF"/>
                </a:solidFill>
              </a:rPr>
              <a:t>Thuyết trình về cuộc thi khoa học kỹ thuật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6FD1A6B-FAC6-7176-9FAA-8A9146C494F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227517"/>
          </a:xfrm>
        </p:spPr>
        <p:txBody>
          <a:bodyPr/>
          <a:lstStyle/>
          <a:p>
            <a:pPr lvl="0"/>
            <a:r>
              <a:rPr lang="vi-VN" sz="1700">
                <a:solidFill>
                  <a:srgbClr val="FFFFFF"/>
                </a:solidFill>
              </a:rPr>
              <a:t>Đề tài: Áp dụng thuật toán chấp nhận trì hoãn vào việc sắp xếp học sinh vào các CLB tương ứng</a:t>
            </a:r>
          </a:p>
          <a:p>
            <a:pPr lvl="0"/>
            <a:r>
              <a:rPr lang="vi-VN" sz="1700">
                <a:solidFill>
                  <a:srgbClr val="FFFFFF"/>
                </a:solidFill>
              </a:rPr>
              <a:t>Thực hiện bởi: Nguyễn Phan Văn Trường 11H2 và Lê Hoàng Phương Vi 10H3</a:t>
            </a:r>
          </a:p>
          <a:p>
            <a:pPr lvl="0"/>
            <a:r>
              <a:rPr lang="vi-VN" sz="1700">
                <a:solidFill>
                  <a:srgbClr val="FFFFFF"/>
                </a:solidFill>
              </a:rPr>
              <a:t>Cơ sở HVT</a:t>
            </a:r>
          </a:p>
        </p:txBody>
      </p:sp>
      <p:sp>
        <p:nvSpPr>
          <p:cNvPr id="6" name="sketchy box">
            <a:extLst>
              <a:ext uri="{FF2B5EF4-FFF2-40B4-BE49-F238E27FC236}">
                <a16:creationId xmlns:a16="http://schemas.microsoft.com/office/drawing/2014/main" id="{EB98BDD6-14F8-6D4C-C9DA-6965969B18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V="1">
            <a:off x="838203" y="720949"/>
            <a:ext cx="10515600" cy="5416091"/>
          </a:xfrm>
          <a:prstGeom prst="rect">
            <a:avLst/>
          </a:prstGeom>
          <a:noFill/>
          <a:ln w="47621" cap="rnd">
            <a:solidFill>
              <a:srgbClr val="FFFFFF">
                <a:alpha val="75000"/>
              </a:srgbClr>
            </a:solidFill>
            <a:prstDash val="solid"/>
            <a:round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" name="sketchy line">
            <a:extLst>
              <a:ext uri="{FF2B5EF4-FFF2-40B4-BE49-F238E27FC236}">
                <a16:creationId xmlns:a16="http://schemas.microsoft.com/office/drawing/2014/main" id="{75B9F413-CB0C-4FC4-867B-5F0F26D546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3974201" y="4419423"/>
            <a:ext cx="4243593" cy="18288"/>
          </a:xfrm>
          <a:prstGeom prst="rect">
            <a:avLst/>
          </a:prstGeom>
          <a:solidFill>
            <a:srgbClr val="FFFFFF">
              <a:alpha val="75000"/>
            </a:srgbClr>
          </a:solidFill>
          <a:ln w="41276" cap="rnd">
            <a:solidFill>
              <a:srgbClr val="FFFFFF">
                <a:alpha val="75000"/>
              </a:srgbClr>
            </a:solidFill>
            <a:prstDash val="solid"/>
            <a:round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431AA-BA1E-C72F-113B-735353A48F6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Nội dung 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82880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61288" y="21488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297180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Bài toán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7888" y="182880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757928" y="21488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7928" y="297180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Giải pháp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34528" y="182880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354568" y="21488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4568" y="297180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Cách phần mềm hoạt động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416052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61288" y="4480559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" y="530352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Vận hành phần mềm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7888" y="416052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757928" y="4480559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7928" y="530352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Các số liệu khác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4528" y="416052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54568" y="4480559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4568" y="530352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Tính năng khác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B6084C-DCB0-85CC-A2F7-6DDA35CFB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1. Bài toán sắp xếp CLB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2880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61288" y="2148840"/>
            <a:ext cx="777240" cy="777240"/>
          </a:xfrm>
          <a:prstGeom prst="ellipse">
            <a:avLst/>
          </a:prstGeom>
          <a:solidFill>
            <a:srgbClr val="F3D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lock_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370" y="2350922"/>
            <a:ext cx="373075" cy="3730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67128" y="2176272"/>
            <a:ext cx="347472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lang="vi-VN">
                <a:solidFill>
                  <a:srgbClr val="1F1F1F"/>
                </a:solidFill>
                <a:latin typeface="Arial"/>
              </a:rPr>
              <a:t>Xét theo thứ tự đăng kí</a:t>
            </a:r>
          </a:p>
          <a:p>
            <a:pPr>
              <a:spcBef>
                <a:spcPts val="800"/>
              </a:spcBef>
            </a:pPr>
            <a:r>
              <a:rPr sz="1500" lang="vi-VN">
                <a:solidFill>
                  <a:srgbClr val="555B58"/>
                </a:solidFill>
                <a:latin typeface="Arial"/>
              </a:rPr>
              <a:t>Xét theo thứ tự đăng ký chỉ đánh giá tốc độ chứ không xét trình độ hay nguyện vọng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82880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6556247" y="2148840"/>
            <a:ext cx="777240" cy="77724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lip_m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8330" y="2350922"/>
            <a:ext cx="373075" cy="3730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62088" y="2176272"/>
            <a:ext cx="347472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lang="vi-VN">
                <a:solidFill>
                  <a:srgbClr val="1F1F1F"/>
                </a:solidFill>
                <a:latin typeface="Arial"/>
              </a:rPr>
              <a:t>Đảm bảo chất lượng đầu vào</a:t>
            </a:r>
          </a:p>
          <a:p>
            <a:pPr>
              <a:spcBef>
                <a:spcPts val="800"/>
              </a:spcBef>
            </a:pPr>
            <a:r>
              <a:rPr sz="1500" lang="vi-VN">
                <a:solidFill>
                  <a:srgbClr val="555B58"/>
                </a:solidFill>
                <a:latin typeface="Arial"/>
              </a:rPr>
              <a:t>Những CLB không thể đánh giá chất lượng đầu vào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420624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161288" y="4526279"/>
            <a:ext cx="777240" cy="77724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ands_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3370" y="4728362"/>
            <a:ext cx="373075" cy="37307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67128" y="4553712"/>
            <a:ext cx="347472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lang="vi-VN">
                <a:solidFill>
                  <a:srgbClr val="1F1F1F"/>
                </a:solidFill>
                <a:latin typeface="Arial"/>
              </a:rPr>
              <a:t>Cần phải hỗ trợ các HS có hoàn cảnh</a:t>
            </a:r>
          </a:p>
          <a:p>
            <a:pPr>
              <a:spcBef>
                <a:spcPts val="800"/>
              </a:spcBef>
            </a:pPr>
            <a:r>
              <a:rPr sz="1500" lang="vi-VN">
                <a:solidFill>
                  <a:srgbClr val="555B58"/>
                </a:solidFill>
                <a:latin typeface="Arial"/>
              </a:rPr>
              <a:t>Lời giải cần tạo cách để ưu tiên các HS khó khăn vào CLB nếu cần thiết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420624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556247" y="4526279"/>
            <a:ext cx="777240" cy="77724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sers_m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8330" y="4728362"/>
            <a:ext cx="373075" cy="37307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562088" y="4553712"/>
            <a:ext cx="347472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lang="vi-VN">
                <a:solidFill>
                  <a:srgbClr val="1F1F1F"/>
                </a:solidFill>
                <a:latin typeface="Arial"/>
              </a:rPr>
              <a:t>Số chỗ có thể ít hơn số lượng HS</a:t>
            </a:r>
          </a:p>
          <a:p>
            <a:pPr>
              <a:spcBef>
                <a:spcPts val="800"/>
              </a:spcBef>
            </a:pPr>
            <a:r>
              <a:rPr sz="1500" lang="vi-VN">
                <a:solidFill>
                  <a:srgbClr val="555B58"/>
                </a:solidFill>
                <a:latin typeface="Arial"/>
              </a:rPr>
              <a:t>Có thể có ít chỗ hơn số lượng học sinh</a:t>
            </a:r>
          </a:p>
        </p:txBody>
      </p:sp>
    </p:spTree>
    <p:extLst>
      <p:ext uri="{BB962C8B-B14F-4D97-AF65-F5344CB8AC3E}">
        <p14:creationId xmlns:p14="http://schemas.microsoft.com/office/powerpoint/2010/main" val="29326814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403F206-DF21-F43A-978F-233DD242D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2. Giải pháp với 3 bước đơn giản</a:t>
            </a:r>
            <a:endParaRPr lang="vi-VN" dirty="0"/>
          </a:p>
        </p:txBody>
      </p:sp>
      <p:sp>
        <p:nvSpPr>
          <p:cNvPr id="8" name="Rounded Rectangle 7"/>
          <p:cNvSpPr/>
          <p:nvPr/>
        </p:nvSpPr>
        <p:spPr>
          <a:xfrm>
            <a:off x="841248" y="1874519"/>
            <a:ext cx="3108960" cy="402336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161288" y="2240279"/>
            <a:ext cx="914400" cy="91440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cel_m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247802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61288" y="338327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vi-VN" spc="150">
                <a:solidFill>
                  <a:srgbClr val="3F6B52"/>
                </a:solidFill>
                <a:latin typeface="Arial"/>
              </a:rPr>
              <a:t>ĐẦU VÀO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3794760"/>
            <a:ext cx="2468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lang="vi-VN">
                <a:solidFill>
                  <a:srgbClr val="1F1F1F"/>
                </a:solidFill>
                <a:latin typeface="Arial"/>
              </a:rPr>
              <a:t>Nạp ba tệp excel chứa danh sách CLB, các CLB học sinh muốn thi và điểm tương ứng, thứ tự sắp xếp của học sinh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059936" y="3703320"/>
            <a:ext cx="374904" cy="365760"/>
          </a:xfrm>
          <a:prstGeom prst="rightArrow">
            <a:avLst/>
          </a:prstGeom>
          <a:solidFill>
            <a:srgbClr val="D5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44568" y="1874519"/>
            <a:ext cx="3108960" cy="4023360"/>
          </a:xfrm>
          <a:prstGeom prst="roundRect">
            <a:avLst>
              <a:gd name="adj" fmla="val 6000"/>
            </a:avLst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864607" y="2240279"/>
            <a:ext cx="914400" cy="914400"/>
          </a:xfrm>
          <a:prstGeom prst="ellipse">
            <a:avLst/>
          </a:prstGeom>
          <a:solidFill>
            <a:srgbClr val="2F5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g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1" y="2478024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864607" y="338327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vi-VN" spc="150">
                <a:solidFill>
                  <a:srgbClr val="DCE9E0"/>
                </a:solidFill>
                <a:latin typeface="Arial"/>
              </a:rPr>
              <a:t>PHẦN MỀM SẼ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7" y="3794760"/>
            <a:ext cx="2468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lang="vi-VN">
                <a:solidFill>
                  <a:srgbClr val="FFFFFF"/>
                </a:solidFill>
                <a:latin typeface="Arial"/>
              </a:rPr>
              <a:t>Xử lí các dữ liệu đó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763255" y="3703320"/>
            <a:ext cx="374904" cy="365760"/>
          </a:xfrm>
          <a:prstGeom prst="rightArrow">
            <a:avLst/>
          </a:prstGeom>
          <a:solidFill>
            <a:srgbClr val="D5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47888" y="1874519"/>
            <a:ext cx="3108960" cy="402336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567928" y="2240279"/>
            <a:ext cx="914400" cy="91440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ist_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5672" y="2478024"/>
            <a:ext cx="438912" cy="43891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67928" y="338327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vi-VN" spc="150">
                <a:solidFill>
                  <a:srgbClr val="3F6B52"/>
                </a:solidFill>
                <a:latin typeface="Arial"/>
              </a:rPr>
              <a:t>ĐẦU 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67928" y="3794760"/>
            <a:ext cx="2468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lang="vi-VN">
                <a:solidFill>
                  <a:srgbClr val="1F1F1F"/>
                </a:solidFill>
                <a:latin typeface="Arial"/>
              </a:rPr>
              <a:t>Hiển thị thông số như danh sách HS đạt các CLB, danh sách HS chưa có chỗ, thời khóa biểu CLB của học sinh,…</a:t>
            </a:r>
          </a:p>
        </p:txBody>
      </p:sp>
    </p:spTree>
    <p:extLst>
      <p:ext uri="{BB962C8B-B14F-4D97-AF65-F5344CB8AC3E}">
        <p14:creationId xmlns:p14="http://schemas.microsoft.com/office/powerpoint/2010/main" val="615299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83993-FB92-50AB-8C83-A7268C03D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Năm bước thao tác</a:t>
            </a:r>
            <a:endParaRPr lang="vi-VN" dirty="0"/>
          </a:p>
        </p:txBody>
      </p:sp>
      <p:cxnSp>
        <p:nvCxnSpPr>
          <p:cNvPr id="3" name="Connector 2"/>
          <p:cNvCxnSpPr/>
          <p:nvPr/>
        </p:nvCxnSpPr>
        <p:spPr>
          <a:xfrm>
            <a:off x="2155698" y="2560320"/>
            <a:ext cx="7886700" cy="0"/>
          </a:xfrm>
          <a:prstGeom prst="line">
            <a:avLst/>
          </a:prstGeom>
          <a:ln w="38100">
            <a:solidFill>
              <a:srgbClr val="D5D8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1744218" y="2148840"/>
            <a:ext cx="822960" cy="82296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09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7442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xcel_m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8187" y="3917289"/>
            <a:ext cx="395020" cy="3950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" y="4709160"/>
            <a:ext cx="20436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lang="vi-VN">
                <a:solidFill>
                  <a:srgbClr val="1F1F1F"/>
                </a:solidFill>
                <a:latin typeface="Arial"/>
              </a:rPr>
              <a:t>Nạp ba tệp excel</a:t>
            </a:r>
          </a:p>
        </p:txBody>
      </p:sp>
      <p:sp>
        <p:nvSpPr>
          <p:cNvPr id="9" name="Oval 8"/>
          <p:cNvSpPr/>
          <p:nvPr/>
        </p:nvSpPr>
        <p:spPr>
          <a:xfrm>
            <a:off x="4373118" y="2148840"/>
            <a:ext cx="822960" cy="82296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798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3731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arn_m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087" y="3917289"/>
            <a:ext cx="395020" cy="3950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62756" y="4709160"/>
            <a:ext cx="20436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lang="vi-VN">
                <a:solidFill>
                  <a:srgbClr val="1F1F1F"/>
                </a:solidFill>
                <a:latin typeface="Arial"/>
              </a:rPr>
              <a:t>Xem mục cảnh báo dữ liệu</a:t>
            </a:r>
          </a:p>
        </p:txBody>
      </p:sp>
      <p:sp>
        <p:nvSpPr>
          <p:cNvPr id="14" name="Oval 13"/>
          <p:cNvSpPr/>
          <p:nvPr/>
        </p:nvSpPr>
        <p:spPr>
          <a:xfrm>
            <a:off x="7002018" y="2148840"/>
            <a:ext cx="822960" cy="822960"/>
          </a:xfrm>
          <a:prstGeom prst="ellipse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70020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lay_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5987" y="3917289"/>
            <a:ext cx="395020" cy="3950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91656" y="4709160"/>
            <a:ext cx="20436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lang="vi-VN">
                <a:solidFill>
                  <a:srgbClr val="1F1F1F"/>
                </a:solidFill>
                <a:latin typeface="Arial"/>
              </a:rPr>
              <a:t>Bấm chạy sắp xếp</a:t>
            </a:r>
          </a:p>
        </p:txBody>
      </p:sp>
      <p:sp>
        <p:nvSpPr>
          <p:cNvPr id="19" name="Oval 18"/>
          <p:cNvSpPr/>
          <p:nvPr/>
        </p:nvSpPr>
        <p:spPr>
          <a:xfrm>
            <a:off x="9630918" y="2148840"/>
            <a:ext cx="822960" cy="82296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376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6309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xport_m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4887" y="3917289"/>
            <a:ext cx="395020" cy="3950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20555" y="4709160"/>
            <a:ext cx="20436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lang="vi-VN">
                <a:solidFill>
                  <a:srgbClr val="1F1F1F"/>
                </a:solidFill>
                <a:latin typeface="Arial"/>
              </a:rPr>
              <a:t>Xuất file kết quả</a:t>
            </a:r>
          </a:p>
        </p:txBody>
      </p:sp>
    </p:spTree>
    <p:extLst>
      <p:ext uri="{BB962C8B-B14F-4D97-AF65-F5344CB8AC3E}">
        <p14:creationId xmlns:p14="http://schemas.microsoft.com/office/powerpoint/2010/main" val="34628558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E72CF-6560-DA21-3636-DED87FF2D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Cách CLB xác định học sinh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C117F-FA77-AF43-2AC8-D7C43D097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/>
              <a:t>Tầng 1: Ưu tiên học sinh có thi CLB đó</a:t>
            </a:r>
          </a:p>
          <a:p>
            <a:r>
              <a:rPr lang="vi-VN"/>
              <a:t>Tầng 2: HS không thi thì xếp theo số bốc thăm</a:t>
            </a:r>
            <a:endParaRPr lang="vi-VN"/>
          </a:p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08510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2FEA5-37DE-2025-46C4-C5C7E5C6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Thông số đầu đủ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DC52C-12DF-E812-8654-D1DBCCBDA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/>
              <a:t>Biết rõ mức lấp đầy cụ thể</a:t>
            </a:r>
          </a:p>
          <a:p>
            <a:r>
              <a:rPr lang="vi-VN"/>
              <a:t>Phân bổ nguyện vọng</a:t>
            </a:r>
            <a:endParaRPr lang="vi-VN" dirty="0"/>
          </a:p>
          <a:p>
            <a:r>
              <a:rPr lang="vi-VN"/>
              <a:t>Số học sinh cụ thể chưa có chỗ</a:t>
            </a:r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562999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64522-D64D-59BE-2844-B2191806B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sz="3800"/>
              <a:t>Thử nghiệm với 140 HS, 12 CLB, 150 suất</a:t>
            </a:r>
            <a:endParaRPr lang="vi-VN" dirty="0"/>
          </a:p>
        </p:txBody>
      </p:sp>
      <p:pic>
        <p:nvPicPr>
          <p:cNvPr id="3" name="Picture 2" descr="c_sach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83080"/>
            <a:ext cx="5120640" cy="3778679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841248" y="5634911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1" lang="vi-VN">
                <a:solidFill>
                  <a:srgbClr val="595959"/>
                </a:solidFill>
                <a:latin typeface="Arial"/>
              </a:rPr>
              <a:t>Màn hình Kết quả của phần mềm. Xanh: xét chung. Vàng: vào bằng suất dự trữ.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7830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140/140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22402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học sinh có CLB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0" y="17830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39%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22402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được nguyện vọng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6517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1089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học sinh vào bằng suất dự trữ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6517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0,02 giây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31089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thời gian chạy sắp xếp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55080" y="3611880"/>
          <a:ext cx="5001768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41248" y="614476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1" lang="vi-VN">
                <a:solidFill>
                  <a:srgbClr val="B84A3E"/>
                </a:solidFill>
                <a:latin typeface="Arial"/>
              </a:rPr>
              <a:t>Dữ liệu mô phỏng do máy tạo ra (bộ bo_sach), không phải học sinh thật. Mỗi học sinh thi 4 CLB và ghi 6 nguyện vọng.</a:t>
            </a:r>
          </a:p>
        </p:txBody>
      </p:sp>
    </p:spTree>
    <p:extLst>
      <p:ext uri="{BB962C8B-B14F-4D97-AF65-F5344CB8AC3E}">
        <p14:creationId xmlns:p14="http://schemas.microsoft.com/office/powerpoint/2010/main" val="6034835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7EA77-B499-B89C-F3A5-57074CDEE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Số liệu chứng minh công bằng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3EA8F-8A5D-9DCB-17FE-E890821384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/>
              <a:t>0 cặp học sinh và CLB muốn đổi kết quả</a:t>
            </a:r>
          </a:p>
          <a:p>
            <a:r>
              <a:rPr lang="vi-VN"/>
              <a:t>Chỉ 1,1% số học sinh có kết quả phụ thuộc bốc thăm</a:t>
            </a:r>
            <a:endParaRPr lang="vi-VN" dirty="0"/>
          </a:p>
          <a:p>
            <a:r>
              <a:rPr lang="vi-VN"/>
              <a:t>750+ chỉ báo trong phần mềm để đảm bảo phần mềm hoạt động</a:t>
            </a:r>
            <a:endParaRPr lang="vi-VN" dirty="0"/>
          </a:p>
          <a:p>
            <a:endParaRPr lang="vi-VN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9312155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C7C06-118C-D344-F61B-8E28B0441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Phù hợp với nhiều cách tổ chức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CE2C8-7F10-102B-237B-6BF6644D3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/>
              <a:t>1. Đa dạng các cách lựa chọn buổi</a:t>
            </a:r>
            <a:endParaRPr lang="vi-VN" dirty="0"/>
          </a:p>
          <a:p>
            <a:r>
              <a:rPr lang="vi-VN"/>
              <a:t>2. Thêm và chỉnh sửa thông số học sinh</a:t>
            </a:r>
            <a:endParaRPr lang="vi-VN" dirty="0"/>
          </a:p>
          <a:p>
            <a:r>
              <a:rPr lang="vi-VN"/>
              <a:t>3. Song ngữ Anh Việt</a:t>
            </a:r>
            <a:endParaRPr lang="vi-VN" dirty="0"/>
          </a:p>
          <a:p>
            <a:r>
              <a:rPr lang="vi-VN"/>
              <a:t>4. Có thể ưu tiên cho các học sinh khó khăn </a:t>
            </a:r>
          </a:p>
        </p:txBody>
      </p:sp>
    </p:spTree>
    <p:extLst>
      <p:ext uri="{BB962C8B-B14F-4D97-AF65-F5344CB8AC3E}">
        <p14:creationId xmlns:p14="http://schemas.microsoft.com/office/powerpoint/2010/main" val="26656846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435</Words>
  <Application>Microsoft Office PowerPoint</Application>
  <PresentationFormat>Widescreen</PresentationFormat>
  <Paragraphs>46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Thuyết trình về cuộc thi khoa học kỹ thuật</vt:lpstr>
      <vt:lpstr>Nội dung </vt:lpstr>
      <vt:lpstr>1. Bài toán sắp xếp CLB</vt:lpstr>
      <vt:lpstr>2. Giải pháp với 3 bước đơn giản</vt:lpstr>
      <vt:lpstr>Năm bước thao tác</vt:lpstr>
      <vt:lpstr>Cách CLB xác định học sinh</vt:lpstr>
      <vt:lpstr>Thông số đầu đủ</vt:lpstr>
      <vt:lpstr>Thử nghiệm với 140 HS, 12 CLB, 120 suất</vt:lpstr>
      <vt:lpstr>Số liệu chứng minh công bằng</vt:lpstr>
      <vt:lpstr>Phù hợp với nhiều cách tổ chức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Truong-Nguyen Phan Van:C161801085</dc:creator>
  <cp:lastModifiedBy>Truong-Nguyen Phan Van:C161801085</cp:lastModifiedBy>
  <cp:revision>5</cp:revision>
  <dcterms:created xsi:type="dcterms:W3CDTF">2026-09-24T15:04:08Z</dcterms:created>
  <dcterms:modified xsi:type="dcterms:W3CDTF">2026-09-24T23:41:09Z</dcterms:modified>
</cp:coreProperties>
</file>